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الجغرافيا</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مفهوم التنمية: المقاربات والتقسيمات الكبرى للعالم</a:t>
            </a:r>
          </a:p>
        </p:txBody>
      </p:sp>
      <p:sp>
        <p:nvSpPr>
          <p:cNvPr id="4" name="Text Placeholder 3"/>
          <p:cNvSpPr>
            <a:spLocks noGrp="1"/>
          </p:cNvSpPr>
          <p:nvPr>
            <p:ph type="body" idx="105"/>
          </p:nvPr>
        </p:nvSpPr>
        <p:spPr/>
        <p:txBody>
          <a:bodyPr wrap="square"/>
          <a:lstStyle/>
          <a:p>
            <a:pPr rtl="1" algn="r">
              <a:buNone/>
              <a:spcAft>
                <a:spcPts val="600"/>
              </a:spcAft>
            </a:pPr>
            <a:r>
              <a:rPr sz="1800" b="0" lang="ar-MA">
                <a:latin typeface="Cairo"/>
                <a:cs typeface="Cairo"/>
              </a:rPr>
              <a:t>الإشكالية: ما مفهوم التنمية وما مقارباتها واستراتيجياتها؟ وكيف تتفاوت مستوياتها عالميًا؟ وبمَ يُفسَّر هذا التفاوت؟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مدخل</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أن ننتج أكثر… لا يعني أن نعيش أفضل</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التنمية مفهوم معقّد تعدّدت المقاربات في سبيل الإلمام به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أسئلة الدرس</a:t>
            </a:r>
          </a:p>
        </p:txBody>
      </p:sp>
      <p:sp>
        <p:nvSpPr>
          <p:cNvPr id="3" name="Oval 2"/>
          <p:cNvSpPr/>
          <p:nvPr/>
        </p:nvSpPr>
        <p:spPr>
          <a:xfrm>
            <a:off x="8229600" y="1308735"/>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1</a:t>
            </a:r>
          </a:p>
        </p:txBody>
      </p:sp>
      <p:sp>
        <p:nvSpPr>
          <p:cNvPr id="4" name="Rounded Rectangle 3"/>
          <p:cNvSpPr/>
          <p:nvPr/>
        </p:nvSpPr>
        <p:spPr>
          <a:xfrm>
            <a:off x="411480" y="1152144"/>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152144"/>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مفهوم التنمية؟ وما مقارباتها؟</a:t>
            </a:r>
          </a:p>
        </p:txBody>
      </p:sp>
      <p:sp>
        <p:nvSpPr>
          <p:cNvPr id="6" name="Oval 5"/>
          <p:cNvSpPr/>
          <p:nvPr/>
        </p:nvSpPr>
        <p:spPr>
          <a:xfrm>
            <a:off x="8229600" y="2188845"/>
            <a:ext cx="457200" cy="45720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2</a:t>
            </a:r>
          </a:p>
        </p:txBody>
      </p:sp>
      <p:sp>
        <p:nvSpPr>
          <p:cNvPr id="7" name="Rounded Rectangle 6"/>
          <p:cNvSpPr/>
          <p:nvPr/>
        </p:nvSpPr>
        <p:spPr>
          <a:xfrm>
            <a:off x="411480" y="2032253"/>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2032253"/>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استراتيجياتها؟</a:t>
            </a:r>
          </a:p>
        </p:txBody>
      </p:sp>
      <p:sp>
        <p:nvSpPr>
          <p:cNvPr id="9" name="Oval 8"/>
          <p:cNvSpPr/>
          <p:nvPr/>
        </p:nvSpPr>
        <p:spPr>
          <a:xfrm>
            <a:off x="8229600" y="3068955"/>
            <a:ext cx="457200" cy="45720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3</a:t>
            </a:r>
          </a:p>
        </p:txBody>
      </p:sp>
      <p:sp>
        <p:nvSpPr>
          <p:cNvPr id="10" name="Rounded Rectangle 9"/>
          <p:cNvSpPr/>
          <p:nvPr/>
        </p:nvSpPr>
        <p:spPr>
          <a:xfrm>
            <a:off x="411480" y="2912364"/>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912364"/>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تتفاوت مستويات التنمية عالميًا؟</a:t>
            </a:r>
          </a:p>
        </p:txBody>
      </p:sp>
      <p:sp>
        <p:nvSpPr>
          <p:cNvPr id="12" name="Oval 11"/>
          <p:cNvSpPr/>
          <p:nvPr/>
        </p:nvSpPr>
        <p:spPr>
          <a:xfrm>
            <a:off x="8229600" y="3949064"/>
            <a:ext cx="457200" cy="45720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4</a:t>
            </a:r>
          </a:p>
        </p:txBody>
      </p:sp>
      <p:sp>
        <p:nvSpPr>
          <p:cNvPr id="13" name="Rounded Rectangle 12"/>
          <p:cNvSpPr/>
          <p:nvPr/>
        </p:nvSpPr>
        <p:spPr>
          <a:xfrm>
            <a:off x="411480" y="3792473"/>
            <a:ext cx="7680960" cy="770381"/>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3792473"/>
            <a:ext cx="7406640" cy="770381"/>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النظريات المفسّرة لهذا التفاوت؟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هندسة التقدم: فهم التنمية العالمية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مقدمة</a:t>
            </a:r>
          </a:p>
          <a:p>
            <a:pPr rtl="1" algn="r">
              <a:buNone/>
              <a:spcAft>
                <a:spcPts val="600"/>
              </a:spcAft>
            </a:pPr>
            <a:r>
              <a:rPr sz="2600" b="0" lang="ar-MA">
                <a:latin typeface="Cairo"/>
                <a:cs typeface="Cairo"/>
              </a:rPr>
              <a:t>التنمية مفهوم معقد تعددت المقاربات في سبيل الإلمام به.</a:t>
            </a:r>
          </a:p>
          <a:p>
            <a:pPr rtl="1" algn="r">
              <a:buNone/>
              <a:spcAft>
                <a:spcPts val="600"/>
              </a:spcAft>
            </a:pPr>
            <a:r>
              <a:rPr sz="2600" b="0" lang="ar-MA">
                <a:latin typeface="Cairo"/>
                <a:cs typeface="Cairo"/>
              </a:rPr>
              <a:t>• فما هو مفهوم التنمية؟ وما هي مقارباتها؟</a:t>
            </a:r>
          </a:p>
          <a:p>
            <a:pPr rtl="1" algn="r">
              <a:buNone/>
              <a:spcAft>
                <a:spcPts val="600"/>
              </a:spcAft>
            </a:pPr>
            <a:r>
              <a:rPr sz="2600" b="0" lang="ar-MA">
                <a:latin typeface="Cairo"/>
                <a:cs typeface="Cairo"/>
              </a:rPr>
              <a:t>• وما هي إستراتيجياتها؟</a:t>
            </a:r>
          </a:p>
          <a:p>
            <a:pPr rtl="1" algn="r">
              <a:buNone/>
              <a:spcAft>
                <a:spcPts val="600"/>
              </a:spcAft>
            </a:pPr>
            <a:r>
              <a:rPr sz="2600" b="0" lang="ar-MA">
                <a:latin typeface="Cairo"/>
                <a:cs typeface="Cairo"/>
              </a:rPr>
              <a:t>• وكيف تتفاوت مستويات التنمية على المستوى العالمي؟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وما هي النظريات المفسرة لتفاوت التنمية؟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الأول: مفهوم التنمية ومؤشرها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النمو ≠ التنمية</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النمو</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زيادة كمية في الإنتاج</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التنمية</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تطور نوعي في الحياة</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الإنسان</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وسيلة للإنتاج</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الإنسان</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غاية التنمية وهدفها</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المقياس</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PIB والدخل الفردي</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المقياس</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مؤشر التنمية البشرية IDH</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2800" b="0" lang="ar-MA">
                <a:latin typeface="Cairo"/>
                <a:cs typeface="Cairo"/>
              </a:rPr>
              <a:t>التحول المفاهيمي: من «النمو» إلى «التنمية»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مؤشر التنمية البشرية: ثلاثة معايير</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اقتصادي</a:t>
            </a:r>
          </a:p>
        </p:txBody>
      </p:sp>
      <p:sp>
        <p:nvSpPr>
          <p:cNvPr id="6" name="TextBox 5"/>
          <p:cNvSpPr txBox="1"/>
          <p:nvPr/>
        </p:nvSpPr>
        <p:spPr>
          <a:xfrm>
            <a:off x="6205728"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7" name="TextBox 6"/>
          <p:cNvSpPr txBox="1"/>
          <p:nvPr/>
        </p:nvSpPr>
        <p:spPr>
          <a:xfrm>
            <a:off x="6205728"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الدخل الفردي بتعادل القدرة الشرائية</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صحي</a:t>
            </a:r>
          </a:p>
        </p:txBody>
      </p:sp>
      <p:sp>
        <p:nvSpPr>
          <p:cNvPr id="11" name="TextBox 10"/>
          <p:cNvSpPr txBox="1"/>
          <p:nvPr/>
        </p:nvSpPr>
        <p:spPr>
          <a:xfrm>
            <a:off x="3377183"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12" name="TextBox 11"/>
          <p:cNvSpPr txBox="1"/>
          <p:nvPr/>
        </p:nvSpPr>
        <p:spPr>
          <a:xfrm>
            <a:off x="3377183"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أمد الحياة ووفيات الأطفال</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5943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تعليمي</a:t>
            </a:r>
          </a:p>
        </p:txBody>
      </p:sp>
      <p:sp>
        <p:nvSpPr>
          <p:cNvPr id="16" name="TextBox 15"/>
          <p:cNvSpPr txBox="1"/>
          <p:nvPr/>
        </p:nvSpPr>
        <p:spPr>
          <a:xfrm>
            <a:off x="548639" y="21031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a:t>
            </a:r>
          </a:p>
        </p:txBody>
      </p:sp>
      <p:sp>
        <p:nvSpPr>
          <p:cNvPr id="17" name="TextBox 16"/>
          <p:cNvSpPr txBox="1"/>
          <p:nvPr/>
        </p:nvSpPr>
        <p:spPr>
          <a:xfrm>
            <a:off x="548639" y="2459735"/>
            <a:ext cx="2298192" cy="21122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الأمية والتمدرس لدى الصغار والكبار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ركائز مؤشر التنمية البشرية (IDH)</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كيف اتسع مفهوم التنمية؟</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697980" y="1234440"/>
            <a:ext cx="198882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97980"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50–60</a:t>
            </a:r>
          </a:p>
        </p:txBody>
      </p:sp>
      <p:sp>
        <p:nvSpPr>
          <p:cNvPr id="6" name="Rectangle 5"/>
          <p:cNvSpPr/>
          <p:nvPr/>
        </p:nvSpPr>
        <p:spPr>
          <a:xfrm>
            <a:off x="767867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55523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60095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0548"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البعد الاقتصادي</a:t>
            </a:r>
          </a:p>
        </p:txBody>
      </p:sp>
      <p:sp>
        <p:nvSpPr>
          <p:cNvPr id="10" name="TextBox 9"/>
          <p:cNvSpPr txBox="1"/>
          <p:nvPr/>
        </p:nvSpPr>
        <p:spPr>
          <a:xfrm>
            <a:off x="6670548"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التصنيع وزيادة الإنتاج</a:t>
            </a:r>
          </a:p>
        </p:txBody>
      </p:sp>
      <p:sp>
        <p:nvSpPr>
          <p:cNvPr id="11" name="Rounded Rectangle 10"/>
          <p:cNvSpPr/>
          <p:nvPr/>
        </p:nvSpPr>
        <p:spPr>
          <a:xfrm>
            <a:off x="4617720" y="1234440"/>
            <a:ext cx="198882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617720"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السبعينيات</a:t>
            </a:r>
          </a:p>
        </p:txBody>
      </p:sp>
      <p:sp>
        <p:nvSpPr>
          <p:cNvPr id="13" name="Rectangle 12"/>
          <p:cNvSpPr/>
          <p:nvPr/>
        </p:nvSpPr>
        <p:spPr>
          <a:xfrm>
            <a:off x="559841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7497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52069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90288"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البعد الاجتماعي</a:t>
            </a:r>
          </a:p>
        </p:txBody>
      </p:sp>
      <p:sp>
        <p:nvSpPr>
          <p:cNvPr id="17" name="TextBox 16"/>
          <p:cNvSpPr txBox="1"/>
          <p:nvPr/>
        </p:nvSpPr>
        <p:spPr>
          <a:xfrm>
            <a:off x="4590288"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محاربة الفقر والحاجات الأساسية</a:t>
            </a:r>
          </a:p>
        </p:txBody>
      </p:sp>
      <p:sp>
        <p:nvSpPr>
          <p:cNvPr id="18" name="Rounded Rectangle 17"/>
          <p:cNvSpPr/>
          <p:nvPr/>
        </p:nvSpPr>
        <p:spPr>
          <a:xfrm>
            <a:off x="2537459" y="1234440"/>
            <a:ext cx="198882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537459"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1990</a:t>
            </a:r>
          </a:p>
        </p:txBody>
      </p:sp>
      <p:sp>
        <p:nvSpPr>
          <p:cNvPr id="20" name="Rectangle 19"/>
          <p:cNvSpPr/>
          <p:nvPr/>
        </p:nvSpPr>
        <p:spPr>
          <a:xfrm>
            <a:off x="3518153"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339471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440429"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510027"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التنمية البشرية</a:t>
            </a:r>
          </a:p>
        </p:txBody>
      </p:sp>
      <p:sp>
        <p:nvSpPr>
          <p:cNvPr id="24" name="TextBox 23"/>
          <p:cNvSpPr txBox="1"/>
          <p:nvPr/>
        </p:nvSpPr>
        <p:spPr>
          <a:xfrm>
            <a:off x="2510027"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اعتماد مؤشر IDH</a:t>
            </a:r>
          </a:p>
        </p:txBody>
      </p:sp>
      <p:sp>
        <p:nvSpPr>
          <p:cNvPr id="25" name="Rounded Rectangle 24"/>
          <p:cNvSpPr/>
          <p:nvPr/>
        </p:nvSpPr>
        <p:spPr>
          <a:xfrm>
            <a:off x="457199" y="1234440"/>
            <a:ext cx="198882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199" y="1234440"/>
            <a:ext cx="198882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1992</a:t>
            </a:r>
          </a:p>
        </p:txBody>
      </p:sp>
      <p:sp>
        <p:nvSpPr>
          <p:cNvPr id="27" name="Rectangle 26"/>
          <p:cNvSpPr/>
          <p:nvPr/>
        </p:nvSpPr>
        <p:spPr>
          <a:xfrm>
            <a:off x="1437893"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1444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360169"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9767" y="2743200"/>
            <a:ext cx="204368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التنمية المستدامة</a:t>
            </a:r>
          </a:p>
        </p:txBody>
      </p:sp>
      <p:sp>
        <p:nvSpPr>
          <p:cNvPr id="31" name="TextBox 30"/>
          <p:cNvSpPr txBox="1"/>
          <p:nvPr/>
        </p:nvSpPr>
        <p:spPr>
          <a:xfrm>
            <a:off x="429767" y="3703320"/>
            <a:ext cx="204368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قمة الأرض بريو دي جانيرو</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التنمية المستدامة: حق الأجيال القادمة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تعريفها</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تلبية حاجات الحاضر دون المساس بحق الأجيال المقبلة</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اقتصاديًا</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خلق الثروة بشكل مسؤول</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اجتماعيًا</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توزيع الثروة وإنصاف الفقراء</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بيئيًا</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صون الموارد وتجنب التلوث</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1- التنمية: مفهومها ومقارباتها</a:t>
            </a:r>
          </a:p>
          <a:p>
            <a:pPr rtl="1" algn="r">
              <a:buNone/>
              <a:spcAft>
                <a:spcPts val="600"/>
              </a:spcAft>
            </a:pPr>
            <a:r>
              <a:rPr sz="2400" b="1" lang="ar-MA">
                <a:solidFill>
                  <a:srgbClr val="0B2242"/>
                </a:solidFill>
                <a:latin typeface="Cairo"/>
                <a:cs typeface="Cairo"/>
              </a:rPr>
              <a:t>1- مفهوم التنمية</a:t>
            </a:r>
          </a:p>
          <a:p>
            <a:pPr rtl="1" algn="r">
              <a:buNone/>
              <a:spcAft>
                <a:spcPts val="600"/>
              </a:spcAft>
            </a:pPr>
            <a:r>
              <a:rPr sz="2400" b="0" lang="ar-MA">
                <a:latin typeface="Cairo"/>
                <a:cs typeface="Cairo"/>
              </a:rPr>
              <a:t>التنمية البشرية هي تحسين مستدام لشروط حياة ساكنة ما على جميع المستويات وهي تختلف عن التنمية الاقتصادية (النمو) التي تركز على الجانب الاقتصادي وتعتبر الإنسان وسيلة للإنتاج فقط.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باعتبار التنمية البشرية تركز على الإنسان وتعتبره هدفا في حد ذاته، فإن خبراء الأمم المتحدة وضعوا مقياسا للتنمية البشرية يركز على مستويات رفاهية الساكنة (مؤشر التنمية البشرية IDH) ويعتمد ثلاث معايير: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المعيار الاقتصادي: ويركز على المستوى الاقتصادي ببلد ما من خلال مستوى الدخل الفردي مع مراعاة القدرة الشرائية للسكان.</a:t>
            </a:r>
          </a:p>
          <a:p>
            <a:pPr rtl="1" algn="r">
              <a:buNone/>
              <a:spcAft>
                <a:spcPts val="600"/>
              </a:spcAft>
            </a:pPr>
            <a:r>
              <a:rPr sz="2400" b="0" lang="ar-MA">
                <a:latin typeface="Cairo"/>
                <a:cs typeface="Cairo"/>
              </a:rPr>
              <a:t>• المعيار الصحي: ويرتكز على أمد الحياة ونسبة وفيات الأطفال.</a:t>
            </a:r>
          </a:p>
          <a:p>
            <a:pPr rtl="1" algn="r">
              <a:buNone/>
              <a:spcAft>
                <a:spcPts val="600"/>
              </a:spcAft>
            </a:pPr>
            <a:r>
              <a:rPr sz="2400" b="0" lang="ar-MA">
                <a:latin typeface="Cairo"/>
                <a:cs typeface="Cairo"/>
              </a:rPr>
              <a:t>• المعيار التعليمي: ويعتمد نسبة الأمية ونسبة التمدرس لدى الصغار والكبار.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الثاني: استراتيجيات التنمية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استراتيجيتان متعارضتان</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اشتراكية</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الصين (ماو) والجزائر (بومدين)</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رأسمالية</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التنينات: سنغافورة، هونغ كونغ، كوريا ج.</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التوجه</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انغلاق على الذات وسوق داخلية</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التوجه</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انفتاح على السوق العالمية</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الصناعة</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صناعة ثقيلة واكتفاء ذاتي</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الصناعة</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صناعات استهلاكية وتصدير</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استراتيجيات التنمية: مسارات متعارضة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6.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إستراتيجيات التنمية</a:t>
            </a:r>
          </a:p>
          <a:p>
            <a:pPr rtl="1" algn="r">
              <a:buNone/>
              <a:spcAft>
                <a:spcPts val="600"/>
              </a:spcAft>
            </a:pPr>
            <a:r>
              <a:rPr sz="2600" b="0" lang="ar-MA">
                <a:latin typeface="Cairo"/>
                <a:cs typeface="Cairo"/>
              </a:rPr>
              <a:t>يمكن التمييز بين إستراتيجيتين تنمويتين: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الإستراتيجية الاشتراكية: وهي إستراتيجية اعتمدتها الصين في عهد ماو والجزائر في عهد بومدين، واعتمدت هذه التجربة على الانغلاق على الذات والاهتمام بالسوق الداخلية لتحقيق الاكتفاء الذاتي وكذلك التركيز على الصناعة الثقيلة.</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الإستراتيجية الرأسمالية: وتمثلها الدول التنينات (سنغافورة - هونغ كونغ - كوريا الجنوبية)، وقد اعتمدت هذه الدول على الصناعات الاستهلاكية والانفتاح على السوق العالمية واستطاعت تحقيق نجاح اقتصادي مكنها من بلوغ التنمية.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مقاربات قياس التنمية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سبع مقاربات… لقراءة واحدة</a:t>
            </a:r>
          </a:p>
        </p:txBody>
      </p:sp>
      <p:cxnSp>
        <p:nvCxnSpPr>
          <p:cNvPr id="3" name="Connector 2"/>
          <p:cNvCxnSpPr/>
          <p:nvPr/>
        </p:nvCxnSpPr>
        <p:spPr>
          <a:xfrm flipV="1">
            <a:off x="4572000" y="1531620"/>
            <a:ext cx="0"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flipV="1">
            <a:off x="1919156" y="2194559"/>
            <a:ext cx="2652844" cy="662941"/>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919156" y="2857500"/>
            <a:ext cx="2652844" cy="66293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571999" y="2857500"/>
            <a:ext cx="1"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2857500"/>
            <a:ext cx="2652843" cy="66294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572000" y="2194560"/>
            <a:ext cx="2652843" cy="66294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771900" y="2057400"/>
            <a:ext cx="1600200" cy="160020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94760" y="2308860"/>
            <a:ext cx="1554480" cy="1097280"/>
          </a:xfrm>
          <a:prstGeom prst="rect">
            <a:avLst/>
          </a:prstGeom>
          <a:noFill/>
        </p:spPr>
        <p:txBody>
          <a:bodyPr wrap="square" lIns="45720" rIns="45720" tIns="18288" bIns="18288" anchor="ctr">
            <a:spAutoFit/>
          </a:bodyPr>
          <a:lstStyle/>
          <a:p>
            <a:pPr rtl="1" algn="ctr">
              <a:lnSpc>
                <a:spcPct val="95000"/>
              </a:lnSpc>
            </a:pPr>
            <a:r>
              <a:rPr sz="2100" b="1" lang="ar-MA">
                <a:solidFill>
                  <a:srgbClr val="FFFFFF"/>
                </a:solidFill>
                <a:latin typeface="Cairo"/>
                <a:cs typeface="Cairo"/>
              </a:rPr>
              <a:t>التنمية</a:t>
            </a:r>
          </a:p>
        </p:txBody>
      </p:sp>
      <p:sp>
        <p:nvSpPr>
          <p:cNvPr id="11" name="Rounded Rectangle 10"/>
          <p:cNvSpPr/>
          <p:nvPr/>
        </p:nvSpPr>
        <p:spPr>
          <a:xfrm>
            <a:off x="3383280" y="1028700"/>
            <a:ext cx="2377440" cy="1005840"/>
          </a:xfrm>
          <a:prstGeom prst="roundRect">
            <a:avLst>
              <a:gd name="adj" fmla="val 30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29000" y="104698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اقتصادية</a:t>
            </a:r>
          </a:p>
        </p:txBody>
      </p:sp>
      <p:sp>
        <p:nvSpPr>
          <p:cNvPr id="13" name="TextBox 12"/>
          <p:cNvSpPr txBox="1"/>
          <p:nvPr/>
        </p:nvSpPr>
        <p:spPr>
          <a:xfrm>
            <a:off x="3429000" y="148590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PIB، الدخل الفردي</a:t>
            </a:r>
          </a:p>
        </p:txBody>
      </p:sp>
      <p:sp>
        <p:nvSpPr>
          <p:cNvPr id="14" name="Rounded Rectangle 13"/>
          <p:cNvSpPr/>
          <p:nvPr/>
        </p:nvSpPr>
        <p:spPr>
          <a:xfrm>
            <a:off x="730436" y="1691639"/>
            <a:ext cx="2377440" cy="1005840"/>
          </a:xfrm>
          <a:prstGeom prst="roundRect">
            <a:avLst>
              <a:gd name="adj" fmla="val 30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6156" y="17099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اجتماعية</a:t>
            </a:r>
          </a:p>
        </p:txBody>
      </p:sp>
      <p:sp>
        <p:nvSpPr>
          <p:cNvPr id="16" name="TextBox 15"/>
          <p:cNvSpPr txBox="1"/>
          <p:nvPr/>
        </p:nvSpPr>
        <p:spPr>
          <a:xfrm>
            <a:off x="776156" y="21488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الفقر، البطالة، السكن</a:t>
            </a:r>
          </a:p>
        </p:txBody>
      </p:sp>
      <p:sp>
        <p:nvSpPr>
          <p:cNvPr id="17" name="Rounded Rectangle 16"/>
          <p:cNvSpPr/>
          <p:nvPr/>
        </p:nvSpPr>
        <p:spPr>
          <a:xfrm>
            <a:off x="730436" y="3017520"/>
            <a:ext cx="2377440" cy="1005840"/>
          </a:xfrm>
          <a:prstGeom prst="roundRect">
            <a:avLst>
              <a:gd name="adj" fmla="val 30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6156" y="303580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ديمغرافية</a:t>
            </a:r>
          </a:p>
        </p:txBody>
      </p:sp>
      <p:sp>
        <p:nvSpPr>
          <p:cNvPr id="19" name="TextBox 18"/>
          <p:cNvSpPr txBox="1"/>
          <p:nvPr/>
        </p:nvSpPr>
        <p:spPr>
          <a:xfrm>
            <a:off x="776156" y="347472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أمد الحياة، الخصوبة</a:t>
            </a:r>
          </a:p>
        </p:txBody>
      </p:sp>
      <p:sp>
        <p:nvSpPr>
          <p:cNvPr id="20" name="Rounded Rectangle 19"/>
          <p:cNvSpPr/>
          <p:nvPr/>
        </p:nvSpPr>
        <p:spPr>
          <a:xfrm>
            <a:off x="3383279" y="3680460"/>
            <a:ext cx="2377440" cy="1005840"/>
          </a:xfrm>
          <a:prstGeom prst="roundRect">
            <a:avLst>
              <a:gd name="adj" fmla="val 30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428999" y="36987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سياسية</a:t>
            </a:r>
          </a:p>
        </p:txBody>
      </p:sp>
      <p:sp>
        <p:nvSpPr>
          <p:cNvPr id="22" name="TextBox 21"/>
          <p:cNvSpPr txBox="1"/>
          <p:nvPr/>
        </p:nvSpPr>
        <p:spPr>
          <a:xfrm>
            <a:off x="3428999" y="41376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الديمقراطية، الحكامة</a:t>
            </a:r>
          </a:p>
        </p:txBody>
      </p:sp>
      <p:sp>
        <p:nvSpPr>
          <p:cNvPr id="23" name="Rounded Rectangle 22"/>
          <p:cNvSpPr/>
          <p:nvPr/>
        </p:nvSpPr>
        <p:spPr>
          <a:xfrm>
            <a:off x="6036123" y="3017520"/>
            <a:ext cx="2377440" cy="1005840"/>
          </a:xfrm>
          <a:prstGeom prst="roundRect">
            <a:avLst>
              <a:gd name="adj" fmla="val 30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081843" y="303580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ثقافية-تعليمية</a:t>
            </a:r>
          </a:p>
        </p:txBody>
      </p:sp>
      <p:sp>
        <p:nvSpPr>
          <p:cNvPr id="25" name="TextBox 24"/>
          <p:cNvSpPr txBox="1"/>
          <p:nvPr/>
        </p:nvSpPr>
        <p:spPr>
          <a:xfrm>
            <a:off x="6081843" y="347472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الأمية، جودة التعليم</a:t>
            </a:r>
          </a:p>
        </p:txBody>
      </p:sp>
      <p:sp>
        <p:nvSpPr>
          <p:cNvPr id="26" name="Rounded Rectangle 25"/>
          <p:cNvSpPr/>
          <p:nvPr/>
        </p:nvSpPr>
        <p:spPr>
          <a:xfrm>
            <a:off x="6036123" y="1691639"/>
            <a:ext cx="2377440" cy="1005840"/>
          </a:xfrm>
          <a:prstGeom prst="roundRect">
            <a:avLst>
              <a:gd name="adj" fmla="val 3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081843" y="170992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بيئية</a:t>
            </a:r>
          </a:p>
        </p:txBody>
      </p:sp>
      <p:sp>
        <p:nvSpPr>
          <p:cNvPr id="28" name="TextBox 27"/>
          <p:cNvSpPr txBox="1"/>
          <p:nvPr/>
        </p:nvSpPr>
        <p:spPr>
          <a:xfrm>
            <a:off x="6081843" y="21488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التنمية المستدامة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المقاربة الشاملة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المقاربة السوسيو-اقتصادية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تدمج المؤشرات الاقتصادية والاجتماعية والثقافية… فتقترب أكثر من مفهوم التنمية البشرية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المقاربات متعددة الأبعاد</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5.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3- المقاربات المعتمدة لتحقيق التنمية</a:t>
            </a:r>
          </a:p>
          <a:p>
            <a:pPr rtl="1" algn="r">
              <a:buNone/>
              <a:spcAft>
                <a:spcPts val="600"/>
              </a:spcAft>
            </a:pPr>
            <a:r>
              <a:rPr sz="2400" b="0" lang="ar-MA">
                <a:latin typeface="Cairo"/>
                <a:cs typeface="Cairo"/>
              </a:rPr>
              <a:t>• مقاربة اقتصادية: وتعتمد مؤشرات اقتصادية مثل الناتج الداخلي الخام والدخل الفردي ونوعية وبنية الاقتصاد.</a:t>
            </a:r>
          </a:p>
          <a:p>
            <a:pPr rtl="1" algn="r">
              <a:buNone/>
              <a:spcAft>
                <a:spcPts val="600"/>
              </a:spcAft>
            </a:pPr>
            <a:r>
              <a:rPr sz="2400" b="0" lang="ar-MA">
                <a:latin typeface="Cairo"/>
                <a:cs typeface="Cairo"/>
              </a:rPr>
              <a:t>• مقاربة اجتماعية: وتعتمد المؤشرات الاجتماعية مثل نسبة الفقر والأمية والبطالة ونسبة التأطير الطبي والبطالة والسكن.</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ديمغرافية: وتعتمد مؤشرات ديمغرافية مثل أمد الحياة، الوفيات، الولادات، ونسبة الخصوبة طبيعة الهرم السكاني...</a:t>
            </a:r>
          </a:p>
          <a:p>
            <a:pPr rtl="1" algn="r">
              <a:buNone/>
              <a:spcAft>
                <a:spcPts val="600"/>
              </a:spcAft>
            </a:pPr>
            <a:r>
              <a:rPr sz="2600" b="0" lang="ar-MA">
                <a:latin typeface="Cairo"/>
                <a:cs typeface="Cairo"/>
              </a:rPr>
              <a:t>• مقاربة سياسية: وتعتمد مستوى الديمقراطية وحقوق الإنسان والحكامة الجيدة..</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ثقافية-تعليمية: وتعتمد على مؤشرات ثقافية كنسبة الأمية ونسبة التمدرس، ونوعية وجودة التعليم.</a:t>
            </a:r>
          </a:p>
          <a:p>
            <a:pPr rtl="1" algn="r">
              <a:buNone/>
              <a:spcAft>
                <a:spcPts val="600"/>
              </a:spcAft>
            </a:pPr>
            <a:r>
              <a:rPr sz="2600" b="0" lang="ar-MA">
                <a:latin typeface="Cairo"/>
                <a:cs typeface="Cairo"/>
              </a:rPr>
              <a:t>• مقاربة بيئية: وتعتمد التنمية المستدامة القائمة على مراعاة البعد البيئي في المخططات.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مقاربة سوسيو-اقتصادية: وهي تقوم على دمج المؤشرات الاقتصادية والاجتماعية والثقافية وغيرها في إطار دراسة شمولية تقترب أكثر من مفهوم التنمية البشرية.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الرابع: التقسيمات الكبرى للعالم</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ثلاث زوايا لتقسيم العالم</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حسب الدخل</a:t>
            </a:r>
          </a:p>
        </p:txBody>
      </p:sp>
      <p:sp>
        <p:nvSpPr>
          <p:cNvPr id="6" name="TextBox 5"/>
          <p:cNvSpPr txBox="1"/>
          <p:nvPr/>
        </p:nvSpPr>
        <p:spPr>
          <a:xfrm>
            <a:off x="6205728"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البنك الدولي</a:t>
            </a:r>
          </a:p>
        </p:txBody>
      </p:sp>
      <p:sp>
        <p:nvSpPr>
          <p:cNvPr id="7" name="TextBox 6"/>
          <p:cNvSpPr txBox="1"/>
          <p:nvPr/>
        </p:nvSpPr>
        <p:spPr>
          <a:xfrm>
            <a:off x="6205728"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مرتفع، متوسط، منخفض</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حسب IDH</a:t>
            </a:r>
          </a:p>
        </p:txBody>
      </p:sp>
      <p:sp>
        <p:nvSpPr>
          <p:cNvPr id="11" name="TextBox 10"/>
          <p:cNvSpPr txBox="1"/>
          <p:nvPr/>
        </p:nvSpPr>
        <p:spPr>
          <a:xfrm>
            <a:off x="3377183"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الأمم المتحدة</a:t>
            </a:r>
          </a:p>
        </p:txBody>
      </p:sp>
      <p:sp>
        <p:nvSpPr>
          <p:cNvPr id="12" name="TextBox 11"/>
          <p:cNvSpPr txBox="1"/>
          <p:nvPr/>
        </p:nvSpPr>
        <p:spPr>
          <a:xfrm>
            <a:off x="3377183"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مرتفعة جدًا، مرتفعة، متوسطة، منخفضة</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شمال / جنوب</a:t>
            </a:r>
          </a:p>
        </p:txBody>
      </p:sp>
      <p:sp>
        <p:nvSpPr>
          <p:cNvPr id="16" name="TextBox 15"/>
          <p:cNvSpPr txBox="1"/>
          <p:nvPr/>
        </p:nvSpPr>
        <p:spPr>
          <a:xfrm>
            <a:off x="548639"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خط براندت</a:t>
            </a:r>
          </a:p>
        </p:txBody>
      </p:sp>
      <p:sp>
        <p:nvSpPr>
          <p:cNvPr id="17" name="TextBox 16"/>
          <p:cNvSpPr txBox="1"/>
          <p:nvPr/>
        </p:nvSpPr>
        <p:spPr>
          <a:xfrm>
            <a:off x="548639"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مركز متطور وأطراف نامية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تصنيفات مؤشر التنمية البشرية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4.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مفارقة الثروة والسكان</a:t>
            </a:r>
          </a:p>
        </p:txBody>
      </p:sp>
      <p:sp>
        <p:nvSpPr>
          <p:cNvPr id="3" name="Rounded Rectangle 2"/>
          <p:cNvSpPr/>
          <p:nvPr/>
        </p:nvSpPr>
        <p:spPr>
          <a:xfrm>
            <a:off x="5212080" y="1097280"/>
            <a:ext cx="3520440" cy="1687067"/>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687067"/>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الشمال</a:t>
            </a:r>
          </a:p>
        </p:txBody>
      </p:sp>
      <p:sp>
        <p:nvSpPr>
          <p:cNvPr id="6" name="TextBox 5"/>
          <p:cNvSpPr txBox="1"/>
          <p:nvPr/>
        </p:nvSpPr>
        <p:spPr>
          <a:xfrm>
            <a:off x="5303520" y="1097280"/>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20% من السكان</a:t>
            </a:r>
          </a:p>
        </p:txBody>
      </p:sp>
      <p:sp>
        <p:nvSpPr>
          <p:cNvPr id="7" name="Rounded Rectangle 6"/>
          <p:cNvSpPr/>
          <p:nvPr/>
        </p:nvSpPr>
        <p:spPr>
          <a:xfrm>
            <a:off x="411480" y="1097280"/>
            <a:ext cx="3520440" cy="1687067"/>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687067"/>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الجنوب</a:t>
            </a:r>
          </a:p>
        </p:txBody>
      </p:sp>
      <p:sp>
        <p:nvSpPr>
          <p:cNvPr id="10" name="TextBox 9"/>
          <p:cNvSpPr txBox="1"/>
          <p:nvPr/>
        </p:nvSpPr>
        <p:spPr>
          <a:xfrm>
            <a:off x="502920" y="1097280"/>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80% من السكان</a:t>
            </a:r>
          </a:p>
        </p:txBody>
      </p:sp>
      <p:sp>
        <p:nvSpPr>
          <p:cNvPr id="11" name="Oval 10"/>
          <p:cNvSpPr/>
          <p:nvPr/>
        </p:nvSpPr>
        <p:spPr>
          <a:xfrm>
            <a:off x="4288536" y="1657349"/>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930652"/>
            <a:ext cx="3520440" cy="1687067"/>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930652"/>
            <a:ext cx="1325880" cy="1687067"/>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930652"/>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الشمال</a:t>
            </a:r>
          </a:p>
        </p:txBody>
      </p:sp>
      <p:sp>
        <p:nvSpPr>
          <p:cNvPr id="15" name="TextBox 14"/>
          <p:cNvSpPr txBox="1"/>
          <p:nvPr/>
        </p:nvSpPr>
        <p:spPr>
          <a:xfrm>
            <a:off x="5303520" y="2930652"/>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80% من الثروة</a:t>
            </a:r>
          </a:p>
        </p:txBody>
      </p:sp>
      <p:sp>
        <p:nvSpPr>
          <p:cNvPr id="16" name="Rounded Rectangle 15"/>
          <p:cNvSpPr/>
          <p:nvPr/>
        </p:nvSpPr>
        <p:spPr>
          <a:xfrm>
            <a:off x="411480" y="2930652"/>
            <a:ext cx="3520440" cy="1687067"/>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930652"/>
            <a:ext cx="1325880" cy="1687067"/>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930652"/>
            <a:ext cx="1325880" cy="1687067"/>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الجنوب</a:t>
            </a:r>
          </a:p>
        </p:txBody>
      </p:sp>
      <p:sp>
        <p:nvSpPr>
          <p:cNvPr id="19" name="TextBox 18"/>
          <p:cNvSpPr txBox="1"/>
          <p:nvPr/>
        </p:nvSpPr>
        <p:spPr>
          <a:xfrm>
            <a:off x="502920" y="2930652"/>
            <a:ext cx="2057400" cy="1687067"/>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20% من الثروة</a:t>
            </a:r>
          </a:p>
        </p:txBody>
      </p:sp>
      <p:sp>
        <p:nvSpPr>
          <p:cNvPr id="20" name="Oval 19"/>
          <p:cNvSpPr/>
          <p:nvPr/>
        </p:nvSpPr>
        <p:spPr>
          <a:xfrm>
            <a:off x="4288536" y="3490721"/>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الانقسام العظيم</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7.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الجنوب ليس كتلة واحدة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اقتصادات صاعدة</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الصين، الهند، البرازيل</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اقتصادات ريعية</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الخليج، الجزائر، نيجيريا</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في طريق النمو</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المغرب، تونس، مصر</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الأقل نموًا</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إفريقيا جنوب الصحراء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تفكيك خريطة الجنوب</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8.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فجوة الثروة: أطراف النقيض</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09.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التقسيمات الكبرى للعالم حسب خريطة التنمية، وعوامل تباين مستويات التنمية</a:t>
            </a:r>
          </a:p>
          <a:p>
            <a:pPr rtl="1" algn="r">
              <a:buNone/>
              <a:spcAft>
                <a:spcPts val="600"/>
              </a:spcAft>
            </a:pPr>
            <a:r>
              <a:rPr sz="2600" b="1" lang="ar-MA">
                <a:solidFill>
                  <a:srgbClr val="0B2242"/>
                </a:solidFill>
                <a:latin typeface="Cairo"/>
                <a:cs typeface="Cairo"/>
              </a:rPr>
              <a:t>1- خريطة التقسيمات الكبرى للعالم</a:t>
            </a:r>
          </a:p>
          <a:p>
            <a:pPr rtl="1" algn="r">
              <a:buNone/>
              <a:spcAft>
                <a:spcPts val="600"/>
              </a:spcAft>
            </a:pPr>
            <a:r>
              <a:rPr sz="2600" b="0" lang="ar-MA">
                <a:latin typeface="Cairo"/>
                <a:cs typeface="Cairo"/>
              </a:rPr>
              <a:t>تنقسم دول العالم حسب مؤشرات التنمية إلى مجموعات وفقًا لمستويات الدخل الفردي ومؤشر التنمية البشرية (IDH).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مؤشر الدخل الفردي يقيس متوسط دخل الفرد عبر الناتج المحلي الإجمالي، ويقسم الدول إلى ثلاث فئات: دول ذات دخل مرتفع مثل الولايات المتحدة وألمانيا، التي تتميز باقتصادات قوية ومستويات معيشة عالية؛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دول ذات دخل متوسط مثل الصين والهند والمغرب، التي تمر بمرحلة انتقالية؛ ودول ذات دخل منخفض مثل النيجر وأفغانستان، التي تعاني من مستويات فقر مرتفعة.</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أما مؤشر التنمية البشرية (IDH)، فهو مقياس مركب يأخذ بعين الاعتبار الصحة (متوسط العمر المتوقع)، التعليم (سنوات الدراسة)، ومستوى المعيشة (الدخل).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بناءً عليه، تصنف الدول إلى تنمية بشرية عالية جدًا مثل النرويج وسويسرا، تنمية بشرية عالية مثل الأرجنتين وماليزيا، تنمية بشرية متوسطة مثل مصر والمغرب، وتنمية بشرية منخفضة مثل تشاد والنيجر.</a:t>
            </a:r>
          </a:p>
          <a:p>
            <a:pPr rtl="1" algn="r">
              <a:buNone/>
              <a:spcAft>
                <a:spcPts val="600"/>
              </a:spcAft>
            </a:pPr>
            <a:r>
              <a:rPr sz="2400" b="0" lang="ar-MA">
                <a:latin typeface="Cairo"/>
                <a:cs typeface="Cairo"/>
              </a:rPr>
              <a:t>الفرق بين دول الشمال والجنوب يكمن في مستويات التنمية؛</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حيث تتمتع دول الشمال مثل أوروبا وأمريكا الشمالية باقتصادات متقدمة ومستويات معيشة مرتفعة، بينما تعاني دول الجنوب مثل إفريقيا وأمريكا اللاتينية من تحديات اقتصادية واجتماعية، مما ينعكس على انخفاض مؤشرات التنمية والدخل.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هذه الفوارق توضح التباين العالمي في التنمية والرفاهية بين الدول (انظر الخريطة).</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تفسيرات التباين</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لماذا تتفاوت مستويات التنمية؟</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طبيعي</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الموقع والمناخ: جنوب حار وشمال معتدل</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ليبرالي</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أسباب داخلية: ضعف الادخار والاستثمار</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ماركسي</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أسباب خارجية: الاستعمار والتبعية</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تفسير جغرافي</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تضافر كل العوامل: ظاهرة مركّبة</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عوائق إضافية في دول الجنوب</a:t>
            </a:r>
          </a:p>
        </p:txBody>
      </p:sp>
      <p:sp>
        <p:nvSpPr>
          <p:cNvPr id="3" name="Rounded Rectangle 2"/>
          <p:cNvSpPr/>
          <p:nvPr/>
        </p:nvSpPr>
        <p:spPr>
          <a:xfrm>
            <a:off x="4823460" y="1325880"/>
            <a:ext cx="2148840" cy="960120"/>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878324"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نمو ديمغرافي مرتفع</a:t>
            </a:r>
          </a:p>
        </p:txBody>
      </p:sp>
      <p:sp>
        <p:nvSpPr>
          <p:cNvPr id="5" name="Left Arrow 4"/>
          <p:cNvSpPr/>
          <p:nvPr/>
        </p:nvSpPr>
        <p:spPr>
          <a:xfrm>
            <a:off x="4366260"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171700" y="1325880"/>
            <a:ext cx="2148840" cy="960120"/>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226564"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بنية سكانية فتية</a:t>
            </a:r>
          </a:p>
        </p:txBody>
      </p:sp>
      <p:sp>
        <p:nvSpPr>
          <p:cNvPr id="8" name="Down Arrow 7"/>
          <p:cNvSpPr/>
          <p:nvPr/>
        </p:nvSpPr>
        <p:spPr>
          <a:xfrm>
            <a:off x="3063239" y="2377440"/>
            <a:ext cx="365760" cy="502920"/>
          </a:xfrm>
          <a:prstGeom prst="down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2171700" y="2971800"/>
            <a:ext cx="2148840" cy="960120"/>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226564"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ضغط على سوق الشغل</a:t>
            </a:r>
          </a:p>
        </p:txBody>
      </p:sp>
      <p:sp>
        <p:nvSpPr>
          <p:cNvPr id="11" name="Rounded Rectangle 10"/>
          <p:cNvSpPr/>
          <p:nvPr/>
        </p:nvSpPr>
        <p:spPr>
          <a:xfrm>
            <a:off x="411480" y="4050791"/>
            <a:ext cx="8321040" cy="566928"/>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4050791"/>
            <a:ext cx="7955280" cy="566928"/>
          </a:xfrm>
          <a:prstGeom prst="rect">
            <a:avLst/>
          </a:prstGeom>
          <a:noFill/>
        </p:spPr>
        <p:txBody>
          <a:bodyPr wrap="square" lIns="45720" rIns="45720" tIns="18288" bIns="18288" anchor="ctr">
            <a:spAutoFit/>
          </a:bodyPr>
          <a:lstStyle/>
          <a:p>
            <a:pPr rtl="1" algn="ctr">
              <a:lnSpc>
                <a:spcPct val="100000"/>
              </a:lnSpc>
            </a:pPr>
            <a:r>
              <a:rPr sz="1800" b="1" lang="ar-MA">
                <a:solidFill>
                  <a:srgbClr val="0B2242"/>
                </a:solidFill>
                <a:latin typeface="Cairo"/>
                <a:cs typeface="Cairo"/>
              </a:rPr>
              <a:t>ومعها: فلاحة رهينة تقلبات المناخ، وضعف مؤشرات الحكم الصالح</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مسار المغرب: الإنجازات والتحديات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الحالة المغربية: الأرقام والواقع</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1" lang="ar-MA">
                <a:solidFill>
                  <a:srgbClr val="0B2242"/>
                </a:solidFill>
                <a:latin typeface="Cairo"/>
                <a:cs typeface="Cairo"/>
              </a:rPr>
              <a:t>2- تفسيرات التباين في مستويات التنمية</a:t>
            </a:r>
          </a:p>
          <a:p>
            <a:pPr rtl="1" algn="r">
              <a:buNone/>
              <a:spcAft>
                <a:spcPts val="600"/>
              </a:spcAft>
            </a:pPr>
            <a:r>
              <a:rPr sz="2400" b="0" lang="ar-MA">
                <a:latin typeface="Cairo"/>
                <a:cs typeface="Cairo"/>
              </a:rPr>
              <a:t>تختلف النظريات المفسرة لتفاوت مستويات التنمية بين بلدان العالم فهناك:</a:t>
            </a:r>
          </a:p>
          <a:p>
            <a:pPr rtl="1" algn="r">
              <a:buNone/>
              <a:spcAft>
                <a:spcPts val="600"/>
              </a:spcAft>
            </a:pPr>
            <a:r>
              <a:rPr sz="2400" b="0" lang="ar-MA">
                <a:latin typeface="Cairo"/>
                <a:cs typeface="Cairo"/>
              </a:rPr>
              <a:t>• تفسير على أساس طبيعي: يعتمد موقع ومناخ كل مجموعة ويرى بأن الدول الفقيرة تقع في الجزء الجنوبي الحار من الكوكب، عكس دول الشمال المعتدلة.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تفسير اقتصادي وإيديولوجي، وينقسم هذا التفسير إلى وجهتي نظر: وجهة نظر ليبرالية: وترجع التخلف لأسباب داخلية كضعف الادخار والاستثمار. ووجهة نظر ماركسية: وترى بأن تخلف الجنوب يرجع لأسباب خارجية مرتبطة بالاستعمار والتبعية الاقتصادية.</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تفسير جغرافي: وهو تفسير أكثر شمولية يرى بأن التنمية ظاهرة معقدة وبالتالي يجب تضافر كل التفسيرات السابقة للوقوف على أسباب التخلف.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Rounded Rectangle 2"/>
          <p:cNvSpPr/>
          <p:nvPr/>
        </p:nvSpPr>
        <p:spPr>
          <a:xfrm>
            <a:off x="411480" y="1097280"/>
            <a:ext cx="8321040" cy="3520439"/>
          </a:xfrm>
          <a:prstGeom prst="roundRect">
            <a:avLst>
              <a:gd name="adj" fmla="val 5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720840" y="1097280"/>
            <a:ext cx="2011680" cy="502920"/>
          </a:xfrm>
          <a:prstGeom prst="roundRect">
            <a:avLst>
              <a:gd name="adj" fmla="val 30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20840" y="1097280"/>
            <a:ext cx="2011680" cy="502920"/>
          </a:xfrm>
          <a:prstGeom prst="rect">
            <a:avLst/>
          </a:prstGeom>
          <a:noFill/>
        </p:spPr>
        <p:txBody>
          <a:bodyPr wrap="square" lIns="45720" rIns="45720" tIns="18288" bIns="18288" anchor="ctr">
            <a:spAutoFit/>
          </a:bodyPr>
          <a:lstStyle/>
          <a:p>
            <a:pPr rtl="1" algn="ctr">
              <a:lnSpc>
                <a:spcPct val="100000"/>
              </a:lnSpc>
            </a:pPr>
            <a:r>
              <a:rPr sz="2000" b="1" lang="ar-MA">
                <a:solidFill>
                  <a:srgbClr val="0B2242"/>
                </a:solidFill>
                <a:latin typeface="Cairo"/>
                <a:cs typeface="Cairo"/>
              </a:rPr>
              <a:t>تدرّب</a:t>
            </a:r>
          </a:p>
        </p:txBody>
      </p:sp>
      <p:sp>
        <p:nvSpPr>
          <p:cNvPr id="6" name="Oval 5"/>
          <p:cNvSpPr/>
          <p:nvPr/>
        </p:nvSpPr>
        <p:spPr>
          <a:xfrm>
            <a:off x="8069580" y="199643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1</a:t>
            </a:r>
          </a:p>
        </p:txBody>
      </p:sp>
      <p:sp>
        <p:nvSpPr>
          <p:cNvPr id="7" name="TextBox 6"/>
          <p:cNvSpPr txBox="1"/>
          <p:nvPr/>
        </p:nvSpPr>
        <p:spPr>
          <a:xfrm>
            <a:off x="685800" y="173736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ميّز بين النمو والتنمية بمثالين</a:t>
            </a:r>
          </a:p>
        </p:txBody>
      </p:sp>
      <p:sp>
        <p:nvSpPr>
          <p:cNvPr id="8" name="Oval 7"/>
          <p:cNvSpPr/>
          <p:nvPr/>
        </p:nvSpPr>
        <p:spPr>
          <a:xfrm>
            <a:off x="8069580" y="292607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2</a:t>
            </a:r>
          </a:p>
        </p:txBody>
      </p:sp>
      <p:sp>
        <p:nvSpPr>
          <p:cNvPr id="9" name="TextBox 8"/>
          <p:cNvSpPr txBox="1"/>
          <p:nvPr/>
        </p:nvSpPr>
        <p:spPr>
          <a:xfrm>
            <a:off x="685800" y="266700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صنّف المغرب حسب الدخل وحسب IDH وحسب شمال/جنوب</a:t>
            </a:r>
          </a:p>
        </p:txBody>
      </p:sp>
      <p:sp>
        <p:nvSpPr>
          <p:cNvPr id="10" name="Oval 9"/>
          <p:cNvSpPr/>
          <p:nvPr/>
        </p:nvSpPr>
        <p:spPr>
          <a:xfrm>
            <a:off x="8069580" y="3855720"/>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3</a:t>
            </a:r>
          </a:p>
        </p:txBody>
      </p:sp>
      <p:sp>
        <p:nvSpPr>
          <p:cNvPr id="11" name="TextBox 10"/>
          <p:cNvSpPr txBox="1"/>
          <p:nvPr/>
        </p:nvSpPr>
        <p:spPr>
          <a:xfrm>
            <a:off x="685800" y="359664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اكتب فقرة تبيّن فيها لماذا يبقى التفسير الجغرافي أشمل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اختبر فهمك</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أربعة أسئلة سريعة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اختر الجواب الصحيح قبل أن يظهر</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أي مؤشر يجعل الإنسان غاية التنمية؟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الناتج الداخلي الخام</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مؤشر التنمية البشرية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الدخل الفردي</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أي مؤشر يجعل الإنسان غاية التنمية؟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الناتج الداخلي الخام</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مؤشر التنمية البشرية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الدخل الفردي</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IDH: الدخل + الصحة + التعليم</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الانفتاح على السوق العالمية والصناعات الاستهلاكية: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الاستراتيجية الاشتراكية</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الاستراتيجية الرأسمالية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المقاربة البيئية</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الانفتاح على السوق العالمية والصناعات الاستهلاكية: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الاستراتيجية الاشتراكية</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الاستراتيجية الرأسمالية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المقاربة البيئية</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نموذج التنينات الآسيوية</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كرّست قمة الأرض مفهوم التنمية المستدامة؟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1990</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1992</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2010</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كرّست قمة الأرض مفهوم التنمية المستدامة؟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1990</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1992</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2010</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قمة ريو دي جانيرو 1992: إدخال البعد البيئي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تخلف الجنوب نتيجة الاستعمار والتبعية: أي تفسير؟</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الطبيعي</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الليبرالي</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الماركسي</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تخلف الجنوب نتيجة الاستعمار والتبعية: أي تفسير؟</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الطبيعي</a:t>
            </a:r>
          </a:p>
        </p:txBody>
      </p:sp>
      <p:sp>
        <p:nvSpPr>
          <p:cNvPr id="8" name="Rounded Rectangle 7"/>
          <p:cNvSpPr/>
          <p:nvPr/>
        </p:nvSpPr>
        <p:spPr>
          <a:xfrm>
            <a:off x="324612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الليبرالي</a:t>
            </a:r>
          </a:p>
        </p:txBody>
      </p:sp>
      <p:sp>
        <p:nvSpPr>
          <p:cNvPr id="11" name="Rounded Rectangle 10"/>
          <p:cNvSpPr/>
          <p:nvPr/>
        </p:nvSpPr>
        <p:spPr>
          <a:xfrm>
            <a:off x="411479"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الماركسي</a:t>
            </a:r>
          </a:p>
        </p:txBody>
      </p:sp>
      <p:sp>
        <p:nvSpPr>
          <p:cNvPr id="14" name="TextBox 13"/>
          <p:cNvSpPr txBox="1"/>
          <p:nvPr/>
        </p:nvSpPr>
        <p:spPr>
          <a:xfrm>
            <a:off x="502919"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التفسير الماركسي يركّز على الأسباب الخارجية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ذهنية للدرس</a:t>
            </a:r>
          </a:p>
        </p:txBody>
      </p:sp>
      <p:cxnSp>
        <p:nvCxnSpPr>
          <p:cNvPr id="3" name="Connector 2"/>
          <p:cNvCxnSpPr/>
          <p:nvPr/>
        </p:nvCxnSpPr>
        <p:spPr>
          <a:xfrm flipV="1">
            <a:off x="5394960" y="1638299"/>
            <a:ext cx="594360" cy="1219201"/>
          </a:xfrm>
          <a:prstGeom prst="line">
            <a:avLst/>
          </a:prstGeom>
          <a:ln w="31750">
            <a:solidFill>
              <a:srgbClr val="1F6F7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989320" y="1097280"/>
            <a:ext cx="2743200" cy="1082040"/>
          </a:xfrm>
          <a:prstGeom prst="roundRect">
            <a:avLst>
              <a:gd name="adj" fmla="val 12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989320" y="1097280"/>
            <a:ext cx="2743200" cy="411480"/>
          </a:xfrm>
          <a:prstGeom prst="roundRect">
            <a:avLst>
              <a:gd name="adj" fmla="val 2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3504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المفهوم</a:t>
            </a:r>
          </a:p>
        </p:txBody>
      </p:sp>
      <p:sp>
        <p:nvSpPr>
          <p:cNvPr id="7" name="TextBox 6"/>
          <p:cNvSpPr txBox="1"/>
          <p:nvPr/>
        </p:nvSpPr>
        <p:spPr>
          <a:xfrm>
            <a:off x="608076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نمو ≠ تنمية، تنمية بشرية، تنمية مستدامة</a:t>
            </a:r>
          </a:p>
        </p:txBody>
      </p:sp>
      <p:cxnSp>
        <p:nvCxnSpPr>
          <p:cNvPr id="8" name="Connector 7"/>
          <p:cNvCxnSpPr/>
          <p:nvPr/>
        </p:nvCxnSpPr>
        <p:spPr>
          <a:xfrm>
            <a:off x="5394960" y="2857500"/>
            <a:ext cx="594360" cy="0"/>
          </a:xfrm>
          <a:prstGeom prst="line">
            <a:avLst/>
          </a:prstGeom>
          <a:ln w="31750">
            <a:solidFill>
              <a:srgbClr val="8C2F3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89320" y="2316480"/>
            <a:ext cx="2743200" cy="1082040"/>
          </a:xfrm>
          <a:prstGeom prst="roundRect">
            <a:avLst>
              <a:gd name="adj" fmla="val 12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989320" y="2316480"/>
            <a:ext cx="2743200" cy="411480"/>
          </a:xfrm>
          <a:prstGeom prst="roundRect">
            <a:avLst>
              <a:gd name="adj" fmla="val 2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3504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المؤشر IDH</a:t>
            </a:r>
          </a:p>
        </p:txBody>
      </p:sp>
      <p:sp>
        <p:nvSpPr>
          <p:cNvPr id="12" name="TextBox 11"/>
          <p:cNvSpPr txBox="1"/>
          <p:nvPr/>
        </p:nvSpPr>
        <p:spPr>
          <a:xfrm>
            <a:off x="608076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اقتصادي، صحي، تعليمي</a:t>
            </a:r>
          </a:p>
        </p:txBody>
      </p:sp>
      <p:cxnSp>
        <p:nvCxnSpPr>
          <p:cNvPr id="13" name="Connector 12"/>
          <p:cNvCxnSpPr/>
          <p:nvPr/>
        </p:nvCxnSpPr>
        <p:spPr>
          <a:xfrm>
            <a:off x="5394960" y="2857500"/>
            <a:ext cx="594360" cy="1219199"/>
          </a:xfrm>
          <a:prstGeom prst="line">
            <a:avLst/>
          </a:prstGeom>
          <a:ln w="31750">
            <a:solidFill>
              <a:srgbClr val="4F7A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89320" y="3535679"/>
            <a:ext cx="2743200" cy="1082040"/>
          </a:xfrm>
          <a:prstGeom prst="roundRect">
            <a:avLst>
              <a:gd name="adj" fmla="val 12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989320" y="3535679"/>
            <a:ext cx="2743200" cy="411480"/>
          </a:xfrm>
          <a:prstGeom prst="roundRect">
            <a:avLst>
              <a:gd name="adj" fmla="val 2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3504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الاستراتيجيات</a:t>
            </a:r>
          </a:p>
        </p:txBody>
      </p:sp>
      <p:sp>
        <p:nvSpPr>
          <p:cNvPr id="17" name="TextBox 16"/>
          <p:cNvSpPr txBox="1"/>
          <p:nvPr/>
        </p:nvSpPr>
        <p:spPr>
          <a:xfrm>
            <a:off x="608076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اشتراكية، رأسمالية</a:t>
            </a:r>
          </a:p>
        </p:txBody>
      </p:sp>
      <p:cxnSp>
        <p:nvCxnSpPr>
          <p:cNvPr id="18" name="Connector 17"/>
          <p:cNvCxnSpPr/>
          <p:nvPr/>
        </p:nvCxnSpPr>
        <p:spPr>
          <a:xfrm flipH="1" flipV="1">
            <a:off x="3154680" y="1638299"/>
            <a:ext cx="594359" cy="1219201"/>
          </a:xfrm>
          <a:prstGeom prst="line">
            <a:avLst/>
          </a:prstGeom>
          <a:ln w="31750">
            <a:solidFill>
              <a:srgbClr val="B06A1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1097280"/>
            <a:ext cx="2743200" cy="1082040"/>
          </a:xfrm>
          <a:prstGeom prst="roundRect">
            <a:avLst>
              <a:gd name="adj" fmla="val 12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11480" y="1097280"/>
            <a:ext cx="2743200" cy="411480"/>
          </a:xfrm>
          <a:prstGeom prst="roundRect">
            <a:avLst>
              <a:gd name="adj" fmla="val 2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المقاربات</a:t>
            </a:r>
          </a:p>
        </p:txBody>
      </p:sp>
      <p:sp>
        <p:nvSpPr>
          <p:cNvPr id="22" name="TextBox 21"/>
          <p:cNvSpPr txBox="1"/>
          <p:nvPr/>
        </p:nvSpPr>
        <p:spPr>
          <a:xfrm>
            <a:off x="50292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اقتصادية، اجتماعية، سياسية، بيئية…</a:t>
            </a:r>
          </a:p>
        </p:txBody>
      </p:sp>
      <p:cxnSp>
        <p:nvCxnSpPr>
          <p:cNvPr id="23" name="Connector 22"/>
          <p:cNvCxnSpPr/>
          <p:nvPr/>
        </p:nvCxnSpPr>
        <p:spPr>
          <a:xfrm flipH="1">
            <a:off x="3154680" y="2857500"/>
            <a:ext cx="594359" cy="0"/>
          </a:xfrm>
          <a:prstGeom prst="line">
            <a:avLst/>
          </a:prstGeom>
          <a:ln w="31750">
            <a:solidFill>
              <a:srgbClr val="4A4F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2316480"/>
            <a:ext cx="2743200" cy="1082040"/>
          </a:xfrm>
          <a:prstGeom prst="roundRect">
            <a:avLst>
              <a:gd name="adj" fmla="val 12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11480" y="2316480"/>
            <a:ext cx="2743200" cy="411480"/>
          </a:xfrm>
          <a:prstGeom prst="roundRect">
            <a:avLst>
              <a:gd name="adj" fmla="val 2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20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التقسيمات</a:t>
            </a:r>
          </a:p>
        </p:txBody>
      </p:sp>
      <p:sp>
        <p:nvSpPr>
          <p:cNvPr id="27" name="TextBox 26"/>
          <p:cNvSpPr txBox="1"/>
          <p:nvPr/>
        </p:nvSpPr>
        <p:spPr>
          <a:xfrm>
            <a:off x="50292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الدخل، IDH، شمال/جنوب</a:t>
            </a:r>
          </a:p>
        </p:txBody>
      </p:sp>
      <p:cxnSp>
        <p:nvCxnSpPr>
          <p:cNvPr id="28" name="Connector 27"/>
          <p:cNvCxnSpPr/>
          <p:nvPr/>
        </p:nvCxnSpPr>
        <p:spPr>
          <a:xfrm flipH="1">
            <a:off x="3154680" y="2857500"/>
            <a:ext cx="594359" cy="1219199"/>
          </a:xfrm>
          <a:prstGeom prst="line">
            <a:avLst/>
          </a:prstGeom>
          <a:ln w="31750">
            <a:solidFill>
              <a:srgbClr val="0B224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3535679"/>
            <a:ext cx="2743200" cy="1082040"/>
          </a:xfrm>
          <a:prstGeom prst="roundRect">
            <a:avLst>
              <a:gd name="adj" fmla="val 12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11480" y="3535679"/>
            <a:ext cx="2743200" cy="411480"/>
          </a:xfrm>
          <a:prstGeom prst="roundRect">
            <a:avLst>
              <a:gd name="adj" fmla="val 2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20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التفسيرات</a:t>
            </a:r>
          </a:p>
        </p:txBody>
      </p:sp>
      <p:sp>
        <p:nvSpPr>
          <p:cNvPr id="32" name="TextBox 31"/>
          <p:cNvSpPr txBox="1"/>
          <p:nvPr/>
        </p:nvSpPr>
        <p:spPr>
          <a:xfrm>
            <a:off x="50292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طبيعي، ليبرالي، ماركسي، جغرافي</a:t>
            </a:r>
          </a:p>
        </p:txBody>
      </p:sp>
      <p:sp>
        <p:nvSpPr>
          <p:cNvPr id="33" name="Oval 32"/>
          <p:cNvSpPr/>
          <p:nvPr/>
        </p:nvSpPr>
        <p:spPr>
          <a:xfrm>
            <a:off x="3749039" y="2034540"/>
            <a:ext cx="1645920" cy="164592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794760" y="2263140"/>
            <a:ext cx="1554480" cy="1188720"/>
          </a:xfrm>
          <a:prstGeom prst="rect">
            <a:avLst/>
          </a:prstGeom>
          <a:noFill/>
        </p:spPr>
        <p:txBody>
          <a:bodyPr wrap="square" lIns="45720" rIns="45720" tIns="18288" bIns="18288" anchor="ctr">
            <a:spAutoFit/>
          </a:bodyPr>
          <a:lstStyle/>
          <a:p>
            <a:pPr rtl="1" algn="ctr">
              <a:lnSpc>
                <a:spcPct val="95000"/>
              </a:lnSpc>
            </a:pPr>
            <a:r>
              <a:rPr sz="1800" b="1" lang="ar-MA">
                <a:solidFill>
                  <a:srgbClr val="FFFFFF"/>
                </a:solidFill>
                <a:latin typeface="Cairo"/>
                <a:cs typeface="Cairo"/>
              </a:rPr>
              <a:t>مفهوم التنمية وخريطتها</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التنمية ليست مجرد أرقام… بل حريات وخيارات</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تفاوت حاد بين الشمال والجنوب لا يُردّ إلى عامل واحد</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خلاصة: التنمية حريات وخيارات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nmiya-1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خاتمة</a:t>
            </a:r>
          </a:p>
          <a:p>
            <a:pPr rtl="1" algn="r">
              <a:buNone/>
              <a:spcAft>
                <a:spcPts val="600"/>
              </a:spcAft>
            </a:pPr>
            <a:r>
              <a:rPr sz="2600" b="0" lang="ar-MA">
                <a:latin typeface="Cairo"/>
                <a:cs typeface="Cairo"/>
              </a:rPr>
              <a:t>يتفاوت مستوى التنمية البشرية بين دول الشمال ودول الجنوب، التي عليها بذل المزيد من الجهود من أجل تحقيق رفاهية شعوبها.</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