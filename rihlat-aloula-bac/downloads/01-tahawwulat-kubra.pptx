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5"/>
    <p:sldId id="258" r:id="rId4"/>
    <p:sldId id="259" r:id="rId3"/>
    <p:sldId id="260" r:id="rId2"/>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نموذج" id="{d326dffa-4528-c323-d390-c46a4a8ff4ad}">
          <p14:sldIdLst>
            <p14:sldId id="256"/>
            <p14:sldId id="257"/>
            <p14:sldId id="258"/>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غلاف الدرس">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badge.png">    </p:cNvPr>
          <p:cNvPicPr>
            <a:picLocks noChangeAspect="1"/>
          </p:cNvPicPr>
          <p:nvPr/>
        </p:nvPicPr>
        <p:blipFill>
          <a:blip r:embed="rId1"/>
          <a:stretch>
            <a:fillRect/>
          </a:stretch>
        </p:blipFill>
        <p:spPr>
          <a:xfrm>
            <a:off x="411480" y="548640"/>
            <a:ext cx="3840480" cy="3840480"/>
          </a:xfrm>
          <a:prstGeom prst="rect">
            <a:avLst/>
          </a:prstGeom>
        </p:spPr>
      </p:pic>
      <p:sp>
        <p:nvSpPr>
          <p:cNvPr id="3" name="Shape 0"/>
          <p:cNvSpPr/>
          <p:nvPr/>
        </p:nvSpPr>
        <p:spPr>
          <a:xfrm>
            <a:off x="4572000" y="2788920"/>
            <a:ext cx="4160520" cy="27432"/>
          </a:xfrm>
          <a:prstGeom prst="rect">
            <a:avLst/>
          </a:prstGeom>
          <a:solidFill>
            <a:srgbClr val="C9A24A"/>
          </a:solidFill>
          <a:ln/>
        </p:spPr>
      </p:sp>
      <p:sp>
        <p:nvSpPr>
          <p:cNvPr id="4" name="Text 1"/>
          <p:cNvSpPr/>
          <p:nvPr/>
        </p:nvSpPr>
        <p:spPr>
          <a:xfrm>
            <a:off x="4480560" y="4526280"/>
            <a:ext cx="4297680" cy="365760"/>
          </a:xfrm>
          <a:prstGeom prst="rect">
            <a:avLst/>
          </a:prstGeom>
          <a:noFill/>
          <a:ln/>
        </p:spPr>
        <p:txBody>
          <a:bodyPr wrap="square" rtlCol="0" anchor="ctr"/>
          <a:lstStyle/>
          <a:p>
            <a:pPr algn="r" indent="0" marL="0">
              <a:buNone/>
            </a:pPr>
            <a:r>
              <a:rPr lang="en-US" sz="1300" dirty="0">
                <a:solidFill>
                  <a:srgbClr val="C9A24A"/>
                </a:solidFill>
              </a:rPr>
              <a:t>ذ. أحمد بوعمود — مؤسسة الحنان الخاصة | ⁦2026-2027⁩</a:t>
            </a:r>
            <a:endParaRPr lang="en-US" sz="1300" dirty="0"/>
          </a:p>
        </p:txBody>
      </p:sp>
      <p:sp>
        <p:nvSpPr>
          <p:cNvPr id="5" name="Text 2"/>
          <p:cNvSpPr/>
          <p:nvPr>
            <p:ph idx="103" type="body" hasCustomPrompt="1"/>
          </p:nvPr>
        </p:nvSpPr>
        <p:spPr>
          <a:xfrm>
            <a:off x="4572000" y="685800"/>
            <a:ext cx="4160520" cy="502920"/>
          </a:xfrm>
          <a:prstGeom prst="rect">
            <a:avLst/>
          </a:prstGeom>
          <a:noFill/>
          <a:ln/>
        </p:spPr>
        <p:txBody>
          <a:bodyPr wrap="square" rtlCol="0"/>
          <a:lstStyle>
            <a:lvl1pPr rtl="1" algn="r" indent="0" marL="0">
              <a:buNone/>
              <a:defRPr lang="en-US" sz="2000" b="1" dirty="0">
                <a:solidFill>
                  <a:srgbClr val="C9A24A"/>
                </a:solidFill>
              </a:defRPr>
            </a:lvl1pPr>
          </a:lstStyle>
          <a:p>
            <a:pPr algn="r" indent="0" marL="0">
              <a:buNone/>
            </a:pPr>
            <a:r>
              <a:rPr lang="en-US" sz="2000" b="1" dirty="0">
                <a:solidFill>
                  <a:srgbClr val="C9A24A"/>
                </a:solidFill>
              </a:rPr>
              <a:t>المستوى | المكوّن</a:t>
            </a:r>
            <a:endParaRPr lang="en-US" sz="2000" dirty="0"/>
          </a:p>
        </p:txBody>
      </p:sp>
      <p:sp>
        <p:nvSpPr>
          <p:cNvPr id="6" name="Text 2"/>
          <p:cNvSpPr/>
          <p:nvPr>
            <p:ph idx="104" type="title" hasCustomPrompt="1"/>
          </p:nvPr>
        </p:nvSpPr>
        <p:spPr>
          <a:xfrm>
            <a:off x="4572000" y="1188720"/>
            <a:ext cx="4160520" cy="1554480"/>
          </a:xfrm>
          <a:prstGeom prst="rect">
            <a:avLst/>
          </a:prstGeom>
          <a:noFill/>
          <a:ln/>
        </p:spPr>
        <p:txBody>
          <a:bodyPr wrap="square" rtlCol="0"/>
          <a:lstStyle>
            <a:lvl1pPr rtl="1" algn="r" indent="0" marL="0">
              <a:buNone/>
              <a:defRPr lang="en-US" sz="4000" b="1" dirty="0">
                <a:solidFill>
                  <a:srgbClr val="FFFFFF"/>
                </a:solidFill>
              </a:defRPr>
            </a:lvl1pPr>
          </a:lstStyle>
          <a:p>
            <a:pPr algn="r" indent="0" marL="0">
              <a:buNone/>
            </a:pPr>
            <a:r>
              <a:rPr lang="en-US" sz="4000" b="1" dirty="0">
                <a:solidFill>
                  <a:srgbClr val="FFFFFF"/>
                </a:solidFill>
              </a:rPr>
              <a:t>عنوان الدرس</a:t>
            </a:r>
            <a:endParaRPr lang="en-US" sz="4000" dirty="0"/>
          </a:p>
        </p:txBody>
      </p:sp>
      <p:sp>
        <p:nvSpPr>
          <p:cNvPr id="7" name="Text 2"/>
          <p:cNvSpPr/>
          <p:nvPr>
            <p:ph idx="105" type="body" hasCustomPrompt="1"/>
          </p:nvPr>
        </p:nvSpPr>
        <p:spPr>
          <a:xfrm>
            <a:off x="4572000" y="2926080"/>
            <a:ext cx="4160520" cy="1188720"/>
          </a:xfrm>
          <a:prstGeom prst="rect">
            <a:avLst/>
          </a:prstGeom>
          <a:noFill/>
          <a:ln/>
        </p:spPr>
        <p:txBody>
          <a:bodyPr wrap="square" rtlCol="0"/>
          <a:lstStyle>
            <a:lvl1pPr rtl="1" algn="r" indent="0" marL="0">
              <a:buNone/>
              <a:defRPr lang="en-US" sz="2000" dirty="0">
                <a:solidFill>
                  <a:srgbClr val="DCE3EE"/>
                </a:solidFill>
              </a:defRPr>
            </a:lvl1pPr>
          </a:lstStyle>
          <a:p>
            <a:pPr algn="r" indent="0" marL="0">
              <a:buNone/>
            </a:pPr>
            <a:r>
              <a:rPr lang="en-US" sz="2000" dirty="0">
                <a:solidFill>
                  <a:srgbClr val="DCE3EE"/>
                </a:solidFill>
              </a:rPr>
              <a:t>الوحدة أو الإشكالية</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محور">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icon.png">    </p:cNvPr>
          <p:cNvPicPr>
            <a:picLocks noChangeAspect="1"/>
          </p:cNvPicPr>
          <p:nvPr/>
        </p:nvPicPr>
        <p:blipFill>
          <a:blip r:embed="rId1"/>
          <a:stretch>
            <a:fillRect/>
          </a:stretch>
        </p:blipFill>
        <p:spPr>
          <a:xfrm>
            <a:off x="411480" y="4160520"/>
            <a:ext cx="685800" cy="685800"/>
          </a:xfrm>
          <a:prstGeom prst="rect">
            <a:avLst/>
          </a:prstGeom>
        </p:spPr>
      </p:pic>
      <p:sp>
        <p:nvSpPr>
          <p:cNvPr id="3" name="Text 0"/>
          <p:cNvSpPr/>
          <p:nvPr>
            <p:ph idx="101" type="body" hasCustomPrompt="1"/>
          </p:nvPr>
        </p:nvSpPr>
        <p:spPr>
          <a:xfrm>
            <a:off x="6035040" y="914400"/>
            <a:ext cx="2697480" cy="1463040"/>
          </a:xfrm>
          <a:prstGeom prst="rect">
            <a:avLst/>
          </a:prstGeom>
          <a:noFill/>
          <a:ln/>
        </p:spPr>
        <p:txBody>
          <a:bodyPr wrap="square" rtlCol="0"/>
          <a:lstStyle>
            <a:lvl1pPr rtl="1" algn="r" indent="0" marL="0">
              <a:buNone/>
              <a:defRPr lang="en-US" sz="9600" b="1" dirty="0">
                <a:solidFill>
                  <a:srgbClr val="C9A24A"/>
                </a:solidFill>
              </a:defRPr>
            </a:lvl1pPr>
          </a:lstStyle>
          <a:p>
            <a:pPr algn="r" indent="0" marL="0">
              <a:buNone/>
            </a:pPr>
            <a:r>
              <a:rPr lang="en-US" sz="9600" b="1" dirty="0">
                <a:solidFill>
                  <a:srgbClr val="C9A24A"/>
                </a:solidFill>
              </a:rPr>
              <a:t>1</a:t>
            </a:r>
            <a:endParaRPr lang="en-US" sz="9600" dirty="0"/>
          </a:p>
        </p:txBody>
      </p:sp>
      <p:sp>
        <p:nvSpPr>
          <p:cNvPr id="4" name="Text 0"/>
          <p:cNvSpPr/>
          <p:nvPr>
            <p:ph idx="102" type="title" hasCustomPrompt="1"/>
          </p:nvPr>
        </p:nvSpPr>
        <p:spPr>
          <a:xfrm>
            <a:off x="914400" y="2423160"/>
            <a:ext cx="7818120" cy="1463040"/>
          </a:xfrm>
          <a:prstGeom prst="rect">
            <a:avLst/>
          </a:prstGeom>
          <a:noFill/>
          <a:ln/>
        </p:spPr>
        <p:txBody>
          <a:bodyPr wrap="square" rtlCol="0"/>
          <a:lstStyle>
            <a:lvl1pPr rtl="1" algn="r" indent="0" marL="0">
              <a:buNone/>
              <a:defRPr lang="en-US" sz="4000" b="1" dirty="0">
                <a:solidFill>
                  <a:srgbClr val="FFFFFF"/>
                </a:solidFill>
              </a:defRPr>
            </a:lvl1pPr>
          </a:lstStyle>
          <a:p>
            <a:pPr algn="r" indent="0" marL="0">
              <a:buNone/>
            </a:pPr>
            <a:r>
              <a:rPr lang="en-US" sz="4000" b="1" dirty="0">
                <a:solidFill>
                  <a:srgbClr val="FFFFFF"/>
                </a:solidFill>
              </a:rPr>
              <a:t>عنوان المحور</a:t>
            </a: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شرح">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B2242"/>
          </a:solidFill>
          <a:ln/>
        </p:spPr>
      </p:sp>
      <p:pic>
        <p:nvPicPr>
          <p:cNvPr id="3" name="Image 0" descr="/tmp/claude-0/-home-claude/19570fe6-a11a-544f-81e5-5e225fe6dd19/scratchpad/ppt/icon.png">    </p:cNvPr>
          <p:cNvPicPr>
            <a:picLocks noChangeAspect="1"/>
          </p:cNvPicPr>
          <p:nvPr/>
        </p:nvPicPr>
        <p:blipFill>
          <a:blip r:embed="rId1"/>
          <a:stretch>
            <a:fillRect/>
          </a:stretch>
        </p:blipFill>
        <p:spPr>
          <a:xfrm>
            <a:off x="274320" y="109728"/>
            <a:ext cx="731520" cy="731520"/>
          </a:xfrm>
          <a:prstGeom prst="rect">
            <a:avLst/>
          </a:prstGeom>
        </p:spPr>
      </p:pic>
      <p:sp>
        <p:nvSpPr>
          <p:cNvPr id="4" name="Text 1"/>
          <p:cNvSpPr/>
          <p:nvPr/>
        </p:nvSpPr>
        <p:spPr>
          <a:xfrm>
            <a:off x="365760" y="4754880"/>
            <a:ext cx="5943600" cy="274320"/>
          </a:xfrm>
          <a:prstGeom prst="rect">
            <a:avLst/>
          </a:prstGeom>
          <a:noFill/>
          <a:ln/>
        </p:spPr>
        <p:txBody>
          <a:bodyPr wrap="square" rtlCol="0" anchor="ctr"/>
          <a:lstStyle/>
          <a:p>
            <a:pPr algn="l" indent="0" marL="0">
              <a:buNone/>
            </a:pPr>
            <a:r>
              <a:rPr lang="en-US" sz="1100" dirty="0">
                <a:solidFill>
                  <a:srgbClr val="5B6B82"/>
                </a:solidFill>
              </a:rPr>
              <a:t>ذ. أحمد بوعمود — مؤسسة الحنان الخاصة | ⁦2026-2027⁩</a:t>
            </a:r>
            <a:endParaRPr lang="en-US" sz="1100" dirty="0"/>
          </a:p>
        </p:txBody>
      </p:sp>
      <p:sp>
        <p:nvSpPr>
          <p:cNvPr id="5" name="Text 2"/>
          <p:cNvSpPr/>
          <p:nvPr>
            <p:ph idx="103" type="title" hasCustomPrompt="1"/>
          </p:nvPr>
        </p:nvSpPr>
        <p:spPr>
          <a:xfrm>
            <a:off x="1188720" y="109728"/>
            <a:ext cx="7589520" cy="731520"/>
          </a:xfrm>
          <a:prstGeom prst="rect">
            <a:avLst/>
          </a:prstGeom>
          <a:noFill/>
          <a:ln/>
        </p:spPr>
        <p:txBody>
          <a:bodyPr wrap="square" rtlCol="0"/>
          <a:lstStyle>
            <a:lvl1pPr rtl="1" algn="r" indent="0" marL="0">
              <a:buNone/>
              <a:defRPr lang="en-US" sz="3200" b="1" dirty="0">
                <a:solidFill>
                  <a:srgbClr val="FFFFFF"/>
                </a:solidFill>
              </a:defRPr>
            </a:lvl1pPr>
          </a:lstStyle>
          <a:p>
            <a:pPr algn="r" indent="0" marL="0">
              <a:buNone/>
            </a:pPr>
            <a:r>
              <a:rPr lang="en-US" sz="3200" b="1" dirty="0">
                <a:solidFill>
                  <a:srgbClr val="FFFFFF"/>
                </a:solidFill>
              </a:rPr>
              <a:t>عنوان الشريحة</a:t>
            </a:r>
            <a:endParaRPr lang="en-US" sz="3200" dirty="0"/>
          </a:p>
        </p:txBody>
      </p:sp>
      <p:sp>
        <p:nvSpPr>
          <p:cNvPr id="6" name="Text 2"/>
          <p:cNvSpPr/>
          <p:nvPr>
            <p:ph idx="104" type="body" hasCustomPrompt="1"/>
          </p:nvPr>
        </p:nvSpPr>
        <p:spPr>
          <a:xfrm>
            <a:off x="457200" y="1188720"/>
            <a:ext cx="8229600" cy="3474720"/>
          </a:xfrm>
          <a:prstGeom prst="rect">
            <a:avLst/>
          </a:prstGeom>
          <a:noFill/>
          <a:ln/>
        </p:spPr>
        <p:txBody>
          <a:bodyPr wrap="square" rtlCol="0"/>
          <a:lstStyle>
            <a:lvl1pPr rtl="1" algn="r" indent="0" marL="0">
              <a:spcAft>
                <a:spcPts val="800"/>
              </a:spcAft>
              <a:buNone/>
              <a:defRPr lang="en-US" sz="2600" dirty="0">
                <a:solidFill>
                  <a:srgbClr val="1B1B1B"/>
                </a:solidFill>
              </a:defRPr>
            </a:lvl1pPr>
          </a:lstStyle>
          <a:p>
            <a:pPr algn="r" indent="0" marL="0">
              <a:spcAft>
                <a:spcPts val="800"/>
              </a:spcAft>
              <a:buNone/>
            </a:pPr>
            <a:r>
              <a:rPr lang="en-US" sz="2600" dirty="0">
                <a:solidFill>
                  <a:srgbClr val="1B1B1B"/>
                </a:solidFill>
              </a:rPr>
              <a:t>نص الشرح</a:t>
            </a:r>
            <a:endParaRPr lang="en-US" sz="2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82"/>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أكتب في دفتري">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C9A24A"/>
          </a:solidFill>
          <a:ln/>
        </p:spPr>
      </p:sp>
      <p:sp>
        <p:nvSpPr>
          <p:cNvPr id="3" name="Shape 1"/>
          <p:cNvSpPr/>
          <p:nvPr/>
        </p:nvSpPr>
        <p:spPr>
          <a:xfrm>
            <a:off x="8458200" y="960120"/>
            <a:ext cx="0" cy="4183380"/>
          </a:xfrm>
          <a:prstGeom prst="line">
            <a:avLst/>
          </a:prstGeom>
          <a:noFill/>
          <a:ln w="19050">
            <a:solidFill>
              <a:srgbClr val="E8A0A0"/>
            </a:solidFill>
            <a:prstDash val="solid"/>
          </a:ln>
        </p:spPr>
      </p:sp>
      <p:sp>
        <p:nvSpPr>
          <p:cNvPr id="4" name="Shape 2"/>
          <p:cNvSpPr/>
          <p:nvPr/>
        </p:nvSpPr>
        <p:spPr>
          <a:xfrm>
            <a:off x="548640" y="1572768"/>
            <a:ext cx="8046720" cy="0"/>
          </a:xfrm>
          <a:prstGeom prst="line">
            <a:avLst/>
          </a:prstGeom>
          <a:noFill/>
          <a:ln w="12700">
            <a:solidFill>
              <a:srgbClr val="C9D6E8"/>
            </a:solidFill>
            <a:prstDash val="solid"/>
          </a:ln>
        </p:spPr>
      </p:sp>
      <p:sp>
        <p:nvSpPr>
          <p:cNvPr id="5" name="Shape 3"/>
          <p:cNvSpPr/>
          <p:nvPr/>
        </p:nvSpPr>
        <p:spPr>
          <a:xfrm>
            <a:off x="548640" y="1993392"/>
            <a:ext cx="8046720" cy="0"/>
          </a:xfrm>
          <a:prstGeom prst="line">
            <a:avLst/>
          </a:prstGeom>
          <a:noFill/>
          <a:ln w="12700">
            <a:solidFill>
              <a:srgbClr val="C9D6E8"/>
            </a:solidFill>
            <a:prstDash val="solid"/>
          </a:ln>
        </p:spPr>
      </p:sp>
      <p:sp>
        <p:nvSpPr>
          <p:cNvPr id="6" name="Shape 4"/>
          <p:cNvSpPr/>
          <p:nvPr/>
        </p:nvSpPr>
        <p:spPr>
          <a:xfrm>
            <a:off x="548640" y="2414016"/>
            <a:ext cx="8046720" cy="0"/>
          </a:xfrm>
          <a:prstGeom prst="line">
            <a:avLst/>
          </a:prstGeom>
          <a:noFill/>
          <a:ln w="12700">
            <a:solidFill>
              <a:srgbClr val="C9D6E8"/>
            </a:solidFill>
            <a:prstDash val="solid"/>
          </a:ln>
        </p:spPr>
      </p:sp>
      <p:sp>
        <p:nvSpPr>
          <p:cNvPr id="7" name="Shape 5"/>
          <p:cNvSpPr/>
          <p:nvPr/>
        </p:nvSpPr>
        <p:spPr>
          <a:xfrm>
            <a:off x="548640" y="2834640"/>
            <a:ext cx="8046720" cy="0"/>
          </a:xfrm>
          <a:prstGeom prst="line">
            <a:avLst/>
          </a:prstGeom>
          <a:noFill/>
          <a:ln w="12700">
            <a:solidFill>
              <a:srgbClr val="C9D6E8"/>
            </a:solidFill>
            <a:prstDash val="solid"/>
          </a:ln>
        </p:spPr>
      </p:sp>
      <p:sp>
        <p:nvSpPr>
          <p:cNvPr id="8" name="Shape 6"/>
          <p:cNvSpPr/>
          <p:nvPr/>
        </p:nvSpPr>
        <p:spPr>
          <a:xfrm>
            <a:off x="548640" y="3255264"/>
            <a:ext cx="8046720" cy="0"/>
          </a:xfrm>
          <a:prstGeom prst="line">
            <a:avLst/>
          </a:prstGeom>
          <a:noFill/>
          <a:ln w="12700">
            <a:solidFill>
              <a:srgbClr val="C9D6E8"/>
            </a:solidFill>
            <a:prstDash val="solid"/>
          </a:ln>
        </p:spPr>
      </p:sp>
      <p:sp>
        <p:nvSpPr>
          <p:cNvPr id="9" name="Shape 7"/>
          <p:cNvSpPr/>
          <p:nvPr/>
        </p:nvSpPr>
        <p:spPr>
          <a:xfrm>
            <a:off x="548640" y="3675888"/>
            <a:ext cx="8046720" cy="0"/>
          </a:xfrm>
          <a:prstGeom prst="line">
            <a:avLst/>
          </a:prstGeom>
          <a:noFill/>
          <a:ln w="12700">
            <a:solidFill>
              <a:srgbClr val="C9D6E8"/>
            </a:solidFill>
            <a:prstDash val="solid"/>
          </a:ln>
        </p:spPr>
      </p:sp>
      <p:sp>
        <p:nvSpPr>
          <p:cNvPr id="10" name="Shape 8"/>
          <p:cNvSpPr/>
          <p:nvPr/>
        </p:nvSpPr>
        <p:spPr>
          <a:xfrm>
            <a:off x="548640" y="4096512"/>
            <a:ext cx="8046720" cy="0"/>
          </a:xfrm>
          <a:prstGeom prst="line">
            <a:avLst/>
          </a:prstGeom>
          <a:noFill/>
          <a:ln w="12700">
            <a:solidFill>
              <a:srgbClr val="C9D6E8"/>
            </a:solidFill>
            <a:prstDash val="solid"/>
          </a:ln>
        </p:spPr>
      </p:sp>
      <p:sp>
        <p:nvSpPr>
          <p:cNvPr id="11" name="Shape 9"/>
          <p:cNvSpPr/>
          <p:nvPr/>
        </p:nvSpPr>
        <p:spPr>
          <a:xfrm>
            <a:off x="548640" y="4517136"/>
            <a:ext cx="8046720" cy="0"/>
          </a:xfrm>
          <a:prstGeom prst="line">
            <a:avLst/>
          </a:prstGeom>
          <a:noFill/>
          <a:ln w="12700">
            <a:solidFill>
              <a:srgbClr val="C9D6E8"/>
            </a:solidFill>
            <a:prstDash val="solid"/>
          </a:ln>
        </p:spPr>
      </p:sp>
      <p:pic>
        <p:nvPicPr>
          <p:cNvPr id="12" name="Image 0" descr="/tmp/claude-0/-home-claude/19570fe6-a11a-544f-81e5-5e225fe6dd19/scratchpad/ppt/icon.png">    </p:cNvPr>
          <p:cNvPicPr>
            <a:picLocks noChangeAspect="1"/>
          </p:cNvPicPr>
          <p:nvPr/>
        </p:nvPicPr>
        <p:blipFill>
          <a:blip r:embed="rId1"/>
          <a:stretch>
            <a:fillRect/>
          </a:stretch>
        </p:blipFill>
        <p:spPr>
          <a:xfrm>
            <a:off x="274320" y="109728"/>
            <a:ext cx="731520" cy="731520"/>
          </a:xfrm>
          <a:prstGeom prst="rect">
            <a:avLst/>
          </a:prstGeom>
        </p:spPr>
      </p:pic>
      <p:sp>
        <p:nvSpPr>
          <p:cNvPr id="13" name="Text 10"/>
          <p:cNvSpPr/>
          <p:nvPr/>
        </p:nvSpPr>
        <p:spPr>
          <a:xfrm>
            <a:off x="3200400" y="109728"/>
            <a:ext cx="5577840" cy="731520"/>
          </a:xfrm>
          <a:prstGeom prst="rect">
            <a:avLst/>
          </a:prstGeom>
          <a:noFill/>
          <a:ln/>
        </p:spPr>
        <p:txBody>
          <a:bodyPr wrap="square" lIns="0" tIns="0" rIns="0" bIns="0" rtlCol="0" anchor="ctr"/>
          <a:lstStyle/>
          <a:p>
            <a:pPr algn="r" indent="0" marL="0">
              <a:buNone/>
            </a:pPr>
            <a:r>
              <a:rPr lang="en-US" sz="3400" b="1" dirty="0">
                <a:solidFill>
                  <a:srgbClr val="0B2242"/>
                </a:solidFill>
              </a:rPr>
              <a:t>✍  أكتب في دفتري</a:t>
            </a:r>
            <a:endParaRPr lang="en-US" sz="3400" dirty="0"/>
          </a:p>
        </p:txBody>
      </p:sp>
      <p:sp>
        <p:nvSpPr>
          <p:cNvPr id="14" name="Text 11"/>
          <p:cNvSpPr/>
          <p:nvPr/>
        </p:nvSpPr>
        <p:spPr>
          <a:xfrm>
            <a:off x="365760" y="4754880"/>
            <a:ext cx="5943600" cy="274320"/>
          </a:xfrm>
          <a:prstGeom prst="rect">
            <a:avLst/>
          </a:prstGeom>
          <a:noFill/>
          <a:ln/>
        </p:spPr>
        <p:txBody>
          <a:bodyPr wrap="square" rtlCol="0" anchor="ctr"/>
          <a:lstStyle/>
          <a:p>
            <a:pPr algn="l" indent="0" marL="0">
              <a:buNone/>
            </a:pPr>
            <a:r>
              <a:rPr lang="en-US" sz="1100" dirty="0">
                <a:solidFill>
                  <a:srgbClr val="5B6B82"/>
                </a:solidFill>
              </a:rPr>
              <a:t>ذ. أحمد بوعمود — مؤسسة الحنان الخاصة | ⁦2026-2027⁩</a:t>
            </a:r>
            <a:endParaRPr lang="en-US" sz="1100" dirty="0"/>
          </a:p>
        </p:txBody>
      </p:sp>
      <p:sp>
        <p:nvSpPr>
          <p:cNvPr id="15" name="Text 12"/>
          <p:cNvSpPr/>
          <p:nvPr>
            <p:ph idx="113" type="body" hasCustomPrompt="1"/>
          </p:nvPr>
        </p:nvSpPr>
        <p:spPr>
          <a:xfrm>
            <a:off x="548640" y="1188720"/>
            <a:ext cx="7772400" cy="3520440"/>
          </a:xfrm>
          <a:prstGeom prst="rect">
            <a:avLst/>
          </a:prstGeom>
          <a:noFill/>
          <a:ln/>
        </p:spPr>
        <p:txBody>
          <a:bodyPr wrap="square" rtlCol="0"/>
          <a:lstStyle>
            <a:lvl1pPr rtl="1" algn="r" indent="0" marL="0">
              <a:lnSpc>
                <a:spcPct val="115000"/>
              </a:lnSpc>
              <a:buNone/>
              <a:defRPr lang="en-US" sz="2600" dirty="0">
                <a:solidFill>
                  <a:srgbClr val="0B2242"/>
                </a:solidFill>
              </a:defRPr>
            </a:lvl1pPr>
          </a:lstStyle>
          <a:p>
            <a:pPr algn="r" indent="0" marL="0">
              <a:lnSpc>
                <a:spcPct val="115000"/>
              </a:lnSpc>
              <a:buNone/>
            </a:pPr>
            <a:r>
              <a:rPr lang="en-US" sz="2600" dirty="0">
                <a:solidFill>
                  <a:srgbClr val="0B2242"/>
                </a:solidFill>
              </a:rPr>
              <a:t>الفقرة المنقولة من الدرس كما هي</a:t>
            </a:r>
            <a:endParaRPr lang="en-US" sz="26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ختام">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logo-light.png">    </p:cNvPr>
          <p:cNvPicPr>
            <a:picLocks noChangeAspect="1"/>
          </p:cNvPicPr>
          <p:nvPr/>
        </p:nvPicPr>
        <p:blipFill>
          <a:blip r:embed="rId1"/>
          <a:stretch>
            <a:fillRect/>
          </a:stretch>
        </p:blipFill>
        <p:spPr>
          <a:xfrm>
            <a:off x="3337560" y="411480"/>
            <a:ext cx="2468880" cy="2468880"/>
          </a:xfrm>
          <a:prstGeom prst="rect">
            <a:avLst/>
          </a:prstGeom>
        </p:spPr>
      </p:pic>
      <p:sp>
        <p:nvSpPr>
          <p:cNvPr id="3" name="Text 0"/>
          <p:cNvSpPr/>
          <p:nvPr/>
        </p:nvSpPr>
        <p:spPr>
          <a:xfrm>
            <a:off x="914400" y="4434840"/>
            <a:ext cx="7315200" cy="365760"/>
          </a:xfrm>
          <a:prstGeom prst="rect">
            <a:avLst/>
          </a:prstGeom>
          <a:noFill/>
          <a:ln/>
        </p:spPr>
        <p:txBody>
          <a:bodyPr wrap="square" rtlCol="0" anchor="ctr"/>
          <a:lstStyle/>
          <a:p>
            <a:pPr algn="ctr" indent="0" marL="0">
              <a:buNone/>
            </a:pPr>
            <a:r>
              <a:rPr lang="en-US" sz="1400" dirty="0">
                <a:solidFill>
                  <a:srgbClr val="C9A24A"/>
                </a:solidFill>
              </a:rPr>
              <a:t>ذ. أحمد بوعمود — مؤسسة الحنان الخاصة | ⁦2026-2027⁩</a:t>
            </a:r>
            <a:endParaRPr lang="en-US" sz="1400" dirty="0"/>
          </a:p>
        </p:txBody>
      </p:sp>
      <p:sp>
        <p:nvSpPr>
          <p:cNvPr id="4" name="Text 1"/>
          <p:cNvSpPr/>
          <p:nvPr>
            <p:ph idx="102" type="title" hasCustomPrompt="1"/>
          </p:nvPr>
        </p:nvSpPr>
        <p:spPr>
          <a:xfrm>
            <a:off x="914400" y="3017520"/>
            <a:ext cx="7315200" cy="914400"/>
          </a:xfrm>
          <a:prstGeom prst="rect">
            <a:avLst/>
          </a:prstGeom>
          <a:noFill/>
          <a:ln/>
        </p:spPr>
        <p:txBody>
          <a:bodyPr wrap="square" rtlCol="0"/>
          <a:lstStyle>
            <a:lvl1pPr rtl="1" algn="ctr" indent="0" marL="0">
              <a:buNone/>
              <a:defRPr lang="en-US" sz="4000" b="1" dirty="0">
                <a:solidFill>
                  <a:srgbClr val="FFFFFF"/>
                </a:solidFill>
              </a:defRPr>
            </a:lvl1pPr>
          </a:lstStyle>
          <a:p>
            <a:pPr algn="ctr" indent="0" marL="0">
              <a:buNone/>
            </a:pPr>
            <a:r>
              <a:rPr lang="en-US" sz="4000" b="1" dirty="0">
                <a:solidFill>
                  <a:srgbClr val="FFFFFF"/>
                </a:solidFill>
              </a:rPr>
              <a:t>شكراً لانتباهكم</a:t>
            </a: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8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wrap="square"/>
          <a:lstStyle/>
          <a:p>
            <a:pPr rtl="1" algn="r">
              <a:buNone/>
              <a:spcAft>
                <a:spcPts val="600"/>
              </a:spcAft>
            </a:pPr>
            <a:r>
              <a:rPr sz="2000" b="0" lang="ar-MA">
                <a:latin typeface="Cairo"/>
                <a:cs typeface="Cairo"/>
              </a:rPr>
              <a:t>الأولى باكالوريا | التاريخ</a:t>
            </a:r>
          </a:p>
        </p:txBody>
      </p:sp>
      <p:sp>
        <p:nvSpPr>
          <p:cNvPr id="3" name="Title 2"/>
          <p:cNvSpPr>
            <a:spLocks noGrp="1"/>
          </p:cNvSpPr>
          <p:nvPr>
            <p:ph type="title" idx="104"/>
          </p:nvPr>
        </p:nvSpPr>
        <p:spPr/>
        <p:txBody>
          <a:bodyPr wrap="square"/>
          <a:lstStyle/>
          <a:p>
            <a:pPr rtl="1" algn="r">
              <a:buNone/>
              <a:spcAft>
                <a:spcPts val="600"/>
              </a:spcAft>
            </a:pPr>
            <a:r>
              <a:rPr sz="2600" b="0" lang="ar-MA">
                <a:latin typeface="Cairo"/>
                <a:cs typeface="Cairo"/>
              </a:rPr>
              <a:t>التحولات الكبرى بالعالم الرأسمالي وانعكاساتها خلال القرنين 19 و20م</a:t>
            </a:r>
          </a:p>
        </p:txBody>
      </p:sp>
      <p:sp>
        <p:nvSpPr>
          <p:cNvPr id="4" name="Text Placeholder 3"/>
          <p:cNvSpPr>
            <a:spLocks noGrp="1"/>
          </p:cNvSpPr>
          <p:nvPr>
            <p:ph type="body" idx="105"/>
          </p:nvPr>
        </p:nvSpPr>
        <p:spPr/>
        <p:txBody>
          <a:bodyPr wrap="square"/>
          <a:lstStyle/>
          <a:p>
            <a:pPr rtl="1" algn="r">
              <a:buNone/>
              <a:spcAft>
                <a:spcPts val="600"/>
              </a:spcAft>
            </a:pPr>
            <a:r>
              <a:rPr sz="1800" b="0" lang="ar-MA">
                <a:latin typeface="Cairo"/>
                <a:cs typeface="Cairo"/>
              </a:rPr>
              <a:t>الإشكالية: ما مظاهر التحولات الكبرى التي عرفها العالم الرأسمالي خلال القرنين 19 و20م؟ وما أهم انعكاساتها على باقي مناطق العالم؟</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مدخل</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قرنان غيّرا وجه العالم</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من الآلة البخارية إلى استقلال الشعوب: أحداث مترابطة يفسّر بعضها بعضًا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لماذا نبدأ بالتقديم العام؟</a:t>
            </a:r>
          </a:p>
        </p:txBody>
      </p:sp>
      <p:sp>
        <p:nvSpPr>
          <p:cNvPr id="3" name="Rounded Rectangle 2"/>
          <p:cNvSpPr/>
          <p:nvPr/>
        </p:nvSpPr>
        <p:spPr>
          <a:xfrm>
            <a:off x="6068568"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622792" y="1097280"/>
            <a:ext cx="109728" cy="3520439"/>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05728"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1F6F78"/>
                </a:solidFill>
                <a:latin typeface="Cairo"/>
                <a:cs typeface="Cairo"/>
              </a:rPr>
              <a:t>مفتاح المقرر</a:t>
            </a:r>
          </a:p>
        </p:txBody>
      </p:sp>
      <p:sp>
        <p:nvSpPr>
          <p:cNvPr id="6" name="TextBox 5"/>
          <p:cNvSpPr txBox="1"/>
          <p:nvPr/>
        </p:nvSpPr>
        <p:spPr>
          <a:xfrm>
            <a:off x="6205728" y="2606039"/>
            <a:ext cx="2298192" cy="1965960"/>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يؤطّر دروس السنة كلها في نسق واحد</a:t>
            </a:r>
          </a:p>
        </p:txBody>
      </p:sp>
      <p:sp>
        <p:nvSpPr>
          <p:cNvPr id="7" name="Rounded Rectangle 6"/>
          <p:cNvSpPr/>
          <p:nvPr/>
        </p:nvSpPr>
        <p:spPr>
          <a:xfrm>
            <a:off x="3240023"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794248" y="1097280"/>
            <a:ext cx="109728" cy="3520439"/>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377183"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8C2F39"/>
                </a:solidFill>
                <a:latin typeface="Cairo"/>
                <a:cs typeface="Cairo"/>
              </a:rPr>
              <a:t>الصورة الكبرى</a:t>
            </a:r>
          </a:p>
        </p:txBody>
      </p:sp>
      <p:sp>
        <p:nvSpPr>
          <p:cNvPr id="10" name="TextBox 9"/>
          <p:cNvSpPr txBox="1"/>
          <p:nvPr/>
        </p:nvSpPr>
        <p:spPr>
          <a:xfrm>
            <a:off x="3377183" y="2606039"/>
            <a:ext cx="2298192" cy="1965960"/>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نرى اللوحة كاملة قبل الدخول في التفاصيل</a:t>
            </a:r>
          </a:p>
        </p:txBody>
      </p:sp>
      <p:sp>
        <p:nvSpPr>
          <p:cNvPr id="11" name="Rounded Rectangle 10"/>
          <p:cNvSpPr/>
          <p:nvPr/>
        </p:nvSpPr>
        <p:spPr>
          <a:xfrm>
            <a:off x="411479"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5703" y="1097280"/>
            <a:ext cx="109728" cy="3520439"/>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39"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4F7A3A"/>
                </a:solidFill>
                <a:latin typeface="Cairo"/>
                <a:cs typeface="Cairo"/>
              </a:rPr>
              <a:t>موقع كل درس</a:t>
            </a:r>
          </a:p>
        </p:txBody>
      </p:sp>
      <p:sp>
        <p:nvSpPr>
          <p:cNvPr id="14" name="TextBox 13"/>
          <p:cNvSpPr txBox="1"/>
          <p:nvPr/>
        </p:nvSpPr>
        <p:spPr>
          <a:xfrm>
            <a:off x="548639" y="2606039"/>
            <a:ext cx="2298192" cy="1965960"/>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نعرف أين يقع كل درس داخل السياق العام</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1" lang="ar-MA">
                <a:solidFill>
                  <a:srgbClr val="0B2242"/>
                </a:solidFill>
                <a:latin typeface="Cairo"/>
                <a:cs typeface="Cairo"/>
              </a:rPr>
              <a:t>المقدمة:</a:t>
            </a:r>
          </a:p>
          <a:p>
            <a:pPr rtl="1" algn="r">
              <a:buNone/>
              <a:spcAft>
                <a:spcPts val="600"/>
              </a:spcAft>
            </a:pPr>
            <a:r>
              <a:rPr sz="2400" b="0" lang="ar-MA">
                <a:latin typeface="Cairo"/>
                <a:cs typeface="Cairo"/>
              </a:rPr>
              <a:t>أحدثت الثورة الصناعية، التي انطلقت من أوروبا الغربية، تحولات عميقة في وسائل الإنتاج وطرق المواصلات وحركة رؤوس الأموال. وأسهمت هذه التحولات في ترسيخ النظام الرأسمالي، وتوسيع نفوذ القوى الصناعية، واشتداد التنافس الإمبريالي، فترتبت عنها تغيرات اقتصادية واجتماعية وسياسية وفكرية أثرت بعمق في تاريخ العالم خلال القرنين 19 و20م.</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الإشكالية المركزية: ما مظاهر التحولات الكبرى التي عرفها العالم الرأسمالي خلال القرنين 19 و20م؟ وما أهم انعكاساتها على باقي مناطق العالم، وخاصة المشرق العربي والمغرب؟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1</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الأول: الإطار الزمني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محطات كبرى في قرنين</a:t>
            </a:r>
          </a:p>
        </p:txBody>
      </p:sp>
      <p:sp>
        <p:nvSpPr>
          <p:cNvPr id="3" name="Rectangle 2"/>
          <p:cNvSpPr/>
          <p:nvPr/>
        </p:nvSpPr>
        <p:spPr>
          <a:xfrm>
            <a:off x="502920" y="2482596"/>
            <a:ext cx="8138160" cy="64008"/>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391400" y="1234440"/>
            <a:ext cx="1295400" cy="731520"/>
          </a:xfrm>
          <a:prstGeom prst="roundRect">
            <a:avLst>
              <a:gd name="adj" fmla="val 3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9140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ق19م</a:t>
            </a:r>
          </a:p>
        </p:txBody>
      </p:sp>
      <p:sp>
        <p:nvSpPr>
          <p:cNvPr id="6" name="Rectangle 5"/>
          <p:cNvSpPr/>
          <p:nvPr/>
        </p:nvSpPr>
        <p:spPr>
          <a:xfrm>
            <a:off x="8025384" y="1965960"/>
            <a:ext cx="27432" cy="548640"/>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90194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947660" y="2423160"/>
            <a:ext cx="182880" cy="18288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6396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الثورة الصناعية</a:t>
            </a:r>
          </a:p>
        </p:txBody>
      </p:sp>
      <p:sp>
        <p:nvSpPr>
          <p:cNvPr id="10" name="TextBox 9"/>
          <p:cNvSpPr txBox="1"/>
          <p:nvPr/>
        </p:nvSpPr>
        <p:spPr>
          <a:xfrm>
            <a:off x="736396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الآلة والمصنع والنقل الحديث</a:t>
            </a:r>
          </a:p>
        </p:txBody>
      </p:sp>
      <p:sp>
        <p:nvSpPr>
          <p:cNvPr id="11" name="Rounded Rectangle 10"/>
          <p:cNvSpPr/>
          <p:nvPr/>
        </p:nvSpPr>
        <p:spPr>
          <a:xfrm>
            <a:off x="6004560" y="1234440"/>
            <a:ext cx="1295400" cy="731520"/>
          </a:xfrm>
          <a:prstGeom prst="roundRect">
            <a:avLst>
              <a:gd name="adj" fmla="val 3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00456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أواخر ق19م</a:t>
            </a:r>
          </a:p>
        </p:txBody>
      </p:sp>
      <p:sp>
        <p:nvSpPr>
          <p:cNvPr id="13" name="Rectangle 12"/>
          <p:cNvSpPr/>
          <p:nvPr/>
        </p:nvSpPr>
        <p:spPr>
          <a:xfrm>
            <a:off x="6638544" y="1965960"/>
            <a:ext cx="27432" cy="54864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51510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560820" y="2423160"/>
            <a:ext cx="182880" cy="182880"/>
          </a:xfrm>
          <a:prstGeom prst="ellipse">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7712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التوسع الإمبريالي</a:t>
            </a:r>
          </a:p>
        </p:txBody>
      </p:sp>
      <p:sp>
        <p:nvSpPr>
          <p:cNvPr id="17" name="TextBox 16"/>
          <p:cNvSpPr txBox="1"/>
          <p:nvPr/>
        </p:nvSpPr>
        <p:spPr>
          <a:xfrm>
            <a:off x="597712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تقاسم إفريقيا وآسيا</a:t>
            </a:r>
          </a:p>
        </p:txBody>
      </p:sp>
      <p:sp>
        <p:nvSpPr>
          <p:cNvPr id="18" name="Rounded Rectangle 17"/>
          <p:cNvSpPr/>
          <p:nvPr/>
        </p:nvSpPr>
        <p:spPr>
          <a:xfrm>
            <a:off x="4617720" y="1234440"/>
            <a:ext cx="1295400" cy="731520"/>
          </a:xfrm>
          <a:prstGeom prst="roundRect">
            <a:avLst>
              <a:gd name="adj" fmla="val 3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1772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1914–1918</a:t>
            </a:r>
          </a:p>
        </p:txBody>
      </p:sp>
      <p:sp>
        <p:nvSpPr>
          <p:cNvPr id="20" name="Rectangle 19"/>
          <p:cNvSpPr/>
          <p:nvPr/>
        </p:nvSpPr>
        <p:spPr>
          <a:xfrm>
            <a:off x="5251704" y="1965960"/>
            <a:ext cx="27432" cy="548640"/>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12826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5173980" y="2423160"/>
            <a:ext cx="182880" cy="182880"/>
          </a:xfrm>
          <a:prstGeom prst="ellipse">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9028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ح.ع. الأولى</a:t>
            </a:r>
          </a:p>
        </p:txBody>
      </p:sp>
      <p:sp>
        <p:nvSpPr>
          <p:cNvPr id="24" name="TextBox 23"/>
          <p:cNvSpPr txBox="1"/>
          <p:nvPr/>
        </p:nvSpPr>
        <p:spPr>
          <a:xfrm>
            <a:off x="459028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الأحلاف وسباق التسلح</a:t>
            </a:r>
          </a:p>
        </p:txBody>
      </p:sp>
      <p:sp>
        <p:nvSpPr>
          <p:cNvPr id="25" name="Rounded Rectangle 24"/>
          <p:cNvSpPr/>
          <p:nvPr/>
        </p:nvSpPr>
        <p:spPr>
          <a:xfrm>
            <a:off x="3230880" y="1234440"/>
            <a:ext cx="1295400" cy="731520"/>
          </a:xfrm>
          <a:prstGeom prst="roundRect">
            <a:avLst>
              <a:gd name="adj" fmla="val 3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23088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1929</a:t>
            </a:r>
          </a:p>
        </p:txBody>
      </p:sp>
      <p:sp>
        <p:nvSpPr>
          <p:cNvPr id="27" name="Rectangle 26"/>
          <p:cNvSpPr/>
          <p:nvPr/>
        </p:nvSpPr>
        <p:spPr>
          <a:xfrm>
            <a:off x="3864864" y="1965960"/>
            <a:ext cx="27432" cy="548640"/>
          </a:xfrm>
          <a:prstGeom prst="rect">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374142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3787140" y="2423160"/>
            <a:ext cx="182880" cy="182880"/>
          </a:xfrm>
          <a:prstGeom prst="ellipse">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20344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الأزمة الكبرى</a:t>
            </a:r>
          </a:p>
        </p:txBody>
      </p:sp>
      <p:sp>
        <p:nvSpPr>
          <p:cNvPr id="31" name="TextBox 30"/>
          <p:cNvSpPr txBox="1"/>
          <p:nvPr/>
        </p:nvSpPr>
        <p:spPr>
          <a:xfrm>
            <a:off x="320344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انهيار بورصة نيويورك</a:t>
            </a:r>
          </a:p>
        </p:txBody>
      </p:sp>
      <p:sp>
        <p:nvSpPr>
          <p:cNvPr id="32" name="Rounded Rectangle 31"/>
          <p:cNvSpPr/>
          <p:nvPr/>
        </p:nvSpPr>
        <p:spPr>
          <a:xfrm>
            <a:off x="1844039" y="1234440"/>
            <a:ext cx="1295400" cy="731520"/>
          </a:xfrm>
          <a:prstGeom prst="roundRect">
            <a:avLst>
              <a:gd name="adj" fmla="val 3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844039"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1939–1945</a:t>
            </a:r>
          </a:p>
        </p:txBody>
      </p:sp>
      <p:sp>
        <p:nvSpPr>
          <p:cNvPr id="34" name="Rectangle 33"/>
          <p:cNvSpPr/>
          <p:nvPr/>
        </p:nvSpPr>
        <p:spPr>
          <a:xfrm>
            <a:off x="2478023" y="1965960"/>
            <a:ext cx="27432" cy="548640"/>
          </a:xfrm>
          <a:prstGeom prst="rect">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2354579"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2400299" y="2423160"/>
            <a:ext cx="182880" cy="182880"/>
          </a:xfrm>
          <a:prstGeom prst="ellipse">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816607"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ح.ع. الثانية</a:t>
            </a:r>
          </a:p>
        </p:txBody>
      </p:sp>
      <p:sp>
        <p:nvSpPr>
          <p:cNvPr id="38" name="TextBox 37"/>
          <p:cNvSpPr txBox="1"/>
          <p:nvPr/>
        </p:nvSpPr>
        <p:spPr>
          <a:xfrm>
            <a:off x="1816607"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صعود قوتين عظميين</a:t>
            </a:r>
          </a:p>
        </p:txBody>
      </p:sp>
      <p:sp>
        <p:nvSpPr>
          <p:cNvPr id="39" name="Rounded Rectangle 38"/>
          <p:cNvSpPr/>
          <p:nvPr/>
        </p:nvSpPr>
        <p:spPr>
          <a:xfrm>
            <a:off x="457200" y="1234440"/>
            <a:ext cx="1295400" cy="731520"/>
          </a:xfrm>
          <a:prstGeom prst="roundRect">
            <a:avLst>
              <a:gd name="adj" fmla="val 3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5720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1945–1991</a:t>
            </a:r>
          </a:p>
        </p:txBody>
      </p:sp>
      <p:sp>
        <p:nvSpPr>
          <p:cNvPr id="41" name="Rectangle 40"/>
          <p:cNvSpPr/>
          <p:nvPr/>
        </p:nvSpPr>
        <p:spPr>
          <a:xfrm>
            <a:off x="1091184" y="1965960"/>
            <a:ext cx="27432" cy="548640"/>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96774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1013460" y="2423160"/>
            <a:ext cx="182880" cy="1828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2976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القطبية والتحرر</a:t>
            </a:r>
          </a:p>
        </p:txBody>
      </p:sp>
      <p:sp>
        <p:nvSpPr>
          <p:cNvPr id="45" name="TextBox 44"/>
          <p:cNvSpPr txBox="1"/>
          <p:nvPr/>
        </p:nvSpPr>
        <p:spPr>
          <a:xfrm>
            <a:off x="42976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معسكران واستقلال الشعوب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ملاحظة منهجية</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حلقات مترابطة… لا وقائع منفصلة</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التصنيع ← الرأسمالية ← الإمبريالية ← الحروب والأزمات ← حركات التحرر</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1" lang="ar-MA">
                <a:solidFill>
                  <a:srgbClr val="0B2242"/>
                </a:solidFill>
                <a:latin typeface="Cairo"/>
                <a:cs typeface="Cairo"/>
              </a:rPr>
              <a:t>1- الإطار الزمني لموضوع البرنامج</a:t>
            </a:r>
          </a:p>
          <a:p>
            <a:pPr rtl="1" algn="r">
              <a:buNone/>
              <a:spcAft>
                <a:spcPts val="600"/>
              </a:spcAft>
            </a:pPr>
            <a:r>
              <a:rPr sz="2400" b="0" lang="ar-MA">
                <a:latin typeface="Cairo"/>
                <a:cs typeface="Cairo"/>
              </a:rPr>
              <a:t>يمتد موضوع البرنامج عبر القرنين 19 و20م، وهي فترة اتسمت بتسارع الأحداث وترابطها؛ إذ أدى التصنيع إلى نمو الرأسمالية، وأفضى البحث عن المواد الأولية والأسواق إلى التوسع الإمبريالي، ثم تحولت المنافسة بين القوى الكبرى إلى صراعات وحروب عالمية، قبل أن يشهد العالم موجة واسعة من حركات التحرر والاستقلال.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1- الإطار الزمني لموضوع البرنامج</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1865376"/>
                <a:gridCol w="2020824"/>
                <a:gridCol w="3886200"/>
              </a:tblGrid>
              <a:tr h="457200">
                <a:tc>
                  <a:txBody>
                    <a:bodyPr/>
                    <a:lstStyle/>
                    <a:p>
                      <a:pPr rtl="1" algn="ctr"/>
                      <a:r>
                        <a:rPr sz="1800" b="1" lang="ar-MA">
                          <a:solidFill>
                            <a:srgbClr val="FFFFFF"/>
                          </a:solidFill>
                          <a:latin typeface="Cairo"/>
                          <a:cs typeface="Cairo"/>
                        </a:rPr>
                        <a:t>الفترة</a:t>
                      </a:r>
                    </a:p>
                  </a:txBody>
                  <a:tcPr>
                    <a:solidFill>
                      <a:srgbClr val="0B2242"/>
                    </a:solidFill>
                  </a:tcPr>
                </a:tc>
                <a:tc>
                  <a:txBody>
                    <a:bodyPr/>
                    <a:lstStyle/>
                    <a:p>
                      <a:pPr rtl="1" algn="ctr"/>
                      <a:r>
                        <a:rPr sz="1800" b="1" lang="ar-MA">
                          <a:solidFill>
                            <a:srgbClr val="FFFFFF"/>
                          </a:solidFill>
                          <a:latin typeface="Cairo"/>
                          <a:cs typeface="Cairo"/>
                        </a:rPr>
                        <a:t>الحدث أو التحول</a:t>
                      </a:r>
                    </a:p>
                  </a:txBody>
                  <a:tcPr>
                    <a:solidFill>
                      <a:srgbClr val="0B2242"/>
                    </a:solidFill>
                  </a:tcPr>
                </a:tc>
                <a:tc>
                  <a:txBody>
                    <a:bodyPr/>
                    <a:lstStyle/>
                    <a:p>
                      <a:pPr rtl="1" algn="ctr"/>
                      <a:r>
                        <a:rPr sz="1800" b="1" lang="ar-MA">
                          <a:solidFill>
                            <a:srgbClr val="FFFFFF"/>
                          </a:solidFill>
                          <a:latin typeface="Cairo"/>
                          <a:cs typeface="Cairo"/>
                        </a:rPr>
                        <a:t>الدلالة التاريخية</a:t>
                      </a:r>
                    </a:p>
                  </a:txBody>
                  <a:tcPr>
                    <a:solidFill>
                      <a:srgbClr val="0B2242"/>
                    </a:solidFill>
                  </a:tcPr>
                </a:tc>
              </a:tr>
              <a:tr h="457200">
                <a:tc>
                  <a:txBody>
                    <a:bodyPr/>
                    <a:lstStyle/>
                    <a:p>
                      <a:pPr rtl="1" algn="r"/>
                      <a:r>
                        <a:rPr sz="1800" b="1" lang="ar-MA">
                          <a:solidFill>
                            <a:srgbClr val="0B2242"/>
                          </a:solidFill>
                          <a:latin typeface="Cairo"/>
                          <a:cs typeface="Cairo"/>
                        </a:rPr>
                        <a:t>القرن 19م</a:t>
                      </a:r>
                    </a:p>
                  </a:txBody>
                  <a:tcPr anchor="ctr">
                    <a:solidFill>
                      <a:srgbClr val="FFFDF6"/>
                    </a:solidFill>
                  </a:tcPr>
                </a:tc>
                <a:tc>
                  <a:txBody>
                    <a:bodyPr/>
                    <a:lstStyle/>
                    <a:p>
                      <a:pPr rtl="1" algn="r"/>
                      <a:r>
                        <a:rPr sz="1800" b="0" lang="ar-MA">
                          <a:solidFill>
                            <a:srgbClr val="222222"/>
                          </a:solidFill>
                          <a:latin typeface="Cairo"/>
                          <a:cs typeface="Cairo"/>
                        </a:rPr>
                        <a:t>الثورة الصناعية</a:t>
                      </a:r>
                    </a:p>
                  </a:txBody>
                  <a:tcPr anchor="ctr">
                    <a:solidFill>
                      <a:srgbClr val="FFFDF6"/>
                    </a:solidFill>
                  </a:tcPr>
                </a:tc>
                <a:tc>
                  <a:txBody>
                    <a:bodyPr/>
                    <a:lstStyle/>
                    <a:p>
                      <a:pPr rtl="1" algn="r"/>
                      <a:r>
                        <a:rPr sz="1800" b="0" lang="ar-MA">
                          <a:solidFill>
                            <a:srgbClr val="222222"/>
                          </a:solidFill>
                          <a:latin typeface="Cairo"/>
                          <a:cs typeface="Cairo"/>
                        </a:rPr>
                        <a:t>تحول وسائل الإنتاج، ونمو المصانع، وتطور النقل والمواصلات، واتساع حركة رؤوس الأموال.</a:t>
                      </a:r>
                    </a:p>
                  </a:txBody>
                  <a:tcPr anchor="ctr">
                    <a:solidFill>
                      <a:srgbClr val="FFFDF6"/>
                    </a:solidFill>
                  </a:tcPr>
                </a:tc>
              </a:tr>
              <a:tr h="457200">
                <a:tc>
                  <a:txBody>
                    <a:bodyPr/>
                    <a:lstStyle/>
                    <a:p>
                      <a:pPr rtl="1" algn="r"/>
                      <a:r>
                        <a:rPr sz="1800" b="1" lang="ar-MA">
                          <a:solidFill>
                            <a:srgbClr val="0B2242"/>
                          </a:solidFill>
                          <a:latin typeface="Cairo"/>
                          <a:cs typeface="Cairo"/>
                        </a:rPr>
                        <a:t>أواخر القرن 19م</a:t>
                      </a:r>
                    </a:p>
                  </a:txBody>
                  <a:tcPr anchor="ctr">
                    <a:solidFill>
                      <a:srgbClr val="F6EED8"/>
                    </a:solidFill>
                  </a:tcPr>
                </a:tc>
                <a:tc>
                  <a:txBody>
                    <a:bodyPr/>
                    <a:lstStyle/>
                    <a:p>
                      <a:pPr rtl="1" algn="r"/>
                      <a:r>
                        <a:rPr sz="1800" b="0" lang="ar-MA">
                          <a:solidFill>
                            <a:srgbClr val="222222"/>
                          </a:solidFill>
                          <a:latin typeface="Cairo"/>
                          <a:cs typeface="Cairo"/>
                        </a:rPr>
                        <a:t>التوسع الإمبريالي</a:t>
                      </a:r>
                    </a:p>
                  </a:txBody>
                  <a:tcPr anchor="ctr">
                    <a:solidFill>
                      <a:srgbClr val="F6EED8"/>
                    </a:solidFill>
                  </a:tcPr>
                </a:tc>
                <a:tc>
                  <a:txBody>
                    <a:bodyPr/>
                    <a:lstStyle/>
                    <a:p>
                      <a:pPr rtl="1" algn="r"/>
                      <a:r>
                        <a:rPr sz="1800" b="0" lang="ar-MA">
                          <a:solidFill>
                            <a:srgbClr val="222222"/>
                          </a:solidFill>
                          <a:latin typeface="Cairo"/>
                          <a:cs typeface="Cairo"/>
                        </a:rPr>
                        <a:t>اشتداد التنافس بين القوى الصناعية للسيطرة على المواد الأولية والأسواق ومجالات الاستثمار.</a:t>
                      </a:r>
                    </a:p>
                  </a:txBody>
                  <a:tcPr anchor="ctr">
                    <a:solidFill>
                      <a:srgbClr val="F6EED8"/>
                    </a:solidFill>
                  </a:tcPr>
                </a:tc>
              </a:tr>
              <a:tr h="457200">
                <a:tc>
                  <a:txBody>
                    <a:bodyPr/>
                    <a:lstStyle/>
                    <a:p>
                      <a:pPr rtl="1" algn="r"/>
                      <a:r>
                        <a:rPr sz="1800" b="1" lang="ar-MA">
                          <a:solidFill>
                            <a:srgbClr val="0B2242"/>
                          </a:solidFill>
                          <a:latin typeface="Cairo"/>
                          <a:cs typeface="Cairo"/>
                        </a:rPr>
                        <a:t>1914م - 1918م</a:t>
                      </a:r>
                    </a:p>
                  </a:txBody>
                  <a:tcPr anchor="ctr">
                    <a:solidFill>
                      <a:srgbClr val="FFFDF6"/>
                    </a:solidFill>
                  </a:tcPr>
                </a:tc>
                <a:tc>
                  <a:txBody>
                    <a:bodyPr/>
                    <a:lstStyle/>
                    <a:p>
                      <a:pPr rtl="1" algn="r"/>
                      <a:r>
                        <a:rPr sz="1800" b="0" lang="ar-MA">
                          <a:solidFill>
                            <a:srgbClr val="222222"/>
                          </a:solidFill>
                          <a:latin typeface="Cairo"/>
                          <a:cs typeface="Cairo"/>
                        </a:rPr>
                        <a:t>الحرب العالمية الأولى</a:t>
                      </a:r>
                    </a:p>
                  </a:txBody>
                  <a:tcPr anchor="ctr">
                    <a:solidFill>
                      <a:srgbClr val="FFFDF6"/>
                    </a:solidFill>
                  </a:tcPr>
                </a:tc>
                <a:tc>
                  <a:txBody>
                    <a:bodyPr/>
                    <a:lstStyle/>
                    <a:p>
                      <a:pPr rtl="1" algn="r"/>
                      <a:r>
                        <a:rPr sz="1800" b="0" lang="ar-MA">
                          <a:solidFill>
                            <a:srgbClr val="222222"/>
                          </a:solidFill>
                          <a:latin typeface="Cairo"/>
                          <a:cs typeface="Cairo"/>
                        </a:rPr>
                        <a:t>انفجار التنافس الإمبريالي وسياسة التحالفات وسباق التسلح في صراع عالمي مدمر.</a:t>
                      </a:r>
                    </a:p>
                  </a:txBody>
                  <a:tcPr anchor="ctr">
                    <a:solidFill>
                      <a:srgbClr val="FFFDF6"/>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1- الإطار الزمني لموضوع البرنامج (تابع)</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1865376"/>
                <a:gridCol w="2020824"/>
                <a:gridCol w="3886200"/>
              </a:tblGrid>
              <a:tr h="457200">
                <a:tc>
                  <a:txBody>
                    <a:bodyPr/>
                    <a:lstStyle/>
                    <a:p>
                      <a:pPr rtl="1" algn="ctr"/>
                      <a:r>
                        <a:rPr sz="1800" b="1" lang="ar-MA">
                          <a:solidFill>
                            <a:srgbClr val="FFFFFF"/>
                          </a:solidFill>
                          <a:latin typeface="Cairo"/>
                          <a:cs typeface="Cairo"/>
                        </a:rPr>
                        <a:t>الفترة</a:t>
                      </a:r>
                    </a:p>
                  </a:txBody>
                  <a:tcPr>
                    <a:solidFill>
                      <a:srgbClr val="0B2242"/>
                    </a:solidFill>
                  </a:tcPr>
                </a:tc>
                <a:tc>
                  <a:txBody>
                    <a:bodyPr/>
                    <a:lstStyle/>
                    <a:p>
                      <a:pPr rtl="1" algn="ctr"/>
                      <a:r>
                        <a:rPr sz="1800" b="1" lang="ar-MA">
                          <a:solidFill>
                            <a:srgbClr val="FFFFFF"/>
                          </a:solidFill>
                          <a:latin typeface="Cairo"/>
                          <a:cs typeface="Cairo"/>
                        </a:rPr>
                        <a:t>الحدث أو التحول</a:t>
                      </a:r>
                    </a:p>
                  </a:txBody>
                  <a:tcPr>
                    <a:solidFill>
                      <a:srgbClr val="0B2242"/>
                    </a:solidFill>
                  </a:tcPr>
                </a:tc>
                <a:tc>
                  <a:txBody>
                    <a:bodyPr/>
                    <a:lstStyle/>
                    <a:p>
                      <a:pPr rtl="1" algn="ctr"/>
                      <a:r>
                        <a:rPr sz="1800" b="1" lang="ar-MA">
                          <a:solidFill>
                            <a:srgbClr val="FFFFFF"/>
                          </a:solidFill>
                          <a:latin typeface="Cairo"/>
                          <a:cs typeface="Cairo"/>
                        </a:rPr>
                        <a:t>الدلالة التاريخية</a:t>
                      </a:r>
                    </a:p>
                  </a:txBody>
                  <a:tcPr>
                    <a:solidFill>
                      <a:srgbClr val="0B2242"/>
                    </a:solidFill>
                  </a:tcPr>
                </a:tc>
              </a:tr>
              <a:tr h="457200">
                <a:tc>
                  <a:txBody>
                    <a:bodyPr/>
                    <a:lstStyle/>
                    <a:p>
                      <a:pPr rtl="1" algn="r"/>
                      <a:r>
                        <a:rPr sz="1800" b="1" lang="ar-MA">
                          <a:solidFill>
                            <a:srgbClr val="0B2242"/>
                          </a:solidFill>
                          <a:latin typeface="Cairo"/>
                          <a:cs typeface="Cairo"/>
                        </a:rPr>
                        <a:t>1929م</a:t>
                      </a:r>
                    </a:p>
                  </a:txBody>
                  <a:tcPr anchor="ctr">
                    <a:solidFill>
                      <a:srgbClr val="FFFDF6"/>
                    </a:solidFill>
                  </a:tcPr>
                </a:tc>
                <a:tc>
                  <a:txBody>
                    <a:bodyPr/>
                    <a:lstStyle/>
                    <a:p>
                      <a:pPr rtl="1" algn="r"/>
                      <a:r>
                        <a:rPr sz="1800" b="0" lang="ar-MA">
                          <a:solidFill>
                            <a:srgbClr val="222222"/>
                          </a:solidFill>
                          <a:latin typeface="Cairo"/>
                          <a:cs typeface="Cairo"/>
                        </a:rPr>
                        <a:t>الأزمة الاقتصادية العالمية</a:t>
                      </a:r>
                    </a:p>
                  </a:txBody>
                  <a:tcPr anchor="ctr">
                    <a:solidFill>
                      <a:srgbClr val="FFFDF6"/>
                    </a:solidFill>
                  </a:tcPr>
                </a:tc>
                <a:tc>
                  <a:txBody>
                    <a:bodyPr/>
                    <a:lstStyle/>
                    <a:p>
                      <a:pPr rtl="1" algn="r"/>
                      <a:r>
                        <a:rPr sz="1800" b="0" lang="ar-MA">
                          <a:solidFill>
                            <a:srgbClr val="222222"/>
                          </a:solidFill>
                          <a:latin typeface="Cairo"/>
                          <a:cs typeface="Cairo"/>
                        </a:rPr>
                        <a:t>انهيار مالي واقتصادي أضعف الدول الرأسمالية وعمق التوترات الاجتماعية والسياسية.</a:t>
                      </a:r>
                    </a:p>
                  </a:txBody>
                  <a:tcPr anchor="ctr">
                    <a:solidFill>
                      <a:srgbClr val="FFFDF6"/>
                    </a:solidFill>
                  </a:tcPr>
                </a:tc>
              </a:tr>
              <a:tr h="457200">
                <a:tc>
                  <a:txBody>
                    <a:bodyPr/>
                    <a:lstStyle/>
                    <a:p>
                      <a:pPr rtl="1" algn="r"/>
                      <a:r>
                        <a:rPr sz="1800" b="1" lang="ar-MA">
                          <a:solidFill>
                            <a:srgbClr val="0B2242"/>
                          </a:solidFill>
                          <a:latin typeface="Cairo"/>
                          <a:cs typeface="Cairo"/>
                        </a:rPr>
                        <a:t>1939م - 1945م</a:t>
                      </a:r>
                    </a:p>
                  </a:txBody>
                  <a:tcPr anchor="ctr">
                    <a:solidFill>
                      <a:srgbClr val="F6EED8"/>
                    </a:solidFill>
                  </a:tcPr>
                </a:tc>
                <a:tc>
                  <a:txBody>
                    <a:bodyPr/>
                    <a:lstStyle/>
                    <a:p>
                      <a:pPr rtl="1" algn="r"/>
                      <a:r>
                        <a:rPr sz="1800" b="0" lang="ar-MA">
                          <a:solidFill>
                            <a:srgbClr val="222222"/>
                          </a:solidFill>
                          <a:latin typeface="Cairo"/>
                          <a:cs typeface="Cairo"/>
                        </a:rPr>
                        <a:t>الحرب العالمية الثانية</a:t>
                      </a:r>
                    </a:p>
                  </a:txBody>
                  <a:tcPr anchor="ctr">
                    <a:solidFill>
                      <a:srgbClr val="F6EED8"/>
                    </a:solidFill>
                  </a:tcPr>
                </a:tc>
                <a:tc>
                  <a:txBody>
                    <a:bodyPr/>
                    <a:lstStyle/>
                    <a:p>
                      <a:pPr rtl="1" algn="r"/>
                      <a:r>
                        <a:rPr sz="1800" b="0" lang="ar-MA">
                          <a:solidFill>
                            <a:srgbClr val="222222"/>
                          </a:solidFill>
                          <a:latin typeface="Cairo"/>
                          <a:cs typeface="Cairo"/>
                        </a:rPr>
                        <a:t>إعادة رسم موازين القوى وصعود الولايات المتحدة والاتحاد السوفياتي.</a:t>
                      </a:r>
                    </a:p>
                  </a:txBody>
                  <a:tcPr anchor="ctr">
                    <a:solidFill>
                      <a:srgbClr val="F6EED8"/>
                    </a:solidFill>
                  </a:tcPr>
                </a:tc>
              </a:tr>
              <a:tr h="457200">
                <a:tc>
                  <a:txBody>
                    <a:bodyPr/>
                    <a:lstStyle/>
                    <a:p>
                      <a:pPr rtl="1" algn="r"/>
                      <a:r>
                        <a:rPr sz="1800" b="1" lang="ar-MA">
                          <a:solidFill>
                            <a:srgbClr val="0B2242"/>
                          </a:solidFill>
                          <a:latin typeface="Cairo"/>
                          <a:cs typeface="Cairo"/>
                        </a:rPr>
                        <a:t>1945م - 1991م</a:t>
                      </a:r>
                    </a:p>
                  </a:txBody>
                  <a:tcPr anchor="ctr">
                    <a:solidFill>
                      <a:srgbClr val="FFFDF6"/>
                    </a:solidFill>
                  </a:tcPr>
                </a:tc>
                <a:tc>
                  <a:txBody>
                    <a:bodyPr/>
                    <a:lstStyle/>
                    <a:p>
                      <a:pPr rtl="1" algn="r"/>
                      <a:r>
                        <a:rPr sz="1800" b="0" lang="ar-MA">
                          <a:solidFill>
                            <a:srgbClr val="222222"/>
                          </a:solidFill>
                          <a:latin typeface="Cairo"/>
                          <a:cs typeface="Cairo"/>
                        </a:rPr>
                        <a:t>الثنائية القطبية وحركات التحرر</a:t>
                      </a:r>
                    </a:p>
                  </a:txBody>
                  <a:tcPr anchor="ctr">
                    <a:solidFill>
                      <a:srgbClr val="FFFDF6"/>
                    </a:solidFill>
                  </a:tcPr>
                </a:tc>
                <a:tc>
                  <a:txBody>
                    <a:bodyPr/>
                    <a:lstStyle/>
                    <a:p>
                      <a:pPr rtl="1" algn="r"/>
                      <a:r>
                        <a:rPr sz="1800" b="0" lang="ar-MA">
                          <a:solidFill>
                            <a:srgbClr val="222222"/>
                          </a:solidFill>
                          <a:latin typeface="Cairo"/>
                          <a:cs typeface="Cairo"/>
                        </a:rPr>
                        <a:t>انقسام العالم إلى معسكرين، وتنامي نضال الشعوب من أجل الاستقلال وبناء الدولة الوطنية.</a:t>
                      </a:r>
                    </a:p>
                  </a:txBody>
                  <a:tcPr anchor="ctr">
                    <a:solidFill>
                      <a:srgbClr val="FFFDF6"/>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ملاحظة منهجية: لا ينبغي النظر إلى هذه الأحداث باعتبارها وقائع منفصلة، بل حلقات مترابطة: التصنيع قوّى الرأسمالية، والرأسمالية غذّت الإمبريالية، والتنافس الإمبريالي مهّد للحروب والأزمات، ثم ولّد مقاومات وحركات تحرر.</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2</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الثاني: الإطار المكاني</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من يصنع التحولات؟ ومن يتأثر بها؟</a:t>
            </a:r>
          </a:p>
        </p:txBody>
      </p:sp>
      <p:sp>
        <p:nvSpPr>
          <p:cNvPr id="3" name="Rounded Rectangle 2"/>
          <p:cNvSpPr/>
          <p:nvPr/>
        </p:nvSpPr>
        <p:spPr>
          <a:xfrm>
            <a:off x="6068568" y="1097280"/>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622792" y="1097280"/>
            <a:ext cx="109728" cy="1677923"/>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05728" y="1170432"/>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1F6F78"/>
                </a:solidFill>
                <a:latin typeface="Cairo"/>
                <a:cs typeface="Cairo"/>
              </a:rPr>
              <a:t>أوروبا الغربية</a:t>
            </a:r>
          </a:p>
        </p:txBody>
      </p:sp>
      <p:sp>
        <p:nvSpPr>
          <p:cNvPr id="6" name="TextBox 5"/>
          <p:cNvSpPr txBox="1"/>
          <p:nvPr/>
        </p:nvSpPr>
        <p:spPr>
          <a:xfrm>
            <a:off x="6205728" y="16459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المركز</a:t>
            </a:r>
          </a:p>
        </p:txBody>
      </p:sp>
      <p:sp>
        <p:nvSpPr>
          <p:cNvPr id="7" name="TextBox 6"/>
          <p:cNvSpPr txBox="1"/>
          <p:nvPr/>
        </p:nvSpPr>
        <p:spPr>
          <a:xfrm>
            <a:off x="6205728" y="2002536"/>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مهد الثورة الصناعية ومنطلق الإمبريالية</a:t>
            </a:r>
          </a:p>
        </p:txBody>
      </p:sp>
      <p:sp>
        <p:nvSpPr>
          <p:cNvPr id="8" name="Rounded Rectangle 7"/>
          <p:cNvSpPr/>
          <p:nvPr/>
        </p:nvSpPr>
        <p:spPr>
          <a:xfrm>
            <a:off x="3240023" y="1097280"/>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794248" y="1097280"/>
            <a:ext cx="109728" cy="1677923"/>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77183" y="1170432"/>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8C2F39"/>
                </a:solidFill>
                <a:latin typeface="Cairo"/>
                <a:cs typeface="Cairo"/>
              </a:rPr>
              <a:t>الولايات المتحدة</a:t>
            </a:r>
          </a:p>
        </p:txBody>
      </p:sp>
      <p:sp>
        <p:nvSpPr>
          <p:cNvPr id="11" name="TextBox 10"/>
          <p:cNvSpPr txBox="1"/>
          <p:nvPr/>
        </p:nvSpPr>
        <p:spPr>
          <a:xfrm>
            <a:off x="3377183" y="16459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قوة صاعدة</a:t>
            </a:r>
          </a:p>
        </p:txBody>
      </p:sp>
      <p:sp>
        <p:nvSpPr>
          <p:cNvPr id="12" name="TextBox 11"/>
          <p:cNvSpPr txBox="1"/>
          <p:nvPr/>
        </p:nvSpPr>
        <p:spPr>
          <a:xfrm>
            <a:off x="3377183" y="2002536"/>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زعيمة المعسكر الغربي بعد 1945</a:t>
            </a:r>
          </a:p>
        </p:txBody>
      </p:sp>
      <p:sp>
        <p:nvSpPr>
          <p:cNvPr id="13" name="Rounded Rectangle 12"/>
          <p:cNvSpPr/>
          <p:nvPr/>
        </p:nvSpPr>
        <p:spPr>
          <a:xfrm>
            <a:off x="411479" y="1097280"/>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965703" y="1097280"/>
            <a:ext cx="109728" cy="1677923"/>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39" y="1170432"/>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4F7A3A"/>
                </a:solidFill>
                <a:latin typeface="Cairo"/>
                <a:cs typeface="Cairo"/>
              </a:rPr>
              <a:t>اليابان</a:t>
            </a:r>
          </a:p>
        </p:txBody>
      </p:sp>
      <p:sp>
        <p:nvSpPr>
          <p:cNvPr id="16" name="TextBox 15"/>
          <p:cNvSpPr txBox="1"/>
          <p:nvPr/>
        </p:nvSpPr>
        <p:spPr>
          <a:xfrm>
            <a:off x="548639" y="16459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قوة صاعدة</a:t>
            </a:r>
          </a:p>
        </p:txBody>
      </p:sp>
      <p:sp>
        <p:nvSpPr>
          <p:cNvPr id="17" name="TextBox 16"/>
          <p:cNvSpPr txBox="1"/>
          <p:nvPr/>
        </p:nvSpPr>
        <p:spPr>
          <a:xfrm>
            <a:off x="548639" y="2002536"/>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تحديث «الميجي» ثم التوسع في آسيا</a:t>
            </a:r>
          </a:p>
        </p:txBody>
      </p:sp>
      <p:sp>
        <p:nvSpPr>
          <p:cNvPr id="18" name="Rounded Rectangle 17"/>
          <p:cNvSpPr/>
          <p:nvPr/>
        </p:nvSpPr>
        <p:spPr>
          <a:xfrm>
            <a:off x="6068568" y="2939796"/>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622792" y="2939796"/>
            <a:ext cx="109728" cy="1677923"/>
          </a:xfrm>
          <a:prstGeom prst="rect">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205728" y="3012948"/>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B06A1E"/>
                </a:solidFill>
                <a:latin typeface="Cairo"/>
                <a:cs typeface="Cairo"/>
              </a:rPr>
              <a:t>إفريقيا وآسيا</a:t>
            </a:r>
          </a:p>
        </p:txBody>
      </p:sp>
      <p:sp>
        <p:nvSpPr>
          <p:cNvPr id="21" name="TextBox 20"/>
          <p:cNvSpPr txBox="1"/>
          <p:nvPr/>
        </p:nvSpPr>
        <p:spPr>
          <a:xfrm>
            <a:off x="6205728" y="3488436"/>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الأطراف</a:t>
            </a:r>
          </a:p>
        </p:txBody>
      </p:sp>
      <p:sp>
        <p:nvSpPr>
          <p:cNvPr id="22" name="TextBox 21"/>
          <p:cNvSpPr txBox="1"/>
          <p:nvPr/>
        </p:nvSpPr>
        <p:spPr>
          <a:xfrm>
            <a:off x="6205728" y="3845052"/>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استعمار مباشر؛ وأمريكا اللاتينية: تبعية</a:t>
            </a:r>
          </a:p>
        </p:txBody>
      </p:sp>
      <p:sp>
        <p:nvSpPr>
          <p:cNvPr id="23" name="Rounded Rectangle 22"/>
          <p:cNvSpPr/>
          <p:nvPr/>
        </p:nvSpPr>
        <p:spPr>
          <a:xfrm>
            <a:off x="3240023" y="2939796"/>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794248" y="2939796"/>
            <a:ext cx="109728" cy="1677923"/>
          </a:xfrm>
          <a:prstGeom prst="rect">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377183" y="3012948"/>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4A4F8C"/>
                </a:solidFill>
                <a:latin typeface="Cairo"/>
                <a:cs typeface="Cairo"/>
              </a:rPr>
              <a:t>المشرق العربي</a:t>
            </a:r>
          </a:p>
        </p:txBody>
      </p:sp>
      <p:sp>
        <p:nvSpPr>
          <p:cNvPr id="26" name="TextBox 25"/>
          <p:cNvSpPr txBox="1"/>
          <p:nvPr/>
        </p:nvSpPr>
        <p:spPr>
          <a:xfrm>
            <a:off x="3377183" y="3488436"/>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نهضة ومقاومة</a:t>
            </a:r>
          </a:p>
        </p:txBody>
      </p:sp>
      <p:sp>
        <p:nvSpPr>
          <p:cNvPr id="27" name="TextBox 26"/>
          <p:cNvSpPr txBox="1"/>
          <p:nvPr/>
        </p:nvSpPr>
        <p:spPr>
          <a:xfrm>
            <a:off x="3377183" y="3845052"/>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يقظة فكرية ثم نضال من أجل التحرر</a:t>
            </a:r>
          </a:p>
        </p:txBody>
      </p:sp>
      <p:sp>
        <p:nvSpPr>
          <p:cNvPr id="28" name="Rounded Rectangle 27"/>
          <p:cNvSpPr/>
          <p:nvPr/>
        </p:nvSpPr>
        <p:spPr>
          <a:xfrm>
            <a:off x="411479" y="2939796"/>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2965703" y="2939796"/>
            <a:ext cx="109728" cy="1677923"/>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48639" y="3012948"/>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0B2242"/>
                </a:solidFill>
                <a:latin typeface="Cairo"/>
                <a:cs typeface="Cairo"/>
              </a:rPr>
              <a:t>المغرب</a:t>
            </a:r>
          </a:p>
        </p:txBody>
      </p:sp>
      <p:sp>
        <p:nvSpPr>
          <p:cNvPr id="31" name="TextBox 30"/>
          <p:cNvSpPr txBox="1"/>
          <p:nvPr/>
        </p:nvSpPr>
        <p:spPr>
          <a:xfrm>
            <a:off x="548639" y="3488436"/>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إصلاح ومقاومة</a:t>
            </a:r>
          </a:p>
        </p:txBody>
      </p:sp>
      <p:sp>
        <p:nvSpPr>
          <p:cNvPr id="32" name="TextBox 31"/>
          <p:cNvSpPr txBox="1"/>
          <p:nvPr/>
        </p:nvSpPr>
        <p:spPr>
          <a:xfrm>
            <a:off x="548639" y="3845052"/>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حماية 1912 ← استقلال 1956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2- الإطار المكاني لموضوع البرنامج</a:t>
            </a:r>
          </a:p>
          <a:p>
            <a:pPr rtl="1" algn="r">
              <a:buNone/>
              <a:spcAft>
                <a:spcPts val="600"/>
              </a:spcAft>
            </a:pPr>
            <a:r>
              <a:rPr sz="2600" b="0" lang="ar-MA">
                <a:latin typeface="Cairo"/>
                <a:cs typeface="Cairo"/>
              </a:rPr>
              <a:t>• أوروبا الغربية: المركز الأول للثورة الصناعية والرأسمالية، ومنها انطلقت الحركة الإمبريالية واندلعت الحربان العالميتان.</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0" lang="ar-MA">
                <a:latin typeface="Cairo"/>
                <a:cs typeface="Cairo"/>
              </a:rPr>
              <a:t>• الولايات المتحدة الأمريكية: تطورت إلى قوة رأسمالية كبرى، وأسهمت في انتصار الحلفاء، ثم أصبحت زعيمة المعسكر الغربي بعد الحرب العالمية الثانية.</a:t>
            </a:r>
          </a:p>
          <a:p>
            <a:pPr rtl="1" algn="r">
              <a:buNone/>
              <a:spcAft>
                <a:spcPts val="600"/>
              </a:spcAft>
            </a:pPr>
            <a:r>
              <a:rPr sz="2400" b="0" lang="ar-MA">
                <a:latin typeface="Cairo"/>
                <a:cs typeface="Cairo"/>
              </a:rPr>
              <a:t>• اليابان: نجحت في التحديث والإصلاح، وتحولت إلى قوة صناعية وتوسعية ساهمت في أحداث الحرب العالمية الثانية.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0" lang="ar-MA">
                <a:latin typeface="Cairo"/>
                <a:cs typeface="Cairo"/>
              </a:rPr>
              <a:t>• إفريقيا وآسيا وأمريكا اللاتينية: خضعت مناطق واسعة من إفريقيا وآسيا للاستعمار المباشر، بينما عانت بلدان أمريكا اللاتينية من أشكال التبعية الاقتصادية والسياسية.</a:t>
            </a:r>
          </a:p>
          <a:p>
            <a:pPr rtl="1" algn="r">
              <a:buNone/>
              <a:spcAft>
                <a:spcPts val="600"/>
              </a:spcAft>
            </a:pPr>
            <a:r>
              <a:rPr sz="2400" b="0" lang="ar-MA">
                <a:latin typeface="Cairo"/>
                <a:cs typeface="Cairo"/>
              </a:rPr>
              <a:t>• المشرق العربي: عرف يقظة فكرية ونهضة إصلاحية، ثم واجه الهيمنة الاستعمارية وسعى إلى التحرر وبناء الدولة الوطنية.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المغرب: واجه الضغوط الاستعمارية بمحاولات إصلاح، ثم فرضت عليه الحماية، قبل أن يخوض المقاومة المسلحة والعمل الوطني وينال الاستقلال سنة 1956م، ويواصل استكمال وحدته الترابية.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3</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الثالث: طبيعة التحولات</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أربع خصائص للتحولات</a:t>
            </a:r>
          </a:p>
        </p:txBody>
      </p:sp>
      <p:sp>
        <p:nvSpPr>
          <p:cNvPr id="3" name="Rounded Rectangle 2"/>
          <p:cNvSpPr/>
          <p:nvPr/>
        </p:nvSpPr>
        <p:spPr>
          <a:xfrm>
            <a:off x="4663440" y="1097280"/>
            <a:ext cx="4069080" cy="1668779"/>
          </a:xfrm>
          <a:prstGeom prst="roundRect">
            <a:avLst>
              <a:gd name="adj" fmla="val 12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069580"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1F6F78"/>
                </a:solidFill>
                <a:latin typeface="Cairo"/>
                <a:cs typeface="Cairo"/>
              </a:rPr>
              <a:t>1</a:t>
            </a:r>
          </a:p>
        </p:txBody>
      </p:sp>
      <p:sp>
        <p:nvSpPr>
          <p:cNvPr id="5" name="TextBox 4"/>
          <p:cNvSpPr txBox="1"/>
          <p:nvPr/>
        </p:nvSpPr>
        <p:spPr>
          <a:xfrm>
            <a:off x="4846320" y="123443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شمولية</a:t>
            </a:r>
          </a:p>
        </p:txBody>
      </p:sp>
      <p:sp>
        <p:nvSpPr>
          <p:cNvPr id="6" name="TextBox 5"/>
          <p:cNvSpPr txBox="1"/>
          <p:nvPr/>
        </p:nvSpPr>
        <p:spPr>
          <a:xfrm>
            <a:off x="4846320"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الاقتصاد والمجتمع والسياسة والفكر</a:t>
            </a:r>
          </a:p>
        </p:txBody>
      </p:sp>
      <p:sp>
        <p:nvSpPr>
          <p:cNvPr id="7" name="Rounded Rectangle 6"/>
          <p:cNvSpPr/>
          <p:nvPr/>
        </p:nvSpPr>
        <p:spPr>
          <a:xfrm>
            <a:off x="411479" y="1097280"/>
            <a:ext cx="4069080" cy="1668779"/>
          </a:xfrm>
          <a:prstGeom prst="roundRect">
            <a:avLst>
              <a:gd name="adj" fmla="val 12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3817619"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8C2F39"/>
                </a:solidFill>
                <a:latin typeface="Cairo"/>
                <a:cs typeface="Cairo"/>
              </a:rPr>
              <a:t>2</a:t>
            </a:r>
          </a:p>
        </p:txBody>
      </p:sp>
      <p:sp>
        <p:nvSpPr>
          <p:cNvPr id="9" name="TextBox 8"/>
          <p:cNvSpPr txBox="1"/>
          <p:nvPr/>
        </p:nvSpPr>
        <p:spPr>
          <a:xfrm>
            <a:off x="594359" y="123443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مترابطة</a:t>
            </a:r>
          </a:p>
        </p:txBody>
      </p:sp>
      <p:sp>
        <p:nvSpPr>
          <p:cNvPr id="10" name="TextBox 9"/>
          <p:cNvSpPr txBox="1"/>
          <p:nvPr/>
        </p:nvSpPr>
        <p:spPr>
          <a:xfrm>
            <a:off x="594359"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كل تحول يقود إلى الذي بعده</a:t>
            </a:r>
          </a:p>
        </p:txBody>
      </p:sp>
      <p:sp>
        <p:nvSpPr>
          <p:cNvPr id="11" name="Rounded Rectangle 10"/>
          <p:cNvSpPr/>
          <p:nvPr/>
        </p:nvSpPr>
        <p:spPr>
          <a:xfrm>
            <a:off x="4663440" y="2948939"/>
            <a:ext cx="4069080" cy="1668779"/>
          </a:xfrm>
          <a:prstGeom prst="roundRect">
            <a:avLst>
              <a:gd name="adj" fmla="val 12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069580"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4F7A3A"/>
                </a:solidFill>
                <a:latin typeface="Cairo"/>
                <a:cs typeface="Cairo"/>
              </a:rPr>
              <a:t>3</a:t>
            </a:r>
          </a:p>
        </p:txBody>
      </p:sp>
      <p:sp>
        <p:nvSpPr>
          <p:cNvPr id="13" name="TextBox 12"/>
          <p:cNvSpPr txBox="1"/>
          <p:nvPr/>
        </p:nvSpPr>
        <p:spPr>
          <a:xfrm>
            <a:off x="4846320" y="308609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غير متكافئة</a:t>
            </a:r>
          </a:p>
        </p:txBody>
      </p:sp>
      <p:sp>
        <p:nvSpPr>
          <p:cNvPr id="14" name="TextBox 13"/>
          <p:cNvSpPr txBox="1"/>
          <p:nvPr/>
        </p:nvSpPr>
        <p:spPr>
          <a:xfrm>
            <a:off x="4846320"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تقدّم المراكز مقابل استغلال الأطراف</a:t>
            </a:r>
          </a:p>
        </p:txBody>
      </p:sp>
      <p:sp>
        <p:nvSpPr>
          <p:cNvPr id="15" name="Rounded Rectangle 14"/>
          <p:cNvSpPr/>
          <p:nvPr/>
        </p:nvSpPr>
        <p:spPr>
          <a:xfrm>
            <a:off x="411479" y="2948939"/>
            <a:ext cx="4069080" cy="1668779"/>
          </a:xfrm>
          <a:prstGeom prst="roundRect">
            <a:avLst>
              <a:gd name="adj" fmla="val 12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817619"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B06A1E"/>
                </a:solidFill>
                <a:latin typeface="Cairo"/>
                <a:cs typeface="Cairo"/>
              </a:rPr>
              <a:t>4</a:t>
            </a:r>
          </a:p>
        </p:txBody>
      </p:sp>
      <p:sp>
        <p:nvSpPr>
          <p:cNvPr id="17" name="TextBox 16"/>
          <p:cNvSpPr txBox="1"/>
          <p:nvPr/>
        </p:nvSpPr>
        <p:spPr>
          <a:xfrm>
            <a:off x="594359" y="308609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صراعية</a:t>
            </a:r>
          </a:p>
        </p:txBody>
      </p:sp>
      <p:sp>
        <p:nvSpPr>
          <p:cNvPr id="18" name="TextBox 17"/>
          <p:cNvSpPr txBox="1"/>
          <p:nvPr/>
        </p:nvSpPr>
        <p:spPr>
          <a:xfrm>
            <a:off x="594359"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حروب وأزمات… ومقاومات وتحرر</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المنطق السببي: كيف تسلسلت التحولات؟</a:t>
            </a:r>
          </a:p>
        </p:txBody>
      </p:sp>
      <p:sp>
        <p:nvSpPr>
          <p:cNvPr id="3" name="Rounded Rectangle 2"/>
          <p:cNvSpPr/>
          <p:nvPr/>
        </p:nvSpPr>
        <p:spPr>
          <a:xfrm>
            <a:off x="6149340" y="1325880"/>
            <a:ext cx="2148840" cy="960120"/>
          </a:xfrm>
          <a:prstGeom prst="roundRect">
            <a:avLst>
              <a:gd name="adj" fmla="val 12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204203" y="132588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الثورة الصناعية</a:t>
            </a:r>
          </a:p>
        </p:txBody>
      </p:sp>
      <p:sp>
        <p:nvSpPr>
          <p:cNvPr id="5" name="Left Arrow 4"/>
          <p:cNvSpPr/>
          <p:nvPr/>
        </p:nvSpPr>
        <p:spPr>
          <a:xfrm>
            <a:off x="5692140" y="1623060"/>
            <a:ext cx="411480" cy="365760"/>
          </a:xfrm>
          <a:prstGeom prst="left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3497579" y="1325880"/>
            <a:ext cx="2148840" cy="960120"/>
          </a:xfrm>
          <a:prstGeom prst="roundRect">
            <a:avLst>
              <a:gd name="adj" fmla="val 12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52443" y="132588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تراكم الرساميل وفائض الإنتاج</a:t>
            </a:r>
          </a:p>
        </p:txBody>
      </p:sp>
      <p:sp>
        <p:nvSpPr>
          <p:cNvPr id="8" name="Left Arrow 7"/>
          <p:cNvSpPr/>
          <p:nvPr/>
        </p:nvSpPr>
        <p:spPr>
          <a:xfrm>
            <a:off x="3040379" y="1623060"/>
            <a:ext cx="411480" cy="365760"/>
          </a:xfrm>
          <a:prstGeom prst="left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5819" y="1325880"/>
            <a:ext cx="2148840" cy="960120"/>
          </a:xfrm>
          <a:prstGeom prst="roundRect">
            <a:avLst>
              <a:gd name="adj" fmla="val 12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00683" y="132588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البحث عن الأسواق والمواد الأولية</a:t>
            </a:r>
          </a:p>
        </p:txBody>
      </p:sp>
      <p:sp>
        <p:nvSpPr>
          <p:cNvPr id="11" name="Down Arrow 10"/>
          <p:cNvSpPr/>
          <p:nvPr/>
        </p:nvSpPr>
        <p:spPr>
          <a:xfrm>
            <a:off x="1737359" y="2377440"/>
            <a:ext cx="365760" cy="502920"/>
          </a:xfrm>
          <a:prstGeom prst="down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45819" y="2971800"/>
            <a:ext cx="2148840" cy="960120"/>
          </a:xfrm>
          <a:prstGeom prst="roundRect">
            <a:avLst>
              <a:gd name="adj" fmla="val 12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00683" y="297180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التنافس الإمبريالي</a:t>
            </a:r>
          </a:p>
        </p:txBody>
      </p:sp>
      <p:sp>
        <p:nvSpPr>
          <p:cNvPr id="14" name="Left Arrow 13"/>
          <p:cNvSpPr/>
          <p:nvPr/>
        </p:nvSpPr>
        <p:spPr>
          <a:xfrm rot="10800000">
            <a:off x="3040379" y="3268979"/>
            <a:ext cx="411480" cy="365760"/>
          </a:xfrm>
          <a:prstGeom prst="left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3497579" y="2971800"/>
            <a:ext cx="2148840" cy="960120"/>
          </a:xfrm>
          <a:prstGeom prst="roundRect">
            <a:avLst>
              <a:gd name="adj" fmla="val 12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52443" y="297180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الحروب والأزمات</a:t>
            </a:r>
          </a:p>
        </p:txBody>
      </p:sp>
      <p:sp>
        <p:nvSpPr>
          <p:cNvPr id="17" name="Left Arrow 16"/>
          <p:cNvSpPr/>
          <p:nvPr/>
        </p:nvSpPr>
        <p:spPr>
          <a:xfrm rot="10800000">
            <a:off x="5692139" y="3268979"/>
            <a:ext cx="411480" cy="365760"/>
          </a:xfrm>
          <a:prstGeom prst="left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149340" y="2971800"/>
            <a:ext cx="2148840" cy="960120"/>
          </a:xfrm>
          <a:prstGeom prst="roundRect">
            <a:avLst>
              <a:gd name="adj" fmla="val 12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04203" y="297180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حركات التحرر والاستقلال</a:t>
            </a:r>
          </a:p>
        </p:txBody>
      </p:sp>
      <p:sp>
        <p:nvSpPr>
          <p:cNvPr id="20" name="Rounded Rectangle 19"/>
          <p:cNvSpPr/>
          <p:nvPr/>
        </p:nvSpPr>
        <p:spPr>
          <a:xfrm>
            <a:off x="411480" y="4050791"/>
            <a:ext cx="8321040" cy="566928"/>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94360" y="4050791"/>
            <a:ext cx="7955280" cy="566928"/>
          </a:xfrm>
          <a:prstGeom prst="rect">
            <a:avLst/>
          </a:prstGeom>
          <a:noFill/>
        </p:spPr>
        <p:txBody>
          <a:bodyPr wrap="square" lIns="45720" rIns="45720" tIns="18288" bIns="18288" anchor="ctr">
            <a:spAutoFit/>
          </a:bodyPr>
          <a:lstStyle/>
          <a:p>
            <a:pPr rtl="1" algn="ctr">
              <a:lnSpc>
                <a:spcPct val="100000"/>
              </a:lnSpc>
            </a:pPr>
            <a:r>
              <a:rPr sz="1800" b="1" lang="ar-MA">
                <a:solidFill>
                  <a:srgbClr val="0B2242"/>
                </a:solidFill>
                <a:latin typeface="Cairo"/>
                <a:cs typeface="Cairo"/>
              </a:rPr>
              <a:t>الاقتصاد هو المحرك الخفي للسياسة والحروب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3- طبيعة التحولات وخصائصها</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الخاصية</a:t>
                      </a:r>
                    </a:p>
                  </a:txBody>
                  <a:tcPr>
                    <a:solidFill>
                      <a:srgbClr val="0B2242"/>
                    </a:solidFill>
                  </a:tcPr>
                </a:tc>
                <a:tc>
                  <a:txBody>
                    <a:bodyPr/>
                    <a:lstStyle/>
                    <a:p>
                      <a:pPr rtl="1" algn="ctr"/>
                      <a:r>
                        <a:rPr sz="2000" b="1" lang="ar-MA">
                          <a:solidFill>
                            <a:srgbClr val="FFFFFF"/>
                          </a:solidFill>
                          <a:latin typeface="Cairo"/>
                          <a:cs typeface="Cairo"/>
                        </a:rPr>
                        <a:t>مضمونها</a:t>
                      </a:r>
                    </a:p>
                  </a:txBody>
                  <a:tcPr>
                    <a:solidFill>
                      <a:srgbClr val="0B2242"/>
                    </a:solidFill>
                  </a:tcPr>
                </a:tc>
              </a:tr>
              <a:tr h="457200">
                <a:tc>
                  <a:txBody>
                    <a:bodyPr/>
                    <a:lstStyle/>
                    <a:p>
                      <a:pPr rtl="1" algn="r"/>
                      <a:r>
                        <a:rPr sz="2000" b="1" lang="ar-MA">
                          <a:solidFill>
                            <a:srgbClr val="0B2242"/>
                          </a:solidFill>
                          <a:latin typeface="Cairo"/>
                          <a:cs typeface="Cairo"/>
                        </a:rPr>
                        <a:t>تحولات شمولية</a:t>
                      </a:r>
                    </a:p>
                  </a:txBody>
                  <a:tcPr anchor="ctr">
                    <a:solidFill>
                      <a:srgbClr val="FFFDF6"/>
                    </a:solidFill>
                  </a:tcPr>
                </a:tc>
                <a:tc>
                  <a:txBody>
                    <a:bodyPr/>
                    <a:lstStyle/>
                    <a:p>
                      <a:pPr rtl="1" algn="r"/>
                      <a:r>
                        <a:rPr sz="2000" b="0" lang="ar-MA">
                          <a:solidFill>
                            <a:srgbClr val="222222"/>
                          </a:solidFill>
                          <a:latin typeface="Cairo"/>
                          <a:cs typeface="Cairo"/>
                        </a:rPr>
                        <a:t>شملت الاقتصاد والمجتمع والسياسة والفكر والعلاقات الدولية.</a:t>
                      </a:r>
                    </a:p>
                  </a:txBody>
                  <a:tcPr anchor="ctr">
                    <a:solidFill>
                      <a:srgbClr val="FFFDF6"/>
                    </a:solidFill>
                  </a:tcPr>
                </a:tc>
              </a:tr>
              <a:tr h="457200">
                <a:tc>
                  <a:txBody>
                    <a:bodyPr/>
                    <a:lstStyle/>
                    <a:p>
                      <a:pPr rtl="1" algn="r"/>
                      <a:r>
                        <a:rPr sz="2000" b="1" lang="ar-MA">
                          <a:solidFill>
                            <a:srgbClr val="0B2242"/>
                          </a:solidFill>
                          <a:latin typeface="Cairo"/>
                          <a:cs typeface="Cairo"/>
                        </a:rPr>
                        <a:t>تحولات مترابطة</a:t>
                      </a:r>
                    </a:p>
                  </a:txBody>
                  <a:tcPr anchor="ctr">
                    <a:solidFill>
                      <a:srgbClr val="F6EED8"/>
                    </a:solidFill>
                  </a:tcPr>
                </a:tc>
                <a:tc>
                  <a:txBody>
                    <a:bodyPr/>
                    <a:lstStyle/>
                    <a:p>
                      <a:pPr rtl="1" algn="r"/>
                      <a:r>
                        <a:rPr sz="2000" b="0" lang="ar-MA">
                          <a:solidFill>
                            <a:srgbClr val="222222"/>
                          </a:solidFill>
                          <a:latin typeface="Cairo"/>
                          <a:cs typeface="Cairo"/>
                        </a:rPr>
                        <a:t>أثر كل تحول في غيره؛ فالتقدم الصناعي أدى إلى تراكم رأس المال والتوسع الخارجي.</a:t>
                      </a:r>
                    </a:p>
                  </a:txBody>
                  <a:tcPr anchor="ctr">
                    <a:solidFill>
                      <a:srgbClr val="F6EED8"/>
                    </a:solidFill>
                  </a:tcPr>
                </a:tc>
              </a:tr>
              <a:tr h="457200">
                <a:tc>
                  <a:txBody>
                    <a:bodyPr/>
                    <a:lstStyle/>
                    <a:p>
                      <a:pPr rtl="1" algn="r"/>
                      <a:r>
                        <a:rPr sz="2000" b="1" lang="ar-MA">
                          <a:solidFill>
                            <a:srgbClr val="0B2242"/>
                          </a:solidFill>
                          <a:latin typeface="Cairo"/>
                          <a:cs typeface="Cairo"/>
                        </a:rPr>
                        <a:t>تحولات غير متكافئة</a:t>
                      </a:r>
                    </a:p>
                  </a:txBody>
                  <a:tcPr anchor="ctr">
                    <a:solidFill>
                      <a:srgbClr val="FFFDF6"/>
                    </a:solidFill>
                  </a:tcPr>
                </a:tc>
                <a:tc>
                  <a:txBody>
                    <a:bodyPr/>
                    <a:lstStyle/>
                    <a:p>
                      <a:pPr rtl="1" algn="r"/>
                      <a:r>
                        <a:rPr sz="2000" b="0" lang="ar-MA">
                          <a:solidFill>
                            <a:srgbClr val="222222"/>
                          </a:solidFill>
                          <a:latin typeface="Cairo"/>
                          <a:cs typeface="Cairo"/>
                        </a:rPr>
                        <a:t>استفادت منها القوى الصناعية، بينما تعرضت مناطق واسعة للاستغلال والتبعية.</a:t>
                      </a:r>
                    </a:p>
                  </a:txBody>
                  <a:tcPr anchor="ctr">
                    <a:solidFill>
                      <a:srgbClr val="FFFDF6"/>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3- طبيعة التحولات وخصائصها (تابع)</a:t>
            </a:r>
          </a:p>
        </p:txBody>
      </p:sp>
      <p:graphicFrame>
        <p:nvGraphicFramePr>
          <p:cNvPr id="3" name="Table 2"/>
          <p:cNvGraphicFramePr>
            <a:graphicFrameLocks noGrp="1"/>
          </p:cNvGraphicFramePr>
          <p:nvPr/>
        </p:nvGraphicFramePr>
        <p:xfrm>
          <a:off x="548640" y="1737360"/>
          <a:ext cx="7772400" cy="9144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الخاصية</a:t>
                      </a:r>
                    </a:p>
                  </a:txBody>
                  <a:tcPr>
                    <a:solidFill>
                      <a:srgbClr val="0B2242"/>
                    </a:solidFill>
                  </a:tcPr>
                </a:tc>
                <a:tc>
                  <a:txBody>
                    <a:bodyPr/>
                    <a:lstStyle/>
                    <a:p>
                      <a:pPr rtl="1" algn="ctr"/>
                      <a:r>
                        <a:rPr sz="2000" b="1" lang="ar-MA">
                          <a:solidFill>
                            <a:srgbClr val="FFFFFF"/>
                          </a:solidFill>
                          <a:latin typeface="Cairo"/>
                          <a:cs typeface="Cairo"/>
                        </a:rPr>
                        <a:t>مضمونها</a:t>
                      </a:r>
                    </a:p>
                  </a:txBody>
                  <a:tcPr>
                    <a:solidFill>
                      <a:srgbClr val="0B2242"/>
                    </a:solidFill>
                  </a:tcPr>
                </a:tc>
              </a:tr>
              <a:tr h="457200">
                <a:tc>
                  <a:txBody>
                    <a:bodyPr/>
                    <a:lstStyle/>
                    <a:p>
                      <a:pPr rtl="1" algn="r"/>
                      <a:r>
                        <a:rPr sz="2000" b="1" lang="ar-MA">
                          <a:solidFill>
                            <a:srgbClr val="0B2242"/>
                          </a:solidFill>
                          <a:latin typeface="Cairo"/>
                          <a:cs typeface="Cairo"/>
                        </a:rPr>
                        <a:t>تحولات صراعية</a:t>
                      </a:r>
                    </a:p>
                  </a:txBody>
                  <a:tcPr anchor="ctr">
                    <a:solidFill>
                      <a:srgbClr val="FFFDF6"/>
                    </a:solidFill>
                  </a:tcPr>
                </a:tc>
                <a:tc>
                  <a:txBody>
                    <a:bodyPr/>
                    <a:lstStyle/>
                    <a:p>
                      <a:pPr rtl="1" algn="r"/>
                      <a:r>
                        <a:rPr sz="2000" b="0" lang="ar-MA">
                          <a:solidFill>
                            <a:srgbClr val="222222"/>
                          </a:solidFill>
                          <a:latin typeface="Cairo"/>
                          <a:cs typeface="Cairo"/>
                        </a:rPr>
                        <a:t>أفرزت تنافسا إمبرياليا وحروبا عالمية وأزمات، كما ولدت مقاومات وحركات تحرر.</a:t>
                      </a:r>
                    </a:p>
                  </a:txBody>
                  <a:tcPr anchor="ctr">
                    <a:solidFill>
                      <a:srgbClr val="FFFDF6"/>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4</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الرابع: أسئلة البرنامج</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خمسة أسئلة ترافقنا طوال السنة</a:t>
            </a:r>
          </a:p>
        </p:txBody>
      </p:sp>
      <p:sp>
        <p:nvSpPr>
          <p:cNvPr id="3" name="Oval 2"/>
          <p:cNvSpPr/>
          <p:nvPr/>
        </p:nvSpPr>
        <p:spPr>
          <a:xfrm>
            <a:off x="8229600" y="1220724"/>
            <a:ext cx="457200" cy="45720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1</a:t>
            </a:r>
          </a:p>
        </p:txBody>
      </p:sp>
      <p:sp>
        <p:nvSpPr>
          <p:cNvPr id="4" name="Rounded Rectangle 3"/>
          <p:cNvSpPr/>
          <p:nvPr/>
        </p:nvSpPr>
        <p:spPr>
          <a:xfrm>
            <a:off x="411480" y="1152144"/>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152144"/>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ما مظاهر التحول في العالم الرأسمالي خلال القرن 19م؟</a:t>
            </a:r>
          </a:p>
        </p:txBody>
      </p:sp>
      <p:sp>
        <p:nvSpPr>
          <p:cNvPr id="6" name="Oval 5"/>
          <p:cNvSpPr/>
          <p:nvPr/>
        </p:nvSpPr>
        <p:spPr>
          <a:xfrm>
            <a:off x="8229600" y="1924811"/>
            <a:ext cx="457200" cy="457200"/>
          </a:xfrm>
          <a:prstGeom prst="ellipse">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2</a:t>
            </a:r>
          </a:p>
        </p:txBody>
      </p:sp>
      <p:sp>
        <p:nvSpPr>
          <p:cNvPr id="7" name="Rounded Rectangle 6"/>
          <p:cNvSpPr/>
          <p:nvPr/>
        </p:nvSpPr>
        <p:spPr>
          <a:xfrm>
            <a:off x="411480" y="1856231"/>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1856231"/>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كيف قاد تطور الرأسمالية إلى الإمبريالية والحروب؟</a:t>
            </a:r>
          </a:p>
        </p:txBody>
      </p:sp>
      <p:sp>
        <p:nvSpPr>
          <p:cNvPr id="9" name="Oval 8"/>
          <p:cNvSpPr/>
          <p:nvPr/>
        </p:nvSpPr>
        <p:spPr>
          <a:xfrm>
            <a:off x="8229600" y="2628899"/>
            <a:ext cx="457200" cy="457200"/>
          </a:xfrm>
          <a:prstGeom prst="ellipse">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3</a:t>
            </a:r>
          </a:p>
        </p:txBody>
      </p:sp>
      <p:sp>
        <p:nvSpPr>
          <p:cNvPr id="10" name="Rounded Rectangle 9"/>
          <p:cNvSpPr/>
          <p:nvPr/>
        </p:nvSpPr>
        <p:spPr>
          <a:xfrm>
            <a:off x="411480" y="2560320"/>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2560320"/>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ما أبرز تحولات القرن 20م؟</a:t>
            </a:r>
          </a:p>
        </p:txBody>
      </p:sp>
      <p:sp>
        <p:nvSpPr>
          <p:cNvPr id="12" name="Oval 11"/>
          <p:cNvSpPr/>
          <p:nvPr/>
        </p:nvSpPr>
        <p:spPr>
          <a:xfrm>
            <a:off x="8229600" y="3332987"/>
            <a:ext cx="457200" cy="457200"/>
          </a:xfrm>
          <a:prstGeom prst="ellipse">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4</a:t>
            </a:r>
          </a:p>
        </p:txBody>
      </p:sp>
      <p:sp>
        <p:nvSpPr>
          <p:cNvPr id="13" name="Rounded Rectangle 12"/>
          <p:cNvSpPr/>
          <p:nvPr/>
        </p:nvSpPr>
        <p:spPr>
          <a:xfrm>
            <a:off x="411480" y="3264408"/>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8640" y="3264408"/>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كيف تفاعل المشرق العربي والمغرب مع الضغوط الاستعمارية؟</a:t>
            </a:r>
          </a:p>
        </p:txBody>
      </p:sp>
      <p:sp>
        <p:nvSpPr>
          <p:cNvPr id="15" name="Oval 14"/>
          <p:cNvSpPr/>
          <p:nvPr/>
        </p:nvSpPr>
        <p:spPr>
          <a:xfrm>
            <a:off x="8229600" y="4037075"/>
            <a:ext cx="457200" cy="457200"/>
          </a:xfrm>
          <a:prstGeom prst="ellipse">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5</a:t>
            </a:r>
          </a:p>
        </p:txBody>
      </p:sp>
      <p:sp>
        <p:nvSpPr>
          <p:cNvPr id="16" name="Rounded Rectangle 15"/>
          <p:cNvSpPr/>
          <p:nvPr/>
        </p:nvSpPr>
        <p:spPr>
          <a:xfrm>
            <a:off x="411480" y="3968495"/>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8640" y="3968495"/>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كيف أفضت المقاومة إلى الاستقلال وبناء الدولة الوطنية؟</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4- الطرح الإشكالي وأسئلة البرنامج</a:t>
            </a:r>
          </a:p>
          <a:p>
            <a:pPr rtl="1" algn="r">
              <a:buNone/>
              <a:spcAft>
                <a:spcPts val="600"/>
              </a:spcAft>
            </a:pPr>
            <a:r>
              <a:rPr sz="2600" b="0" lang="ar-MA">
                <a:latin typeface="Cairo"/>
                <a:cs typeface="Cairo"/>
              </a:rPr>
              <a:t>• ما مظاهر التحول الاقتصادي والاجتماعي والفكري والسياسي في العالم الرأسمالي خلال القرن التاسع عشر؟</a:t>
            </a:r>
          </a:p>
          <a:p>
            <a:pPr rtl="1" algn="r">
              <a:buNone/>
              <a:spcAft>
                <a:spcPts val="600"/>
              </a:spcAft>
            </a:pPr>
            <a:r>
              <a:rPr sz="2600" b="0" lang="ar-MA">
                <a:latin typeface="Cairo"/>
                <a:cs typeface="Cairo"/>
              </a:rPr>
              <a:t>• كيف أدى تطور الرأسمالية إلى اشتداد التنافس الإمبريالي وإلى اندلاع الحروب والأزمات؟</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ما أبرز التحولات التي عرفها العالم خلال القرن العشرين؟</a:t>
            </a:r>
          </a:p>
          <a:p>
            <a:pPr rtl="1" algn="r">
              <a:buNone/>
              <a:spcAft>
                <a:spcPts val="600"/>
              </a:spcAft>
            </a:pPr>
            <a:r>
              <a:rPr sz="2600" b="0" lang="ar-MA">
                <a:latin typeface="Cairo"/>
                <a:cs typeface="Cairo"/>
              </a:rPr>
              <a:t>• كيف تفاعل المشرق العربي والمغرب مع الضغوط الاستعمارية والتحولات الدولية؟</a:t>
            </a:r>
          </a:p>
          <a:p>
            <a:pPr rtl="1" algn="r">
              <a:buNone/>
              <a:spcAft>
                <a:spcPts val="600"/>
              </a:spcAft>
            </a:pPr>
            <a:r>
              <a:rPr sz="2600" b="0" lang="ar-MA">
                <a:latin typeface="Cairo"/>
                <a:cs typeface="Cairo"/>
              </a:rPr>
              <a:t>• ما أشكال المقاومة والتحرر التي أفضت إلى الاستقلال وبناء الدولة الوطنية؟</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5</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الخامس: مفاهيم أساسية</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مفاهيم مفتاحية (1)</a:t>
            </a:r>
          </a:p>
        </p:txBody>
      </p:sp>
      <p:sp>
        <p:nvSpPr>
          <p:cNvPr id="3" name="Rounded Rectangle 2"/>
          <p:cNvSpPr/>
          <p:nvPr/>
        </p:nvSpPr>
        <p:spPr>
          <a:xfrm>
            <a:off x="6056376"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056376"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47815"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الثورة الصناعية</a:t>
            </a:r>
          </a:p>
        </p:txBody>
      </p:sp>
      <p:sp>
        <p:nvSpPr>
          <p:cNvPr id="6" name="TextBox 5"/>
          <p:cNvSpPr txBox="1"/>
          <p:nvPr/>
        </p:nvSpPr>
        <p:spPr>
          <a:xfrm>
            <a:off x="6166104"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الآلة والطاقة الجديدة والمصنع</a:t>
            </a:r>
          </a:p>
        </p:txBody>
      </p:sp>
      <p:sp>
        <p:nvSpPr>
          <p:cNvPr id="7" name="Rounded Rectangle 6"/>
          <p:cNvSpPr/>
          <p:nvPr/>
        </p:nvSpPr>
        <p:spPr>
          <a:xfrm>
            <a:off x="3233927"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233927"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325367"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الرأسمالية</a:t>
            </a:r>
          </a:p>
        </p:txBody>
      </p:sp>
      <p:sp>
        <p:nvSpPr>
          <p:cNvPr id="10" name="TextBox 9"/>
          <p:cNvSpPr txBox="1"/>
          <p:nvPr/>
        </p:nvSpPr>
        <p:spPr>
          <a:xfrm>
            <a:off x="3343655"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ملكية خاصة ومنافسة وسعي إلى الربح</a:t>
            </a:r>
          </a:p>
        </p:txBody>
      </p:sp>
      <p:sp>
        <p:nvSpPr>
          <p:cNvPr id="11" name="Rounded Rectangle 10"/>
          <p:cNvSpPr/>
          <p:nvPr/>
        </p:nvSpPr>
        <p:spPr>
          <a:xfrm>
            <a:off x="411479"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411479"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02919"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البرجوازية</a:t>
            </a:r>
          </a:p>
        </p:txBody>
      </p:sp>
      <p:sp>
        <p:nvSpPr>
          <p:cNvPr id="14" name="TextBox 13"/>
          <p:cNvSpPr txBox="1"/>
          <p:nvPr/>
        </p:nvSpPr>
        <p:spPr>
          <a:xfrm>
            <a:off x="521207"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مالكو وسائل الإنتاج والرساميل</a:t>
            </a:r>
          </a:p>
        </p:txBody>
      </p:sp>
      <p:sp>
        <p:nvSpPr>
          <p:cNvPr id="15" name="Rounded Rectangle 14"/>
          <p:cNvSpPr/>
          <p:nvPr/>
        </p:nvSpPr>
        <p:spPr>
          <a:xfrm>
            <a:off x="6056376"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056376"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147815"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البروليتاريا</a:t>
            </a:r>
          </a:p>
        </p:txBody>
      </p:sp>
      <p:sp>
        <p:nvSpPr>
          <p:cNvPr id="18" name="TextBox 17"/>
          <p:cNvSpPr txBox="1"/>
          <p:nvPr/>
        </p:nvSpPr>
        <p:spPr>
          <a:xfrm>
            <a:off x="6166104"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عمال لا يملكون إلا قوة عملهم</a:t>
            </a:r>
          </a:p>
        </p:txBody>
      </p:sp>
      <p:sp>
        <p:nvSpPr>
          <p:cNvPr id="19" name="Rounded Rectangle 18"/>
          <p:cNvSpPr/>
          <p:nvPr/>
        </p:nvSpPr>
        <p:spPr>
          <a:xfrm>
            <a:off x="3233927"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3233927"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325367"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الإمبريالية</a:t>
            </a:r>
          </a:p>
        </p:txBody>
      </p:sp>
      <p:sp>
        <p:nvSpPr>
          <p:cNvPr id="22" name="TextBox 21"/>
          <p:cNvSpPr txBox="1"/>
          <p:nvPr/>
        </p:nvSpPr>
        <p:spPr>
          <a:xfrm>
            <a:off x="3343655"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توسّع وهيمنة على الأسواق والمواد الأولية</a:t>
            </a:r>
          </a:p>
        </p:txBody>
      </p:sp>
      <p:sp>
        <p:nvSpPr>
          <p:cNvPr id="23" name="Rounded Rectangle 22"/>
          <p:cNvSpPr/>
          <p:nvPr/>
        </p:nvSpPr>
        <p:spPr>
          <a:xfrm>
            <a:off x="411479"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411479"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02919"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الاستعمار</a:t>
            </a:r>
          </a:p>
        </p:txBody>
      </p:sp>
      <p:sp>
        <p:nvSpPr>
          <p:cNvPr id="26" name="TextBox 25"/>
          <p:cNvSpPr txBox="1"/>
          <p:nvPr/>
        </p:nvSpPr>
        <p:spPr>
          <a:xfrm>
            <a:off x="521207"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سيطرة على بلد آخر واستغلال موارده</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مفاهيم مفتاحية (2)</a:t>
            </a:r>
          </a:p>
        </p:txBody>
      </p:sp>
      <p:sp>
        <p:nvSpPr>
          <p:cNvPr id="3" name="Rounded Rectangle 2"/>
          <p:cNvSpPr/>
          <p:nvPr/>
        </p:nvSpPr>
        <p:spPr>
          <a:xfrm>
            <a:off x="6056376"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056376"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47815"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الاشتراكية</a:t>
            </a:r>
          </a:p>
        </p:txBody>
      </p:sp>
      <p:sp>
        <p:nvSpPr>
          <p:cNvPr id="6" name="TextBox 5"/>
          <p:cNvSpPr txBox="1"/>
          <p:nvPr/>
        </p:nvSpPr>
        <p:spPr>
          <a:xfrm>
            <a:off x="6166104"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عدالة اجتماعية وملكية جماعية</a:t>
            </a:r>
          </a:p>
        </p:txBody>
      </p:sp>
      <p:sp>
        <p:nvSpPr>
          <p:cNvPr id="7" name="Rounded Rectangle 6"/>
          <p:cNvSpPr/>
          <p:nvPr/>
        </p:nvSpPr>
        <p:spPr>
          <a:xfrm>
            <a:off x="3233927"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233927"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325367"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التبعية</a:t>
            </a:r>
          </a:p>
        </p:txBody>
      </p:sp>
      <p:sp>
        <p:nvSpPr>
          <p:cNvPr id="10" name="TextBox 9"/>
          <p:cNvSpPr txBox="1"/>
          <p:nvPr/>
        </p:nvSpPr>
        <p:spPr>
          <a:xfrm>
            <a:off x="3343655"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اقتصاد خاضع للقوى الكبرى</a:t>
            </a:r>
          </a:p>
        </p:txBody>
      </p:sp>
      <p:sp>
        <p:nvSpPr>
          <p:cNvPr id="11" name="Rounded Rectangle 10"/>
          <p:cNvSpPr/>
          <p:nvPr/>
        </p:nvSpPr>
        <p:spPr>
          <a:xfrm>
            <a:off x="411479"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411479"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02919"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النهضة العربية</a:t>
            </a:r>
          </a:p>
        </p:txBody>
      </p:sp>
      <p:sp>
        <p:nvSpPr>
          <p:cNvPr id="14" name="TextBox 13"/>
          <p:cNvSpPr txBox="1"/>
          <p:nvPr/>
        </p:nvSpPr>
        <p:spPr>
          <a:xfrm>
            <a:off x="521207"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حركة فكرية وإصلاحية في ق19م</a:t>
            </a:r>
          </a:p>
        </p:txBody>
      </p:sp>
      <p:sp>
        <p:nvSpPr>
          <p:cNvPr id="15" name="Rounded Rectangle 14"/>
          <p:cNvSpPr/>
          <p:nvPr/>
        </p:nvSpPr>
        <p:spPr>
          <a:xfrm>
            <a:off x="6056376"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056376"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147815"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الحماية</a:t>
            </a:r>
          </a:p>
        </p:txBody>
      </p:sp>
      <p:sp>
        <p:nvSpPr>
          <p:cNvPr id="18" name="TextBox 17"/>
          <p:cNvSpPr txBox="1"/>
          <p:nvPr/>
        </p:nvSpPr>
        <p:spPr>
          <a:xfrm>
            <a:off x="6166104"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استعمار غير مباشر؛ المغرب 1912</a:t>
            </a:r>
          </a:p>
        </p:txBody>
      </p:sp>
      <p:sp>
        <p:nvSpPr>
          <p:cNvPr id="19" name="Rounded Rectangle 18"/>
          <p:cNvSpPr/>
          <p:nvPr/>
        </p:nvSpPr>
        <p:spPr>
          <a:xfrm>
            <a:off x="3233927"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3233927"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325367"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الثنائية القطبية</a:t>
            </a:r>
          </a:p>
        </p:txBody>
      </p:sp>
      <p:sp>
        <p:nvSpPr>
          <p:cNvPr id="22" name="TextBox 21"/>
          <p:cNvSpPr txBox="1"/>
          <p:nvPr/>
        </p:nvSpPr>
        <p:spPr>
          <a:xfrm>
            <a:off x="3343655"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معسكر غربي ومعسكر شرقي بعد 1945</a:t>
            </a:r>
          </a:p>
        </p:txBody>
      </p:sp>
      <p:sp>
        <p:nvSpPr>
          <p:cNvPr id="23" name="Rounded Rectangle 22"/>
          <p:cNvSpPr/>
          <p:nvPr/>
        </p:nvSpPr>
        <p:spPr>
          <a:xfrm>
            <a:off x="411479"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411479"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02919"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حركات التحرر</a:t>
            </a:r>
          </a:p>
        </p:txBody>
      </p:sp>
      <p:sp>
        <p:nvSpPr>
          <p:cNvPr id="26" name="TextBox 25"/>
          <p:cNvSpPr txBox="1"/>
          <p:nvPr/>
        </p:nvSpPr>
        <p:spPr>
          <a:xfrm>
            <a:off x="521207"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نضال الشعوب من أجل الاستقلال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5- مفاهيم أساسية</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المفهوم</a:t>
                      </a:r>
                    </a:p>
                  </a:txBody>
                  <a:tcPr>
                    <a:solidFill>
                      <a:srgbClr val="0B2242"/>
                    </a:solidFill>
                  </a:tcPr>
                </a:tc>
                <a:tc>
                  <a:txBody>
                    <a:bodyPr/>
                    <a:lstStyle/>
                    <a:p>
                      <a:pPr rtl="1" algn="ctr"/>
                      <a:r>
                        <a:rPr sz="2000" b="1" lang="ar-MA">
                          <a:solidFill>
                            <a:srgbClr val="FFFFFF"/>
                          </a:solidFill>
                          <a:latin typeface="Cairo"/>
                          <a:cs typeface="Cairo"/>
                        </a:rPr>
                        <a:t>التعريف</a:t>
                      </a:r>
                    </a:p>
                  </a:txBody>
                  <a:tcPr>
                    <a:solidFill>
                      <a:srgbClr val="0B2242"/>
                    </a:solidFill>
                  </a:tcPr>
                </a:tc>
              </a:tr>
              <a:tr h="457200">
                <a:tc>
                  <a:txBody>
                    <a:bodyPr/>
                    <a:lstStyle/>
                    <a:p>
                      <a:pPr rtl="1" algn="r"/>
                      <a:r>
                        <a:rPr sz="2000" b="1" lang="ar-MA">
                          <a:solidFill>
                            <a:srgbClr val="0B2242"/>
                          </a:solidFill>
                          <a:latin typeface="Cairo"/>
                          <a:cs typeface="Cairo"/>
                        </a:rPr>
                        <a:t>الثورة الصناعية</a:t>
                      </a:r>
                    </a:p>
                  </a:txBody>
                  <a:tcPr anchor="ctr">
                    <a:solidFill>
                      <a:srgbClr val="FFFDF6"/>
                    </a:solidFill>
                  </a:tcPr>
                </a:tc>
                <a:tc>
                  <a:txBody>
                    <a:bodyPr/>
                    <a:lstStyle/>
                    <a:p>
                      <a:pPr rtl="1" algn="r"/>
                      <a:r>
                        <a:rPr sz="2000" b="0" lang="ar-MA">
                          <a:solidFill>
                            <a:srgbClr val="222222"/>
                          </a:solidFill>
                          <a:latin typeface="Cairo"/>
                          <a:cs typeface="Cairo"/>
                        </a:rPr>
                        <a:t>تحول جذري في الإنتاج بفعل الآلة والطاقة وظهور المصنع وتطور النقل.</a:t>
                      </a:r>
                    </a:p>
                  </a:txBody>
                  <a:tcPr anchor="ctr">
                    <a:solidFill>
                      <a:srgbClr val="FFFDF6"/>
                    </a:solidFill>
                  </a:tcPr>
                </a:tc>
              </a:tr>
              <a:tr h="457200">
                <a:tc>
                  <a:txBody>
                    <a:bodyPr/>
                    <a:lstStyle/>
                    <a:p>
                      <a:pPr rtl="1" algn="r"/>
                      <a:r>
                        <a:rPr sz="2000" b="1" lang="ar-MA">
                          <a:solidFill>
                            <a:srgbClr val="0B2242"/>
                          </a:solidFill>
                          <a:latin typeface="Cairo"/>
                          <a:cs typeface="Cairo"/>
                        </a:rPr>
                        <a:t>الرأسمالية</a:t>
                      </a:r>
                    </a:p>
                  </a:txBody>
                  <a:tcPr anchor="ctr">
                    <a:solidFill>
                      <a:srgbClr val="F6EED8"/>
                    </a:solidFill>
                  </a:tcPr>
                </a:tc>
                <a:tc>
                  <a:txBody>
                    <a:bodyPr/>
                    <a:lstStyle/>
                    <a:p>
                      <a:pPr rtl="1" algn="r"/>
                      <a:r>
                        <a:rPr sz="2000" b="0" lang="ar-MA">
                          <a:solidFill>
                            <a:srgbClr val="222222"/>
                          </a:solidFill>
                          <a:latin typeface="Cairo"/>
                          <a:cs typeface="Cairo"/>
                        </a:rPr>
                        <a:t>نظام اقتصادي يقوم على الملكية الخاصة لوسائل الإنتاج وحرية المبادرة والسعي إلى الربح.</a:t>
                      </a:r>
                    </a:p>
                  </a:txBody>
                  <a:tcPr anchor="ctr">
                    <a:solidFill>
                      <a:srgbClr val="F6EED8"/>
                    </a:solidFill>
                  </a:tcPr>
                </a:tc>
              </a:tr>
              <a:tr h="457200">
                <a:tc>
                  <a:txBody>
                    <a:bodyPr/>
                    <a:lstStyle/>
                    <a:p>
                      <a:pPr rtl="1" algn="r"/>
                      <a:r>
                        <a:rPr sz="2000" b="1" lang="ar-MA">
                          <a:solidFill>
                            <a:srgbClr val="0B2242"/>
                          </a:solidFill>
                          <a:latin typeface="Cairo"/>
                          <a:cs typeface="Cairo"/>
                        </a:rPr>
                        <a:t>الإمبريالية</a:t>
                      </a:r>
                    </a:p>
                  </a:txBody>
                  <a:tcPr anchor="ctr">
                    <a:solidFill>
                      <a:srgbClr val="FFFDF6"/>
                    </a:solidFill>
                  </a:tcPr>
                </a:tc>
                <a:tc>
                  <a:txBody>
                    <a:bodyPr/>
                    <a:lstStyle/>
                    <a:p>
                      <a:pPr rtl="1" algn="r"/>
                      <a:r>
                        <a:rPr sz="2000" b="0" lang="ar-MA">
                          <a:solidFill>
                            <a:srgbClr val="222222"/>
                          </a:solidFill>
                          <a:latin typeface="Cairo"/>
                          <a:cs typeface="Cairo"/>
                        </a:rPr>
                        <a:t>سياسة توسع وهيمنة للسيطرة على الأسواق والمواد الأولية ومجالات النفوذ.</a:t>
                      </a:r>
                    </a:p>
                  </a:txBody>
                  <a:tcPr anchor="ctr">
                    <a:solidFill>
                      <a:srgbClr val="FFFDF6"/>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5- مفاهيم أساسية (تابع)</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المفهوم</a:t>
                      </a:r>
                    </a:p>
                  </a:txBody>
                  <a:tcPr>
                    <a:solidFill>
                      <a:srgbClr val="0B2242"/>
                    </a:solidFill>
                  </a:tcPr>
                </a:tc>
                <a:tc>
                  <a:txBody>
                    <a:bodyPr/>
                    <a:lstStyle/>
                    <a:p>
                      <a:pPr rtl="1" algn="ctr"/>
                      <a:r>
                        <a:rPr sz="2000" b="1" lang="ar-MA">
                          <a:solidFill>
                            <a:srgbClr val="FFFFFF"/>
                          </a:solidFill>
                          <a:latin typeface="Cairo"/>
                          <a:cs typeface="Cairo"/>
                        </a:rPr>
                        <a:t>التعريف</a:t>
                      </a:r>
                    </a:p>
                  </a:txBody>
                  <a:tcPr>
                    <a:solidFill>
                      <a:srgbClr val="0B2242"/>
                    </a:solidFill>
                  </a:tcPr>
                </a:tc>
              </a:tr>
              <a:tr h="457200">
                <a:tc>
                  <a:txBody>
                    <a:bodyPr/>
                    <a:lstStyle/>
                    <a:p>
                      <a:pPr rtl="1" algn="r"/>
                      <a:r>
                        <a:rPr sz="2000" b="1" lang="ar-MA">
                          <a:solidFill>
                            <a:srgbClr val="0B2242"/>
                          </a:solidFill>
                          <a:latin typeface="Cairo"/>
                          <a:cs typeface="Cairo"/>
                        </a:rPr>
                        <a:t>الاستعمار</a:t>
                      </a:r>
                    </a:p>
                  </a:txBody>
                  <a:tcPr anchor="ctr">
                    <a:solidFill>
                      <a:srgbClr val="FFFDF6"/>
                    </a:solidFill>
                  </a:tcPr>
                </a:tc>
                <a:tc>
                  <a:txBody>
                    <a:bodyPr/>
                    <a:lstStyle/>
                    <a:p>
                      <a:pPr rtl="1" algn="r"/>
                      <a:r>
                        <a:rPr sz="2000" b="0" lang="ar-MA">
                          <a:solidFill>
                            <a:srgbClr val="222222"/>
                          </a:solidFill>
                          <a:latin typeface="Cairo"/>
                          <a:cs typeface="Cairo"/>
                        </a:rPr>
                        <a:t>سيطرة دولة قوية على بلد آخر واستغلال موارده وإخضاع سكانه.</a:t>
                      </a:r>
                    </a:p>
                  </a:txBody>
                  <a:tcPr anchor="ctr">
                    <a:solidFill>
                      <a:srgbClr val="FFFDF6"/>
                    </a:solidFill>
                  </a:tcPr>
                </a:tc>
              </a:tr>
              <a:tr h="457200">
                <a:tc>
                  <a:txBody>
                    <a:bodyPr/>
                    <a:lstStyle/>
                    <a:p>
                      <a:pPr rtl="1" algn="r"/>
                      <a:r>
                        <a:rPr sz="2000" b="1" lang="ar-MA">
                          <a:solidFill>
                            <a:srgbClr val="0B2242"/>
                          </a:solidFill>
                          <a:latin typeface="Cairo"/>
                          <a:cs typeface="Cairo"/>
                        </a:rPr>
                        <a:t>الثنائية القطبية</a:t>
                      </a:r>
                    </a:p>
                  </a:txBody>
                  <a:tcPr anchor="ctr">
                    <a:solidFill>
                      <a:srgbClr val="F6EED8"/>
                    </a:solidFill>
                  </a:tcPr>
                </a:tc>
                <a:tc>
                  <a:txBody>
                    <a:bodyPr/>
                    <a:lstStyle/>
                    <a:p>
                      <a:pPr rtl="1" algn="r"/>
                      <a:r>
                        <a:rPr sz="2000" b="0" lang="ar-MA">
                          <a:solidFill>
                            <a:srgbClr val="222222"/>
                          </a:solidFill>
                          <a:latin typeface="Cairo"/>
                          <a:cs typeface="Cairo"/>
                        </a:rPr>
                        <a:t>انقسام العالم بعد سنة 1945م إلى معسكر غربي رأسمالي وآخر شرقي اشتراكي.</a:t>
                      </a:r>
                    </a:p>
                  </a:txBody>
                  <a:tcPr anchor="ctr">
                    <a:solidFill>
                      <a:srgbClr val="F6EED8"/>
                    </a:solidFill>
                  </a:tcPr>
                </a:tc>
              </a:tr>
              <a:tr h="457200">
                <a:tc>
                  <a:txBody>
                    <a:bodyPr/>
                    <a:lstStyle/>
                    <a:p>
                      <a:pPr rtl="1" algn="r"/>
                      <a:r>
                        <a:rPr sz="2000" b="1" lang="ar-MA">
                          <a:solidFill>
                            <a:srgbClr val="0B2242"/>
                          </a:solidFill>
                          <a:latin typeface="Cairo"/>
                          <a:cs typeface="Cairo"/>
                        </a:rPr>
                        <a:t>حركات التحرر</a:t>
                      </a:r>
                    </a:p>
                  </a:txBody>
                  <a:tcPr anchor="ctr">
                    <a:solidFill>
                      <a:srgbClr val="FFFDF6"/>
                    </a:solidFill>
                  </a:tcPr>
                </a:tc>
                <a:tc>
                  <a:txBody>
                    <a:bodyPr/>
                    <a:lstStyle/>
                    <a:p>
                      <a:pPr rtl="1" algn="r"/>
                      <a:r>
                        <a:rPr sz="2000" b="0" lang="ar-MA">
                          <a:solidFill>
                            <a:srgbClr val="222222"/>
                          </a:solidFill>
                          <a:latin typeface="Cairo"/>
                          <a:cs typeface="Cairo"/>
                        </a:rPr>
                        <a:t>نضالات سياسية ومسلحة من أجل الاستقلال والسيادة الوطنية.</a:t>
                      </a:r>
                    </a:p>
                  </a:txBody>
                  <a:tcPr anchor="ctr">
                    <a:solidFill>
                      <a:srgbClr val="FFFDF6"/>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تطبيق منهجي</a:t>
            </a:r>
          </a:p>
        </p:txBody>
      </p:sp>
      <p:sp>
        <p:nvSpPr>
          <p:cNvPr id="3" name="Rounded Rectangle 2"/>
          <p:cNvSpPr/>
          <p:nvPr/>
        </p:nvSpPr>
        <p:spPr>
          <a:xfrm>
            <a:off x="411480" y="1097280"/>
            <a:ext cx="8321040" cy="3520439"/>
          </a:xfrm>
          <a:prstGeom prst="roundRect">
            <a:avLst>
              <a:gd name="adj" fmla="val 5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720840" y="1097280"/>
            <a:ext cx="2011680" cy="502920"/>
          </a:xfrm>
          <a:prstGeom prst="roundRect">
            <a:avLst>
              <a:gd name="adj" fmla="val 30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720840" y="1097280"/>
            <a:ext cx="2011680" cy="502920"/>
          </a:xfrm>
          <a:prstGeom prst="rect">
            <a:avLst/>
          </a:prstGeom>
          <a:noFill/>
        </p:spPr>
        <p:txBody>
          <a:bodyPr wrap="square" lIns="45720" rIns="45720" tIns="18288" bIns="18288" anchor="ctr">
            <a:spAutoFit/>
          </a:bodyPr>
          <a:lstStyle/>
          <a:p>
            <a:pPr rtl="1" algn="ctr">
              <a:lnSpc>
                <a:spcPct val="100000"/>
              </a:lnSpc>
            </a:pPr>
            <a:r>
              <a:rPr sz="2000" b="1" lang="ar-MA">
                <a:solidFill>
                  <a:srgbClr val="0B2242"/>
                </a:solidFill>
                <a:latin typeface="Cairo"/>
                <a:cs typeface="Cairo"/>
              </a:rPr>
              <a:t>تدرّب</a:t>
            </a:r>
          </a:p>
        </p:txBody>
      </p:sp>
      <p:sp>
        <p:nvSpPr>
          <p:cNvPr id="6" name="Oval 5"/>
          <p:cNvSpPr/>
          <p:nvPr/>
        </p:nvSpPr>
        <p:spPr>
          <a:xfrm>
            <a:off x="8069580" y="1996439"/>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1</a:t>
            </a:r>
          </a:p>
        </p:txBody>
      </p:sp>
      <p:sp>
        <p:nvSpPr>
          <p:cNvPr id="7" name="TextBox 6"/>
          <p:cNvSpPr txBox="1"/>
          <p:nvPr/>
        </p:nvSpPr>
        <p:spPr>
          <a:xfrm>
            <a:off x="685800" y="173736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رتّب المحطات الست على خط زمني</a:t>
            </a:r>
          </a:p>
        </p:txBody>
      </p:sp>
      <p:sp>
        <p:nvSpPr>
          <p:cNvPr id="8" name="Oval 7"/>
          <p:cNvSpPr/>
          <p:nvPr/>
        </p:nvSpPr>
        <p:spPr>
          <a:xfrm>
            <a:off x="8069580" y="2926079"/>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2</a:t>
            </a:r>
          </a:p>
        </p:txBody>
      </p:sp>
      <p:sp>
        <p:nvSpPr>
          <p:cNvPr id="9" name="TextBox 8"/>
          <p:cNvSpPr txBox="1"/>
          <p:nvPr/>
        </p:nvSpPr>
        <p:spPr>
          <a:xfrm>
            <a:off x="685800" y="266700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بيّن بسهم العلاقة السببية بين كل محطة والتي تليها</a:t>
            </a:r>
          </a:p>
        </p:txBody>
      </p:sp>
      <p:sp>
        <p:nvSpPr>
          <p:cNvPr id="10" name="Oval 9"/>
          <p:cNvSpPr/>
          <p:nvPr/>
        </p:nvSpPr>
        <p:spPr>
          <a:xfrm>
            <a:off x="8069580" y="3855720"/>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3</a:t>
            </a:r>
          </a:p>
        </p:txBody>
      </p:sp>
      <p:sp>
        <p:nvSpPr>
          <p:cNvPr id="11" name="TextBox 10"/>
          <p:cNvSpPr txBox="1"/>
          <p:nvPr/>
        </p:nvSpPr>
        <p:spPr>
          <a:xfrm>
            <a:off x="685800" y="359664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اكتب فقرة تركيبية (5–6 أسطر) توضّح كيف مهّد كل حدث لما بعده</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خاتمة</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دروس المقرر تفاصيلُ هذه اللوحة الكبرى</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تحولات اقتصادية ← هيمنة استعمارية ← إصلاح ومقاومة وتحرر، ومنها نضال المغرب والمشرق العربي</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خاتمة:</a:t>
            </a:r>
          </a:p>
          <a:p>
            <a:pPr rtl="1" algn="r">
              <a:buNone/>
              <a:spcAft>
                <a:spcPts val="600"/>
              </a:spcAft>
            </a:pPr>
            <a:r>
              <a:rPr sz="2600" b="0" lang="ar-MA">
                <a:latin typeface="Cairo"/>
                <a:cs typeface="Cairo"/>
              </a:rPr>
              <a:t>عرف العالم الرأسمالي خلال القرنين 19 و20م سلسلة من التحولات المتداخلة بدأت بالثورة الصناعية ونمو الرأسمالية، ثم انتقلت إلى التوسع الإمبريالي والتنافس الدولي والحربين العالميتين والأزمة الاقتصادية.</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وقد أعادت هذه التحولات تشكيل موازين القوى، وفرضت الهيمنة الاستعمارية على مناطق واسعة، لكنها أثارت في المقابل حركات الإصلاح والمقاومة والتحرر، ومنها نضال المغرب والمشرق العربي من أجل الاستقلال وبناء الدولة الوطنية.</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wrap="square"/>
          <a:lstStyle/>
          <a:p>
            <a:pPr rtl="1" algn="r">
              <a:buNone/>
              <a:spcAft>
                <a:spcPts val="600"/>
              </a:spcAft>
            </a:pPr>
            <a:r>
              <a:rPr sz="4000" b="0" lang="ar-MA">
                <a:latin typeface="Cairo"/>
                <a:cs typeface="Cairo"/>
              </a:rPr>
              <a:t>شكراً لانتباهكم</a:t>
            </a:r>
          </a:p>
        </p:txBody>
      </p:sp>
    </p:spTree>
  </p:cSld>
  <p:clrMapOvr>
    <a:masterClrMapping/>
  </p:clrMapOvr>
</p:sld>
</file>

<file path=ppt/theme/theme1.xml><?xml version="1.0" encoding="utf-8"?>
<a:theme xmlns:a="http://schemas.openxmlformats.org/drawingml/2006/main" name="Bouamoud Navy Gold">
  <a:themeElements>
    <a:clrScheme name="Bouamoud Navy Gold">
      <a:dk1>
        <a:srgbClr val="1B1B1B"/>
      </a:dk1>
      <a:lt1>
        <a:srgbClr val="FFFFFF"/>
      </a:lt1>
      <a:dk2>
        <a:srgbClr val="0B2242"/>
      </a:dk2>
      <a:lt2>
        <a:srgbClr val="F7F3EA"/>
      </a:lt2>
      <a:accent1>
        <a:srgbClr val="C9A24A"/>
      </a:accent1>
      <a:accent2>
        <a:srgbClr val="0B2242"/>
      </a:accent2>
      <a:accent3>
        <a:srgbClr val="1A6FA8"/>
      </a:accent3>
      <a:accent4>
        <a:srgbClr val="E8720C"/>
      </a:accent4>
      <a:accent5>
        <a:srgbClr val="8A6D2B"/>
      </a:accent5>
      <a:accent6>
        <a:srgbClr val="5B6B82"/>
      </a:accent6>
      <a:hlink>
        <a:srgbClr val="1A6FA8"/>
      </a:hlink>
      <a:folHlink>
        <a:srgbClr val="8A6D2B"/>
      </a:folHlink>
    </a:clrScheme>
    <a:fontScheme name="Bouamoud Navy Gold">
      <a:majorFont>
        <a:latin typeface="Cai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i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قالب دروس الاجتماعيات</dc:title>
  <dc:subject>PptxGenJS Presentation</dc:subject>
  <dc:creator>أحمد بوعمود</dc:creator>
  <cp:lastModifiedBy>أحمد بوعمود</cp:lastModifiedBy>
  <cp:revision>1</cp:revision>
  <dcterms:created xsi:type="dcterms:W3CDTF">2026-10-16T14:35:24Z</dcterms:created>
  <dcterms:modified xsi:type="dcterms:W3CDTF">2026-10-16T14:35:24Z</dcterms:modified>
</cp:coreProperties>
</file>