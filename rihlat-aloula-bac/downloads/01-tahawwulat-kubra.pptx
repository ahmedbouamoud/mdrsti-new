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نموذج" id="{d326dffa-4528-c323-d390-c46a4a8ff4ad}">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غلاف الدرس">
    <p:bg>
      <p:bgPr>
        <a:solidFill>
          <a:srgbClr val="0B2242"/>
        </a:solidFill>
      </p:bgPr>
    </p:bg>
    <p:spTree>
      <p:nvGrpSpPr>
        <p:cNvPr id="1" name=""/>
        <p:cNvGrpSpPr/>
        <p:nvPr/>
      </p:nvGrpSpPr>
      <p:grpSpPr>
        <a:xfrm>
          <a:off x="0" y="0"/>
          <a:ext cx="0" cy="0"/>
          <a:chOff x="0" y="0"/>
          <a:chExt cx="0" cy="0"/>
        </a:xfrm>
      </p:grpSpPr>
      <p:pic>
        <p:nvPicPr>
          <p:cNvPr id="2" name="Image 0" descr="/tmp/claude-0/-home-claude/19570fe6-a11a-544f-81e5-5e225fe6dd19/scratchpad/ppt/badge.png">    </p:cNvPr>
          <p:cNvPicPr>
            <a:picLocks noChangeAspect="1"/>
          </p:cNvPicPr>
          <p:nvPr/>
        </p:nvPicPr>
        <p:blipFill>
          <a:blip r:embed="rId1"/>
          <a:stretch>
            <a:fillRect/>
          </a:stretch>
        </p:blipFill>
        <p:spPr>
          <a:xfrm>
            <a:off x="411480" y="548640"/>
            <a:ext cx="3840480" cy="3840480"/>
          </a:xfrm>
          <a:prstGeom prst="rect">
            <a:avLst/>
          </a:prstGeom>
        </p:spPr>
      </p:pic>
      <p:sp>
        <p:nvSpPr>
          <p:cNvPr id="3" name="Shape 0"/>
          <p:cNvSpPr/>
          <p:nvPr/>
        </p:nvSpPr>
        <p:spPr>
          <a:xfrm>
            <a:off x="4572000" y="2788920"/>
            <a:ext cx="4160520" cy="27432"/>
          </a:xfrm>
          <a:prstGeom prst="rect">
            <a:avLst/>
          </a:prstGeom>
          <a:solidFill>
            <a:srgbClr val="C9A24A"/>
          </a:solidFill>
          <a:ln/>
        </p:spPr>
      </p:sp>
      <p:sp>
        <p:nvSpPr>
          <p:cNvPr id="4" name="Text 1"/>
          <p:cNvSpPr/>
          <p:nvPr/>
        </p:nvSpPr>
        <p:spPr>
          <a:xfrm>
            <a:off x="4480560" y="4526280"/>
            <a:ext cx="4297680" cy="365760"/>
          </a:xfrm>
          <a:prstGeom prst="rect">
            <a:avLst/>
          </a:prstGeom>
          <a:noFill/>
          <a:ln/>
        </p:spPr>
        <p:txBody>
          <a:bodyPr wrap="square" rtlCol="0" anchor="ctr"/>
          <a:lstStyle/>
          <a:p>
            <a:pPr algn="r" indent="0" marL="0">
              <a:buNone/>
            </a:pPr>
            <a:r>
              <a:rPr lang="en-US" sz="1300" dirty="0">
                <a:solidFill>
                  <a:srgbClr val="C9A24A"/>
                </a:solidFill>
              </a:rPr>
              <a:t>ذ. أحمد بوعمود — مؤسسة الحنان الخاصة | ⁦2026-2027⁩</a:t>
            </a:r>
            <a:endParaRPr lang="en-US" sz="1300" dirty="0"/>
          </a:p>
        </p:txBody>
      </p:sp>
      <p:sp>
        <p:nvSpPr>
          <p:cNvPr id="5" name="Text 2"/>
          <p:cNvSpPr/>
          <p:nvPr>
            <p:ph idx="103" type="body" hasCustomPrompt="1"/>
          </p:nvPr>
        </p:nvSpPr>
        <p:spPr>
          <a:xfrm>
            <a:off x="4572000" y="685800"/>
            <a:ext cx="4160520" cy="502920"/>
          </a:xfrm>
          <a:prstGeom prst="rect">
            <a:avLst/>
          </a:prstGeom>
          <a:noFill/>
          <a:ln/>
        </p:spPr>
        <p:txBody>
          <a:bodyPr wrap="square" rtlCol="0"/>
          <a:lstStyle>
            <a:lvl1pPr rtl="1" algn="r" indent="0" marL="0">
              <a:buNone/>
              <a:defRPr lang="en-US" sz="2000" b="1" dirty="0">
                <a:solidFill>
                  <a:srgbClr val="C9A24A"/>
                </a:solidFill>
              </a:defRPr>
            </a:lvl1pPr>
          </a:lstStyle>
          <a:p>
            <a:pPr algn="r" indent="0" marL="0">
              <a:buNone/>
            </a:pPr>
            <a:r>
              <a:rPr lang="en-US" sz="2000" b="1" dirty="0">
                <a:solidFill>
                  <a:srgbClr val="C9A24A"/>
                </a:solidFill>
              </a:rPr>
              <a:t>المستوى | المكوّن</a:t>
            </a:r>
            <a:endParaRPr lang="en-US" sz="2000" dirty="0"/>
          </a:p>
        </p:txBody>
      </p:sp>
      <p:sp>
        <p:nvSpPr>
          <p:cNvPr id="6" name="Text 2"/>
          <p:cNvSpPr/>
          <p:nvPr>
            <p:ph idx="104" type="title" hasCustomPrompt="1"/>
          </p:nvPr>
        </p:nvSpPr>
        <p:spPr>
          <a:xfrm>
            <a:off x="4572000" y="1188720"/>
            <a:ext cx="4160520" cy="1554480"/>
          </a:xfrm>
          <a:prstGeom prst="rect">
            <a:avLst/>
          </a:prstGeom>
          <a:noFill/>
          <a:ln/>
        </p:spPr>
        <p:txBody>
          <a:bodyPr wrap="square" rtlCol="0"/>
          <a:lstStyle>
            <a:lvl1pPr rtl="1" algn="r" indent="0" marL="0">
              <a:buNone/>
              <a:defRPr lang="en-US" sz="4000" b="1" dirty="0">
                <a:solidFill>
                  <a:srgbClr val="FFFFFF"/>
                </a:solidFill>
              </a:defRPr>
            </a:lvl1pPr>
          </a:lstStyle>
          <a:p>
            <a:pPr algn="r" indent="0" marL="0">
              <a:buNone/>
            </a:pPr>
            <a:r>
              <a:rPr lang="en-US" sz="4000" b="1" dirty="0">
                <a:solidFill>
                  <a:srgbClr val="FFFFFF"/>
                </a:solidFill>
              </a:rPr>
              <a:t>عنوان الدرس</a:t>
            </a:r>
            <a:endParaRPr lang="en-US" sz="4000" dirty="0"/>
          </a:p>
        </p:txBody>
      </p:sp>
      <p:sp>
        <p:nvSpPr>
          <p:cNvPr id="7" name="Text 2"/>
          <p:cNvSpPr/>
          <p:nvPr>
            <p:ph idx="105" type="body" hasCustomPrompt="1"/>
          </p:nvPr>
        </p:nvSpPr>
        <p:spPr>
          <a:xfrm>
            <a:off x="4572000" y="2926080"/>
            <a:ext cx="4160520" cy="1188720"/>
          </a:xfrm>
          <a:prstGeom prst="rect">
            <a:avLst/>
          </a:prstGeom>
          <a:noFill/>
          <a:ln/>
        </p:spPr>
        <p:txBody>
          <a:bodyPr wrap="square" rtlCol="0"/>
          <a:lstStyle>
            <a:lvl1pPr rtl="1" algn="r" indent="0" marL="0">
              <a:buNone/>
              <a:defRPr lang="en-US" sz="2000" dirty="0">
                <a:solidFill>
                  <a:srgbClr val="DCE3EE"/>
                </a:solidFill>
              </a:defRPr>
            </a:lvl1pPr>
          </a:lstStyle>
          <a:p>
            <a:pPr algn="r" indent="0" marL="0">
              <a:buNone/>
            </a:pPr>
            <a:r>
              <a:rPr lang="en-US" sz="2000" dirty="0">
                <a:solidFill>
                  <a:srgbClr val="DCE3EE"/>
                </a:solidFill>
              </a:rPr>
              <a:t>الوحدة أو الإشكالية</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محور">
    <p:bg>
      <p:bgPr>
        <a:solidFill>
          <a:srgbClr val="0B2242"/>
        </a:solidFill>
      </p:bgPr>
    </p:bg>
    <p:spTree>
      <p:nvGrpSpPr>
        <p:cNvPr id="1" name=""/>
        <p:cNvGrpSpPr/>
        <p:nvPr/>
      </p:nvGrpSpPr>
      <p:grpSpPr>
        <a:xfrm>
          <a:off x="0" y="0"/>
          <a:ext cx="0" cy="0"/>
          <a:chOff x="0" y="0"/>
          <a:chExt cx="0" cy="0"/>
        </a:xfrm>
      </p:grpSpPr>
      <p:pic>
        <p:nvPicPr>
          <p:cNvPr id="2" name="Image 0" descr="/tmp/claude-0/-home-claude/19570fe6-a11a-544f-81e5-5e225fe6dd19/scratchpad/ppt/icon.png">    </p:cNvPr>
          <p:cNvPicPr>
            <a:picLocks noChangeAspect="1"/>
          </p:cNvPicPr>
          <p:nvPr/>
        </p:nvPicPr>
        <p:blipFill>
          <a:blip r:embed="rId1"/>
          <a:stretch>
            <a:fillRect/>
          </a:stretch>
        </p:blipFill>
        <p:spPr>
          <a:xfrm>
            <a:off x="411480" y="4160520"/>
            <a:ext cx="685800" cy="685800"/>
          </a:xfrm>
          <a:prstGeom prst="rect">
            <a:avLst/>
          </a:prstGeom>
        </p:spPr>
      </p:pic>
      <p:sp>
        <p:nvSpPr>
          <p:cNvPr id="3" name="Text 0"/>
          <p:cNvSpPr/>
          <p:nvPr>
            <p:ph idx="101" type="body" hasCustomPrompt="1"/>
          </p:nvPr>
        </p:nvSpPr>
        <p:spPr>
          <a:xfrm>
            <a:off x="6035040" y="914400"/>
            <a:ext cx="2697480" cy="1463040"/>
          </a:xfrm>
          <a:prstGeom prst="rect">
            <a:avLst/>
          </a:prstGeom>
          <a:noFill/>
          <a:ln/>
        </p:spPr>
        <p:txBody>
          <a:bodyPr wrap="square" rtlCol="0"/>
          <a:lstStyle>
            <a:lvl1pPr rtl="1" algn="r" indent="0" marL="0">
              <a:buNone/>
              <a:defRPr lang="en-US" sz="9600" b="1" dirty="0">
                <a:solidFill>
                  <a:srgbClr val="C9A24A"/>
                </a:solidFill>
              </a:defRPr>
            </a:lvl1pPr>
          </a:lstStyle>
          <a:p>
            <a:pPr algn="r" indent="0" marL="0">
              <a:buNone/>
            </a:pPr>
            <a:r>
              <a:rPr lang="en-US" sz="9600" b="1" dirty="0">
                <a:solidFill>
                  <a:srgbClr val="C9A24A"/>
                </a:solidFill>
              </a:rPr>
              <a:t>1</a:t>
            </a:r>
            <a:endParaRPr lang="en-US" sz="9600" dirty="0"/>
          </a:p>
        </p:txBody>
      </p:sp>
      <p:sp>
        <p:nvSpPr>
          <p:cNvPr id="4" name="Text 0"/>
          <p:cNvSpPr/>
          <p:nvPr>
            <p:ph idx="102" type="title" hasCustomPrompt="1"/>
          </p:nvPr>
        </p:nvSpPr>
        <p:spPr>
          <a:xfrm>
            <a:off x="914400" y="2423160"/>
            <a:ext cx="7818120" cy="1463040"/>
          </a:xfrm>
          <a:prstGeom prst="rect">
            <a:avLst/>
          </a:prstGeom>
          <a:noFill/>
          <a:ln/>
        </p:spPr>
        <p:txBody>
          <a:bodyPr wrap="square" rtlCol="0"/>
          <a:lstStyle>
            <a:lvl1pPr rtl="1" algn="r" indent="0" marL="0">
              <a:buNone/>
              <a:defRPr lang="en-US" sz="4000" b="1" dirty="0">
                <a:solidFill>
                  <a:srgbClr val="FFFFFF"/>
                </a:solidFill>
              </a:defRPr>
            </a:lvl1pPr>
          </a:lstStyle>
          <a:p>
            <a:pPr algn="r" indent="0" marL="0">
              <a:buNone/>
            </a:pPr>
            <a:r>
              <a:rPr lang="en-US" sz="4000" b="1" dirty="0">
                <a:solidFill>
                  <a:srgbClr val="FFFFFF"/>
                </a:solidFill>
              </a:rPr>
              <a:t>عنوان المحور</a:t>
            </a: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شرح">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242"/>
          </a:solidFill>
          <a:ln/>
        </p:spPr>
      </p:sp>
      <p:pic>
        <p:nvPicPr>
          <p:cNvPr id="3" name="Image 0" descr="/tmp/claude-0/-home-claude/19570fe6-a11a-544f-81e5-5e225fe6dd19/scratchpad/ppt/icon.png">    </p:cNvPr>
          <p:cNvPicPr>
            <a:picLocks noChangeAspect="1"/>
          </p:cNvPicPr>
          <p:nvPr/>
        </p:nvPicPr>
        <p:blipFill>
          <a:blip r:embed="rId1"/>
          <a:stretch>
            <a:fillRect/>
          </a:stretch>
        </p:blipFill>
        <p:spPr>
          <a:xfrm>
            <a:off x="274320" y="109728"/>
            <a:ext cx="731520" cy="731520"/>
          </a:xfrm>
          <a:prstGeom prst="rect">
            <a:avLst/>
          </a:prstGeom>
        </p:spPr>
      </p:pic>
      <p:sp>
        <p:nvSpPr>
          <p:cNvPr id="4" name="Text 1"/>
          <p:cNvSpPr/>
          <p:nvPr/>
        </p:nvSpPr>
        <p:spPr>
          <a:xfrm>
            <a:off x="365760" y="4754880"/>
            <a:ext cx="5943600" cy="274320"/>
          </a:xfrm>
          <a:prstGeom prst="rect">
            <a:avLst/>
          </a:prstGeom>
          <a:noFill/>
          <a:ln/>
        </p:spPr>
        <p:txBody>
          <a:bodyPr wrap="square" rtlCol="0" anchor="ctr"/>
          <a:lstStyle/>
          <a:p>
            <a:pPr algn="l" indent="0" marL="0">
              <a:buNone/>
            </a:pPr>
            <a:r>
              <a:rPr lang="en-US" sz="1100" dirty="0">
                <a:solidFill>
                  <a:srgbClr val="5B6B82"/>
                </a:solidFill>
              </a:rPr>
              <a:t>ذ. أحمد بوعمود — مؤسسة الحنان الخاصة | ⁦2026-2027⁩</a:t>
            </a:r>
            <a:endParaRPr lang="en-US" sz="1100" dirty="0"/>
          </a:p>
        </p:txBody>
      </p:sp>
      <p:sp>
        <p:nvSpPr>
          <p:cNvPr id="5" name="Text 2"/>
          <p:cNvSpPr/>
          <p:nvPr>
            <p:ph idx="103" type="title" hasCustomPrompt="1"/>
          </p:nvPr>
        </p:nvSpPr>
        <p:spPr>
          <a:xfrm>
            <a:off x="1188720" y="109728"/>
            <a:ext cx="7589520" cy="731520"/>
          </a:xfrm>
          <a:prstGeom prst="rect">
            <a:avLst/>
          </a:prstGeom>
          <a:noFill/>
          <a:ln/>
        </p:spPr>
        <p:txBody>
          <a:bodyPr wrap="square" rtlCol="0"/>
          <a:lstStyle>
            <a:lvl1pPr rtl="1" algn="r" indent="0" marL="0">
              <a:buNone/>
              <a:defRPr lang="en-US" sz="3200" b="1" dirty="0">
                <a:solidFill>
                  <a:srgbClr val="FFFFFF"/>
                </a:solidFill>
              </a:defRPr>
            </a:lvl1pPr>
          </a:lstStyle>
          <a:p>
            <a:pPr algn="r" indent="0" marL="0">
              <a:buNone/>
            </a:pPr>
            <a:r>
              <a:rPr lang="en-US" sz="3200" b="1" dirty="0">
                <a:solidFill>
                  <a:srgbClr val="FFFFFF"/>
                </a:solidFill>
              </a:rPr>
              <a:t>عنوان الشريحة</a:t>
            </a:r>
            <a:endParaRPr lang="en-US" sz="3200" dirty="0"/>
          </a:p>
        </p:txBody>
      </p:sp>
      <p:sp>
        <p:nvSpPr>
          <p:cNvPr id="6" name="Text 2"/>
          <p:cNvSpPr/>
          <p:nvPr>
            <p:ph idx="104" type="body" hasCustomPrompt="1"/>
          </p:nvPr>
        </p:nvSpPr>
        <p:spPr>
          <a:xfrm>
            <a:off x="457200" y="1188720"/>
            <a:ext cx="8229600" cy="3474720"/>
          </a:xfrm>
          <a:prstGeom prst="rect">
            <a:avLst/>
          </a:prstGeom>
          <a:noFill/>
          <a:ln/>
        </p:spPr>
        <p:txBody>
          <a:bodyPr wrap="square" rtlCol="0"/>
          <a:lstStyle>
            <a:lvl1pPr rtl="1" algn="r" indent="0" marL="0">
              <a:spcAft>
                <a:spcPts val="800"/>
              </a:spcAft>
              <a:buNone/>
              <a:defRPr lang="en-US" sz="2600" dirty="0">
                <a:solidFill>
                  <a:srgbClr val="1B1B1B"/>
                </a:solidFill>
              </a:defRPr>
            </a:lvl1pPr>
          </a:lstStyle>
          <a:p>
            <a:pPr algn="r" indent="0" marL="0">
              <a:spcAft>
                <a:spcPts val="800"/>
              </a:spcAft>
              <a:buNone/>
            </a:pPr>
            <a:r>
              <a:rPr lang="en-US" sz="2600" dirty="0">
                <a:solidFill>
                  <a:srgbClr val="1B1B1B"/>
                </a:solidFill>
              </a:rPr>
              <a:t>نص الشرح</a:t>
            </a:r>
            <a:endParaRPr lang="en-US" sz="2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82"/>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أكتب في دفتري">
    <p:bg>
      <p:bgPr>
        <a:solidFill>
          <a:srgbClr val="FFFDF7"/>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9A24A"/>
          </a:solidFill>
          <a:ln/>
        </p:spPr>
      </p:sp>
      <p:sp>
        <p:nvSpPr>
          <p:cNvPr id="3" name="Shape 1"/>
          <p:cNvSpPr/>
          <p:nvPr/>
        </p:nvSpPr>
        <p:spPr>
          <a:xfrm>
            <a:off x="8458200" y="960120"/>
            <a:ext cx="0" cy="4183380"/>
          </a:xfrm>
          <a:prstGeom prst="line">
            <a:avLst/>
          </a:prstGeom>
          <a:noFill/>
          <a:ln w="19050">
            <a:solidFill>
              <a:srgbClr val="E8A0A0"/>
            </a:solidFill>
            <a:prstDash val="solid"/>
          </a:ln>
        </p:spPr>
      </p:sp>
      <p:sp>
        <p:nvSpPr>
          <p:cNvPr id="4" name="Shape 2"/>
          <p:cNvSpPr/>
          <p:nvPr/>
        </p:nvSpPr>
        <p:spPr>
          <a:xfrm>
            <a:off x="548640" y="1572768"/>
            <a:ext cx="8046720" cy="0"/>
          </a:xfrm>
          <a:prstGeom prst="line">
            <a:avLst/>
          </a:prstGeom>
          <a:noFill/>
          <a:ln w="12700">
            <a:solidFill>
              <a:srgbClr val="C9D6E8"/>
            </a:solidFill>
            <a:prstDash val="solid"/>
          </a:ln>
        </p:spPr>
      </p:sp>
      <p:sp>
        <p:nvSpPr>
          <p:cNvPr id="5" name="Shape 3"/>
          <p:cNvSpPr/>
          <p:nvPr/>
        </p:nvSpPr>
        <p:spPr>
          <a:xfrm>
            <a:off x="548640" y="1993392"/>
            <a:ext cx="8046720" cy="0"/>
          </a:xfrm>
          <a:prstGeom prst="line">
            <a:avLst/>
          </a:prstGeom>
          <a:noFill/>
          <a:ln w="12700">
            <a:solidFill>
              <a:srgbClr val="C9D6E8"/>
            </a:solidFill>
            <a:prstDash val="solid"/>
          </a:ln>
        </p:spPr>
      </p:sp>
      <p:sp>
        <p:nvSpPr>
          <p:cNvPr id="6" name="Shape 4"/>
          <p:cNvSpPr/>
          <p:nvPr/>
        </p:nvSpPr>
        <p:spPr>
          <a:xfrm>
            <a:off x="548640" y="2414016"/>
            <a:ext cx="8046720" cy="0"/>
          </a:xfrm>
          <a:prstGeom prst="line">
            <a:avLst/>
          </a:prstGeom>
          <a:noFill/>
          <a:ln w="12700">
            <a:solidFill>
              <a:srgbClr val="C9D6E8"/>
            </a:solidFill>
            <a:prstDash val="solid"/>
          </a:ln>
        </p:spPr>
      </p:sp>
      <p:sp>
        <p:nvSpPr>
          <p:cNvPr id="7" name="Shape 5"/>
          <p:cNvSpPr/>
          <p:nvPr/>
        </p:nvSpPr>
        <p:spPr>
          <a:xfrm>
            <a:off x="548640" y="2834640"/>
            <a:ext cx="8046720" cy="0"/>
          </a:xfrm>
          <a:prstGeom prst="line">
            <a:avLst/>
          </a:prstGeom>
          <a:noFill/>
          <a:ln w="12700">
            <a:solidFill>
              <a:srgbClr val="C9D6E8"/>
            </a:solidFill>
            <a:prstDash val="solid"/>
          </a:ln>
        </p:spPr>
      </p:sp>
      <p:sp>
        <p:nvSpPr>
          <p:cNvPr id="8" name="Shape 6"/>
          <p:cNvSpPr/>
          <p:nvPr/>
        </p:nvSpPr>
        <p:spPr>
          <a:xfrm>
            <a:off x="548640" y="3255264"/>
            <a:ext cx="8046720" cy="0"/>
          </a:xfrm>
          <a:prstGeom prst="line">
            <a:avLst/>
          </a:prstGeom>
          <a:noFill/>
          <a:ln w="12700">
            <a:solidFill>
              <a:srgbClr val="C9D6E8"/>
            </a:solidFill>
            <a:prstDash val="solid"/>
          </a:ln>
        </p:spPr>
      </p:sp>
      <p:sp>
        <p:nvSpPr>
          <p:cNvPr id="9" name="Shape 7"/>
          <p:cNvSpPr/>
          <p:nvPr/>
        </p:nvSpPr>
        <p:spPr>
          <a:xfrm>
            <a:off x="548640" y="3675888"/>
            <a:ext cx="8046720" cy="0"/>
          </a:xfrm>
          <a:prstGeom prst="line">
            <a:avLst/>
          </a:prstGeom>
          <a:noFill/>
          <a:ln w="12700">
            <a:solidFill>
              <a:srgbClr val="C9D6E8"/>
            </a:solidFill>
            <a:prstDash val="solid"/>
          </a:ln>
        </p:spPr>
      </p:sp>
      <p:sp>
        <p:nvSpPr>
          <p:cNvPr id="10" name="Shape 8"/>
          <p:cNvSpPr/>
          <p:nvPr/>
        </p:nvSpPr>
        <p:spPr>
          <a:xfrm>
            <a:off x="548640" y="4096512"/>
            <a:ext cx="8046720" cy="0"/>
          </a:xfrm>
          <a:prstGeom prst="line">
            <a:avLst/>
          </a:prstGeom>
          <a:noFill/>
          <a:ln w="12700">
            <a:solidFill>
              <a:srgbClr val="C9D6E8"/>
            </a:solidFill>
            <a:prstDash val="solid"/>
          </a:ln>
        </p:spPr>
      </p:sp>
      <p:sp>
        <p:nvSpPr>
          <p:cNvPr id="11" name="Shape 9"/>
          <p:cNvSpPr/>
          <p:nvPr/>
        </p:nvSpPr>
        <p:spPr>
          <a:xfrm>
            <a:off x="548640" y="4517136"/>
            <a:ext cx="8046720" cy="0"/>
          </a:xfrm>
          <a:prstGeom prst="line">
            <a:avLst/>
          </a:prstGeom>
          <a:noFill/>
          <a:ln w="12700">
            <a:solidFill>
              <a:srgbClr val="C9D6E8"/>
            </a:solidFill>
            <a:prstDash val="solid"/>
          </a:ln>
        </p:spPr>
      </p:sp>
      <p:pic>
        <p:nvPicPr>
          <p:cNvPr id="12" name="Image 0" descr="/tmp/claude-0/-home-claude/19570fe6-a11a-544f-81e5-5e225fe6dd19/scratchpad/ppt/icon.png">    </p:cNvPr>
          <p:cNvPicPr>
            <a:picLocks noChangeAspect="1"/>
          </p:cNvPicPr>
          <p:nvPr/>
        </p:nvPicPr>
        <p:blipFill>
          <a:blip r:embed="rId1"/>
          <a:stretch>
            <a:fillRect/>
          </a:stretch>
        </p:blipFill>
        <p:spPr>
          <a:xfrm>
            <a:off x="274320" y="109728"/>
            <a:ext cx="731520" cy="731520"/>
          </a:xfrm>
          <a:prstGeom prst="rect">
            <a:avLst/>
          </a:prstGeom>
        </p:spPr>
      </p:pic>
      <p:sp>
        <p:nvSpPr>
          <p:cNvPr id="13" name="Text 10"/>
          <p:cNvSpPr/>
          <p:nvPr/>
        </p:nvSpPr>
        <p:spPr>
          <a:xfrm>
            <a:off x="3200400" y="109728"/>
            <a:ext cx="5577840" cy="731520"/>
          </a:xfrm>
          <a:prstGeom prst="rect">
            <a:avLst/>
          </a:prstGeom>
          <a:noFill/>
          <a:ln/>
        </p:spPr>
        <p:txBody>
          <a:bodyPr wrap="square" lIns="0" tIns="0" rIns="0" bIns="0" rtlCol="0" anchor="ctr"/>
          <a:lstStyle/>
          <a:p>
            <a:pPr algn="r" indent="0" marL="0">
              <a:buNone/>
            </a:pPr>
            <a:r>
              <a:rPr lang="en-US" sz="3400" b="1" dirty="0">
                <a:solidFill>
                  <a:srgbClr val="0B2242"/>
                </a:solidFill>
              </a:rPr>
              <a:t>✍  أكتب في دفتري</a:t>
            </a:r>
            <a:endParaRPr lang="en-US" sz="3400" dirty="0"/>
          </a:p>
        </p:txBody>
      </p:sp>
      <p:sp>
        <p:nvSpPr>
          <p:cNvPr id="14" name="Text 11"/>
          <p:cNvSpPr/>
          <p:nvPr/>
        </p:nvSpPr>
        <p:spPr>
          <a:xfrm>
            <a:off x="365760" y="4754880"/>
            <a:ext cx="5943600" cy="274320"/>
          </a:xfrm>
          <a:prstGeom prst="rect">
            <a:avLst/>
          </a:prstGeom>
          <a:noFill/>
          <a:ln/>
        </p:spPr>
        <p:txBody>
          <a:bodyPr wrap="square" rtlCol="0" anchor="ctr"/>
          <a:lstStyle/>
          <a:p>
            <a:pPr algn="l" indent="0" marL="0">
              <a:buNone/>
            </a:pPr>
            <a:r>
              <a:rPr lang="en-US" sz="1100" dirty="0">
                <a:solidFill>
                  <a:srgbClr val="5B6B82"/>
                </a:solidFill>
              </a:rPr>
              <a:t>ذ. أحمد بوعمود — مؤسسة الحنان الخاصة | ⁦2026-2027⁩</a:t>
            </a:r>
            <a:endParaRPr lang="en-US" sz="1100" dirty="0"/>
          </a:p>
        </p:txBody>
      </p:sp>
      <p:sp>
        <p:nvSpPr>
          <p:cNvPr id="15" name="Text 12"/>
          <p:cNvSpPr/>
          <p:nvPr>
            <p:ph idx="113" type="body" hasCustomPrompt="1"/>
          </p:nvPr>
        </p:nvSpPr>
        <p:spPr>
          <a:xfrm>
            <a:off x="548640" y="1188720"/>
            <a:ext cx="7772400" cy="3520440"/>
          </a:xfrm>
          <a:prstGeom prst="rect">
            <a:avLst/>
          </a:prstGeom>
          <a:noFill/>
          <a:ln/>
        </p:spPr>
        <p:txBody>
          <a:bodyPr wrap="square" rtlCol="0"/>
          <a:lstStyle>
            <a:lvl1pPr rtl="1" algn="r" indent="0" marL="0">
              <a:lnSpc>
                <a:spcPct val="115000"/>
              </a:lnSpc>
              <a:buNone/>
              <a:defRPr lang="en-US" sz="2600" dirty="0">
                <a:solidFill>
                  <a:srgbClr val="0B2242"/>
                </a:solidFill>
              </a:defRPr>
            </a:lvl1pPr>
          </a:lstStyle>
          <a:p>
            <a:pPr algn="r" indent="0" marL="0">
              <a:lnSpc>
                <a:spcPct val="115000"/>
              </a:lnSpc>
              <a:buNone/>
            </a:pPr>
            <a:r>
              <a:rPr lang="en-US" sz="2600" dirty="0">
                <a:solidFill>
                  <a:srgbClr val="0B2242"/>
                </a:solidFill>
              </a:rPr>
              <a:t>الفقرة المنقولة من الدرس كما هي</a:t>
            </a:r>
            <a:endParaRPr lang="en-US" sz="2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ختام">
    <p:bg>
      <p:bgPr>
        <a:solidFill>
          <a:srgbClr val="0B2242"/>
        </a:solidFill>
      </p:bgPr>
    </p:bg>
    <p:spTree>
      <p:nvGrpSpPr>
        <p:cNvPr id="1" name=""/>
        <p:cNvGrpSpPr/>
        <p:nvPr/>
      </p:nvGrpSpPr>
      <p:grpSpPr>
        <a:xfrm>
          <a:off x="0" y="0"/>
          <a:ext cx="0" cy="0"/>
          <a:chOff x="0" y="0"/>
          <a:chExt cx="0" cy="0"/>
        </a:xfrm>
      </p:grpSpPr>
      <p:pic>
        <p:nvPicPr>
          <p:cNvPr id="2" name="Image 0" descr="/tmp/claude-0/-home-claude/19570fe6-a11a-544f-81e5-5e225fe6dd19/scratchpad/ppt/logo-light.png">    </p:cNvPr>
          <p:cNvPicPr>
            <a:picLocks noChangeAspect="1"/>
          </p:cNvPicPr>
          <p:nvPr/>
        </p:nvPicPr>
        <p:blipFill>
          <a:blip r:embed="rId1"/>
          <a:stretch>
            <a:fillRect/>
          </a:stretch>
        </p:blipFill>
        <p:spPr>
          <a:xfrm>
            <a:off x="3337560" y="411480"/>
            <a:ext cx="2468880" cy="2468880"/>
          </a:xfrm>
          <a:prstGeom prst="rect">
            <a:avLst/>
          </a:prstGeom>
        </p:spPr>
      </p:pic>
      <p:sp>
        <p:nvSpPr>
          <p:cNvPr id="3" name="Text 0"/>
          <p:cNvSpPr/>
          <p:nvPr/>
        </p:nvSpPr>
        <p:spPr>
          <a:xfrm>
            <a:off x="914400" y="4434840"/>
            <a:ext cx="7315200" cy="365760"/>
          </a:xfrm>
          <a:prstGeom prst="rect">
            <a:avLst/>
          </a:prstGeom>
          <a:noFill/>
          <a:ln/>
        </p:spPr>
        <p:txBody>
          <a:bodyPr wrap="square" rtlCol="0" anchor="ctr"/>
          <a:lstStyle/>
          <a:p>
            <a:pPr algn="ctr" indent="0" marL="0">
              <a:buNone/>
            </a:pPr>
            <a:r>
              <a:rPr lang="en-US" sz="1400" dirty="0">
                <a:solidFill>
                  <a:srgbClr val="C9A24A"/>
                </a:solidFill>
              </a:rPr>
              <a:t>ذ. أحمد بوعمود — مؤسسة الحنان الخاصة | ⁦2026-2027⁩</a:t>
            </a:r>
            <a:endParaRPr lang="en-US" sz="1400" dirty="0"/>
          </a:p>
        </p:txBody>
      </p:sp>
      <p:sp>
        <p:nvSpPr>
          <p:cNvPr id="4" name="Text 1"/>
          <p:cNvSpPr/>
          <p:nvPr>
            <p:ph idx="102" type="title" hasCustomPrompt="1"/>
          </p:nvPr>
        </p:nvSpPr>
        <p:spPr>
          <a:xfrm>
            <a:off x="914400" y="3017520"/>
            <a:ext cx="7315200" cy="914400"/>
          </a:xfrm>
          <a:prstGeom prst="rect">
            <a:avLst/>
          </a:prstGeom>
          <a:noFill/>
          <a:ln/>
        </p:spPr>
        <p:txBody>
          <a:bodyPr wrap="square" rtlCol="0"/>
          <a:lstStyle>
            <a:lvl1pPr rtl="1" algn="ctr" indent="0" marL="0">
              <a:buNone/>
              <a:defRPr lang="en-US" sz="4000" b="1" dirty="0">
                <a:solidFill>
                  <a:srgbClr val="FFFFFF"/>
                </a:solidFill>
              </a:defRPr>
            </a:lvl1pPr>
          </a:lstStyle>
          <a:p>
            <a:pPr algn="ctr" indent="0" marL="0">
              <a:buNone/>
            </a:pPr>
            <a:r>
              <a:rPr lang="en-US" sz="4000" b="1" dirty="0">
                <a:solidFill>
                  <a:srgbClr val="FFFFFF"/>
                </a:solidFill>
              </a:rPr>
              <a:t>شكراً لانتباهكم</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8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3"/>
          </p:nvPr>
        </p:nvSpPr>
        <p:spPr/>
        <p:txBody>
          <a:bodyPr wrap="square"/>
          <a:lstStyle/>
          <a:p>
            <a:pPr rtl="1" algn="r">
              <a:buNone/>
              <a:spcAft>
                <a:spcPts val="600"/>
              </a:spcAft>
            </a:pPr>
            <a:r>
              <a:rPr sz="2000" b="0" lang="ar-MA">
                <a:latin typeface="Cairo"/>
                <a:cs typeface="Cairo"/>
              </a:rPr>
              <a:t>الأولى باكالوريا | التاريخ</a:t>
            </a:r>
          </a:p>
        </p:txBody>
      </p:sp>
      <p:sp>
        <p:nvSpPr>
          <p:cNvPr id="3" name="Title 2"/>
          <p:cNvSpPr>
            <a:spLocks noGrp="1"/>
          </p:cNvSpPr>
          <p:nvPr>
            <p:ph type="title" idx="104"/>
          </p:nvPr>
        </p:nvSpPr>
        <p:spPr/>
        <p:txBody>
          <a:bodyPr wrap="square"/>
          <a:lstStyle/>
          <a:p>
            <a:pPr rtl="1" algn="r">
              <a:buNone/>
              <a:spcAft>
                <a:spcPts val="600"/>
              </a:spcAft>
            </a:pPr>
            <a:r>
              <a:rPr sz="2600" b="0" lang="ar-MA">
                <a:latin typeface="Cairo"/>
                <a:cs typeface="Cairo"/>
              </a:rPr>
              <a:t>التحولات الكبرى بالعالم الرأسمالي وانعكاساتها خلال القرنين 19 و20م</a:t>
            </a:r>
          </a:p>
        </p:txBody>
      </p:sp>
      <p:sp>
        <p:nvSpPr>
          <p:cNvPr id="4" name="Text Placeholder 3"/>
          <p:cNvSpPr>
            <a:spLocks noGrp="1"/>
          </p:cNvSpPr>
          <p:nvPr>
            <p:ph type="body" idx="105"/>
          </p:nvPr>
        </p:nvSpPr>
        <p:spPr/>
        <p:txBody>
          <a:bodyPr wrap="square"/>
          <a:lstStyle/>
          <a:p>
            <a:pPr rtl="1" algn="r">
              <a:buNone/>
              <a:spcAft>
                <a:spcPts val="600"/>
              </a:spcAft>
            </a:pPr>
            <a:r>
              <a:rPr sz="1800" b="0" lang="ar-MA">
                <a:latin typeface="Cairo"/>
                <a:cs typeface="Cairo"/>
              </a:rPr>
              <a:t>الإشكالية: ما مظاهر التحولات الكبرى التي عرفها العالم الرأسمالي خلال القرنين 19 و20م؟ وما أهم انعكاساتها على باقي مناطق العالم؟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مدخل</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قرنان غيّرا وجه العالم</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من الآلة البخارية إلى استقلال الشعوب: أحداث مترابطة يفسّر بعضها بعضًا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لماذا نبدأ بالتقديم العام؟</a:t>
            </a:r>
          </a:p>
        </p:txBody>
      </p:sp>
      <p:sp>
        <p:nvSpPr>
          <p:cNvPr id="3" name="Rounded Rectangle 2"/>
          <p:cNvSpPr/>
          <p:nvPr/>
        </p:nvSpPr>
        <p:spPr>
          <a:xfrm>
            <a:off x="6068568"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22792" y="1097280"/>
            <a:ext cx="109728" cy="3520439"/>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05728"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1F6F78"/>
                </a:solidFill>
                <a:latin typeface="Cairo"/>
                <a:cs typeface="Cairo"/>
              </a:rPr>
              <a:t>مفتاح المقرر</a:t>
            </a:r>
          </a:p>
        </p:txBody>
      </p:sp>
      <p:sp>
        <p:nvSpPr>
          <p:cNvPr id="6" name="TextBox 5"/>
          <p:cNvSpPr txBox="1"/>
          <p:nvPr/>
        </p:nvSpPr>
        <p:spPr>
          <a:xfrm>
            <a:off x="6205728" y="2606039"/>
            <a:ext cx="2298192" cy="1965960"/>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يؤطّر دروس السنة كلها في نسق واحد</a:t>
            </a:r>
          </a:p>
        </p:txBody>
      </p:sp>
      <p:sp>
        <p:nvSpPr>
          <p:cNvPr id="7" name="Rounded Rectangle 6"/>
          <p:cNvSpPr/>
          <p:nvPr/>
        </p:nvSpPr>
        <p:spPr>
          <a:xfrm>
            <a:off x="3240023"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794248" y="1097280"/>
            <a:ext cx="109728" cy="3520439"/>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77183"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8C2F39"/>
                </a:solidFill>
                <a:latin typeface="Cairo"/>
                <a:cs typeface="Cairo"/>
              </a:rPr>
              <a:t>الصورة الكبرى</a:t>
            </a:r>
          </a:p>
        </p:txBody>
      </p:sp>
      <p:sp>
        <p:nvSpPr>
          <p:cNvPr id="10" name="TextBox 9"/>
          <p:cNvSpPr txBox="1"/>
          <p:nvPr/>
        </p:nvSpPr>
        <p:spPr>
          <a:xfrm>
            <a:off x="3377183" y="2606039"/>
            <a:ext cx="2298192" cy="1965960"/>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نرى اللوحة كاملة قبل الدخول في التفاصيل</a:t>
            </a:r>
          </a:p>
        </p:txBody>
      </p:sp>
      <p:sp>
        <p:nvSpPr>
          <p:cNvPr id="11" name="Rounded Rectangle 10"/>
          <p:cNvSpPr/>
          <p:nvPr/>
        </p:nvSpPr>
        <p:spPr>
          <a:xfrm>
            <a:off x="411479"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65703" y="1097280"/>
            <a:ext cx="109728" cy="3520439"/>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39"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4F7A3A"/>
                </a:solidFill>
                <a:latin typeface="Cairo"/>
                <a:cs typeface="Cairo"/>
              </a:rPr>
              <a:t>موقع كل درس</a:t>
            </a:r>
          </a:p>
        </p:txBody>
      </p:sp>
      <p:sp>
        <p:nvSpPr>
          <p:cNvPr id="14" name="TextBox 13"/>
          <p:cNvSpPr txBox="1"/>
          <p:nvPr/>
        </p:nvSpPr>
        <p:spPr>
          <a:xfrm>
            <a:off x="548639" y="2606039"/>
            <a:ext cx="2298192" cy="1965960"/>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نعرف أين يقع كل درس داخل السياق العام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1" lang="ar-MA">
                <a:solidFill>
                  <a:srgbClr val="0B2242"/>
                </a:solidFill>
                <a:latin typeface="Cairo"/>
                <a:cs typeface="Cairo"/>
              </a:rPr>
              <a:t>المقدمة:</a:t>
            </a:r>
          </a:p>
          <a:p>
            <a:pPr rtl="1" algn="r">
              <a:buNone/>
              <a:spcAft>
                <a:spcPts val="600"/>
              </a:spcAft>
            </a:pPr>
            <a:r>
              <a:rPr sz="2400" b="0" lang="ar-MA">
                <a:latin typeface="Cairo"/>
                <a:cs typeface="Cairo"/>
              </a:rPr>
              <a:t>أحدثت الثورة الصناعية، التي انطلقت من أوروبا الغربية، تحولات عميقة في وسائل الإنتاج وطرق المواصلات وحركة رؤوس الأموال. وأسهمت هذه التحولات في ترسيخ النظام الرأسمالي، وتوسيع نفوذ القوى الصناعية، واشتداد التنافس الإمبريالي، فترتبت عنها تغيرات اقتصادية واجتماعية وسياسية وفكرية أثرت بعمق في تاريخ العالم خلال القرنين 19 و20م.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الإشكالية المركزية: ما مظاهر التحولات الكبرى التي عرفها العالم الرأسمالي خلال القرنين 19 و20م؟ وما أهم انعكاساتها على باقي مناطق العالم، وخاصة المشرق العربي والمغرب؟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1</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الأول: الإطار الزمني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محطات كبرى في قرنين</a:t>
            </a:r>
          </a:p>
        </p:txBody>
      </p:sp>
      <p:sp>
        <p:nvSpPr>
          <p:cNvPr id="3" name="Rectangle 2"/>
          <p:cNvSpPr/>
          <p:nvPr/>
        </p:nvSpPr>
        <p:spPr>
          <a:xfrm>
            <a:off x="502920" y="2482596"/>
            <a:ext cx="8138160" cy="64008"/>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391400" y="1234440"/>
            <a:ext cx="1295400" cy="731520"/>
          </a:xfrm>
          <a:prstGeom prst="roundRect">
            <a:avLst>
              <a:gd name="adj" fmla="val 3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9140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ق19م</a:t>
            </a:r>
          </a:p>
        </p:txBody>
      </p:sp>
      <p:sp>
        <p:nvSpPr>
          <p:cNvPr id="6" name="Rectangle 5"/>
          <p:cNvSpPr/>
          <p:nvPr/>
        </p:nvSpPr>
        <p:spPr>
          <a:xfrm>
            <a:off x="8025384" y="1965960"/>
            <a:ext cx="27432" cy="54864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90194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47660" y="2423160"/>
            <a:ext cx="182880" cy="18288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6396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الثورة الصناعية</a:t>
            </a:r>
          </a:p>
        </p:txBody>
      </p:sp>
      <p:sp>
        <p:nvSpPr>
          <p:cNvPr id="10" name="TextBox 9"/>
          <p:cNvSpPr txBox="1"/>
          <p:nvPr/>
        </p:nvSpPr>
        <p:spPr>
          <a:xfrm>
            <a:off x="736396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الآلة والمصنع والنقل الحديث</a:t>
            </a:r>
          </a:p>
        </p:txBody>
      </p:sp>
      <p:sp>
        <p:nvSpPr>
          <p:cNvPr id="11" name="Rounded Rectangle 10"/>
          <p:cNvSpPr/>
          <p:nvPr/>
        </p:nvSpPr>
        <p:spPr>
          <a:xfrm>
            <a:off x="6004560" y="1234440"/>
            <a:ext cx="1295400" cy="731520"/>
          </a:xfrm>
          <a:prstGeom prst="roundRect">
            <a:avLst>
              <a:gd name="adj" fmla="val 3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0456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أواخر ق19م</a:t>
            </a:r>
          </a:p>
        </p:txBody>
      </p:sp>
      <p:sp>
        <p:nvSpPr>
          <p:cNvPr id="13" name="Rectangle 12"/>
          <p:cNvSpPr/>
          <p:nvPr/>
        </p:nvSpPr>
        <p:spPr>
          <a:xfrm>
            <a:off x="6638544" y="1965960"/>
            <a:ext cx="27432" cy="548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1510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560820" y="2423160"/>
            <a:ext cx="182880" cy="18288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7712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التوسع الإمبريالي</a:t>
            </a:r>
          </a:p>
        </p:txBody>
      </p:sp>
      <p:sp>
        <p:nvSpPr>
          <p:cNvPr id="17" name="TextBox 16"/>
          <p:cNvSpPr txBox="1"/>
          <p:nvPr/>
        </p:nvSpPr>
        <p:spPr>
          <a:xfrm>
            <a:off x="597712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تقاسم إفريقيا وآسيا</a:t>
            </a:r>
          </a:p>
        </p:txBody>
      </p:sp>
      <p:sp>
        <p:nvSpPr>
          <p:cNvPr id="18" name="Rounded Rectangle 17"/>
          <p:cNvSpPr/>
          <p:nvPr/>
        </p:nvSpPr>
        <p:spPr>
          <a:xfrm>
            <a:off x="4617720" y="1234440"/>
            <a:ext cx="1295400" cy="731520"/>
          </a:xfrm>
          <a:prstGeom prst="roundRect">
            <a:avLst>
              <a:gd name="adj" fmla="val 3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1772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1914–1918</a:t>
            </a:r>
          </a:p>
        </p:txBody>
      </p:sp>
      <p:sp>
        <p:nvSpPr>
          <p:cNvPr id="20" name="Rectangle 19"/>
          <p:cNvSpPr/>
          <p:nvPr/>
        </p:nvSpPr>
        <p:spPr>
          <a:xfrm>
            <a:off x="5251704" y="1965960"/>
            <a:ext cx="27432" cy="548640"/>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12826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173980" y="2423160"/>
            <a:ext cx="182880" cy="182880"/>
          </a:xfrm>
          <a:prstGeom prst="ellipse">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9028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ح.ع. الأولى</a:t>
            </a:r>
          </a:p>
        </p:txBody>
      </p:sp>
      <p:sp>
        <p:nvSpPr>
          <p:cNvPr id="24" name="TextBox 23"/>
          <p:cNvSpPr txBox="1"/>
          <p:nvPr/>
        </p:nvSpPr>
        <p:spPr>
          <a:xfrm>
            <a:off x="459028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الأحلاف وسباق التسلح</a:t>
            </a:r>
          </a:p>
        </p:txBody>
      </p:sp>
      <p:sp>
        <p:nvSpPr>
          <p:cNvPr id="25" name="Rounded Rectangle 24"/>
          <p:cNvSpPr/>
          <p:nvPr/>
        </p:nvSpPr>
        <p:spPr>
          <a:xfrm>
            <a:off x="3230880" y="1234440"/>
            <a:ext cx="1295400" cy="731520"/>
          </a:xfrm>
          <a:prstGeom prst="roundRect">
            <a:avLst>
              <a:gd name="adj" fmla="val 3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23088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1929</a:t>
            </a:r>
          </a:p>
        </p:txBody>
      </p:sp>
      <p:sp>
        <p:nvSpPr>
          <p:cNvPr id="27" name="Rectangle 26"/>
          <p:cNvSpPr/>
          <p:nvPr/>
        </p:nvSpPr>
        <p:spPr>
          <a:xfrm>
            <a:off x="3864864" y="1965960"/>
            <a:ext cx="27432" cy="548640"/>
          </a:xfrm>
          <a:prstGeom prst="rect">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374142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3787140" y="2423160"/>
            <a:ext cx="182880" cy="182880"/>
          </a:xfrm>
          <a:prstGeom prst="ellipse">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20344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الأزمة الكبرى</a:t>
            </a:r>
          </a:p>
        </p:txBody>
      </p:sp>
      <p:sp>
        <p:nvSpPr>
          <p:cNvPr id="31" name="TextBox 30"/>
          <p:cNvSpPr txBox="1"/>
          <p:nvPr/>
        </p:nvSpPr>
        <p:spPr>
          <a:xfrm>
            <a:off x="320344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انهيار بورصة نيويورك</a:t>
            </a:r>
          </a:p>
        </p:txBody>
      </p:sp>
      <p:sp>
        <p:nvSpPr>
          <p:cNvPr id="32" name="Rounded Rectangle 31"/>
          <p:cNvSpPr/>
          <p:nvPr/>
        </p:nvSpPr>
        <p:spPr>
          <a:xfrm>
            <a:off x="1844039" y="1234440"/>
            <a:ext cx="1295400" cy="731520"/>
          </a:xfrm>
          <a:prstGeom prst="roundRect">
            <a:avLst>
              <a:gd name="adj" fmla="val 35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844039"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1939–1945</a:t>
            </a:r>
          </a:p>
        </p:txBody>
      </p:sp>
      <p:sp>
        <p:nvSpPr>
          <p:cNvPr id="34" name="Rectangle 33"/>
          <p:cNvSpPr/>
          <p:nvPr/>
        </p:nvSpPr>
        <p:spPr>
          <a:xfrm>
            <a:off x="2478023" y="1965960"/>
            <a:ext cx="27432" cy="548640"/>
          </a:xfrm>
          <a:prstGeom prst="rect">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2354579"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2400299" y="2423160"/>
            <a:ext cx="182880" cy="182880"/>
          </a:xfrm>
          <a:prstGeom prst="ellipse">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816607"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ح.ع. الثانية</a:t>
            </a:r>
          </a:p>
        </p:txBody>
      </p:sp>
      <p:sp>
        <p:nvSpPr>
          <p:cNvPr id="38" name="TextBox 37"/>
          <p:cNvSpPr txBox="1"/>
          <p:nvPr/>
        </p:nvSpPr>
        <p:spPr>
          <a:xfrm>
            <a:off x="1816607"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صعود قوتين عظميين</a:t>
            </a:r>
          </a:p>
        </p:txBody>
      </p:sp>
      <p:sp>
        <p:nvSpPr>
          <p:cNvPr id="39" name="Rounded Rectangle 38"/>
          <p:cNvSpPr/>
          <p:nvPr/>
        </p:nvSpPr>
        <p:spPr>
          <a:xfrm>
            <a:off x="457200" y="1234440"/>
            <a:ext cx="1295400" cy="731520"/>
          </a:xfrm>
          <a:prstGeom prst="roundRect">
            <a:avLst>
              <a:gd name="adj" fmla="val 35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5720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1945–1991</a:t>
            </a:r>
          </a:p>
        </p:txBody>
      </p:sp>
      <p:sp>
        <p:nvSpPr>
          <p:cNvPr id="41" name="Rectangle 40"/>
          <p:cNvSpPr/>
          <p:nvPr/>
        </p:nvSpPr>
        <p:spPr>
          <a:xfrm>
            <a:off x="1091184" y="1965960"/>
            <a:ext cx="27432" cy="548640"/>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6774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3460" y="2423160"/>
            <a:ext cx="182880" cy="1828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2976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القطبية والتحرر</a:t>
            </a:r>
          </a:p>
        </p:txBody>
      </p:sp>
      <p:sp>
        <p:nvSpPr>
          <p:cNvPr id="45" name="TextBox 44"/>
          <p:cNvSpPr txBox="1"/>
          <p:nvPr/>
        </p:nvSpPr>
        <p:spPr>
          <a:xfrm>
            <a:off x="42976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معسكران واستقلال الشعوب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من الآلة إلى العالم الصناعي</a:t>
            </a:r>
          </a:p>
        </p:txBody>
      </p:sp>
      <p:sp>
        <p:nvSpPr>
          <p:cNvPr id="3" name="Rounded Rectangle 2"/>
          <p:cNvSpPr/>
          <p:nvPr/>
        </p:nvSpPr>
        <p:spPr>
          <a:xfrm>
            <a:off x="6068568"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22792" y="1097280"/>
            <a:ext cx="109728" cy="3520439"/>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05728"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1F6F78"/>
                </a:solidFill>
                <a:latin typeface="Cairo"/>
                <a:cs typeface="Cairo"/>
              </a:rPr>
              <a:t>الآلة البخارية</a:t>
            </a:r>
          </a:p>
        </p:txBody>
      </p:sp>
      <p:sp>
        <p:nvSpPr>
          <p:cNvPr id="6" name="TextBox 5"/>
          <p:cNvSpPr txBox="1"/>
          <p:nvPr/>
        </p:nvSpPr>
        <p:spPr>
          <a:xfrm>
            <a:off x="6205728" y="25603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ق18م</a:t>
            </a:r>
          </a:p>
        </p:txBody>
      </p:sp>
      <p:sp>
        <p:nvSpPr>
          <p:cNvPr id="7" name="TextBox 6"/>
          <p:cNvSpPr txBox="1"/>
          <p:nvPr/>
        </p:nvSpPr>
        <p:spPr>
          <a:xfrm>
            <a:off x="6205728" y="2916935"/>
            <a:ext cx="2298192" cy="16550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طاقة جديدة تحرّك المصانع والقطارات والبواخر</a:t>
            </a:r>
          </a:p>
        </p:txBody>
      </p:sp>
      <p:sp>
        <p:nvSpPr>
          <p:cNvPr id="8" name="Rounded Rectangle 7"/>
          <p:cNvSpPr/>
          <p:nvPr/>
        </p:nvSpPr>
        <p:spPr>
          <a:xfrm>
            <a:off x="3240023"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94248" y="1097280"/>
            <a:ext cx="109728" cy="3520439"/>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77183"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8C2F39"/>
                </a:solidFill>
                <a:latin typeface="Cairo"/>
                <a:cs typeface="Cairo"/>
              </a:rPr>
              <a:t>السكك الحديدية</a:t>
            </a:r>
          </a:p>
        </p:txBody>
      </p:sp>
      <p:sp>
        <p:nvSpPr>
          <p:cNvPr id="11" name="TextBox 10"/>
          <p:cNvSpPr txBox="1"/>
          <p:nvPr/>
        </p:nvSpPr>
        <p:spPr>
          <a:xfrm>
            <a:off x="3377183" y="25603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1825م</a:t>
            </a:r>
          </a:p>
        </p:txBody>
      </p:sp>
      <p:sp>
        <p:nvSpPr>
          <p:cNvPr id="12" name="TextBox 11"/>
          <p:cNvSpPr txBox="1"/>
          <p:nvPr/>
        </p:nvSpPr>
        <p:spPr>
          <a:xfrm>
            <a:off x="3377183" y="2916935"/>
            <a:ext cx="2298192" cy="16550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قاطرة ستيفنسن تفكّ العزلة وتنشّط التجارة</a:t>
            </a:r>
          </a:p>
        </p:txBody>
      </p:sp>
      <p:sp>
        <p:nvSpPr>
          <p:cNvPr id="13" name="Rounded Rectangle 12"/>
          <p:cNvSpPr/>
          <p:nvPr/>
        </p:nvSpPr>
        <p:spPr>
          <a:xfrm>
            <a:off x="411479" y="1097280"/>
            <a:ext cx="2663952" cy="3520439"/>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65703" y="1097280"/>
            <a:ext cx="109728" cy="3520439"/>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39" y="1508760"/>
            <a:ext cx="2298192" cy="1051560"/>
          </a:xfrm>
          <a:prstGeom prst="rect">
            <a:avLst/>
          </a:prstGeom>
          <a:noFill/>
        </p:spPr>
        <p:txBody>
          <a:bodyPr wrap="square" lIns="45720" rIns="45720" tIns="18288" bIns="18288" anchor="t">
            <a:spAutoFit/>
          </a:bodyPr>
          <a:lstStyle/>
          <a:p>
            <a:pPr rtl="1" algn="r">
              <a:lnSpc>
                <a:spcPct val="95000"/>
              </a:lnSpc>
            </a:pPr>
            <a:r>
              <a:rPr sz="2800" b="1" lang="ar-MA">
                <a:solidFill>
                  <a:srgbClr val="4F7A3A"/>
                </a:solidFill>
                <a:latin typeface="Cairo"/>
                <a:cs typeface="Cairo"/>
              </a:rPr>
              <a:t>الكهرباء والبترول</a:t>
            </a:r>
          </a:p>
        </p:txBody>
      </p:sp>
      <p:sp>
        <p:nvSpPr>
          <p:cNvPr id="16" name="TextBox 15"/>
          <p:cNvSpPr txBox="1"/>
          <p:nvPr/>
        </p:nvSpPr>
        <p:spPr>
          <a:xfrm>
            <a:off x="548639" y="25603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أواخر ق19م</a:t>
            </a:r>
          </a:p>
        </p:txBody>
      </p:sp>
      <p:sp>
        <p:nvSpPr>
          <p:cNvPr id="17" name="TextBox 16"/>
          <p:cNvSpPr txBox="1"/>
          <p:nvPr/>
        </p:nvSpPr>
        <p:spPr>
          <a:xfrm>
            <a:off x="548639" y="2916935"/>
            <a:ext cx="2298192" cy="1655064"/>
          </a:xfrm>
          <a:prstGeom prst="rect">
            <a:avLst/>
          </a:prstGeom>
          <a:noFill/>
        </p:spPr>
        <p:txBody>
          <a:bodyPr wrap="square" lIns="45720" rIns="45720" tIns="18288" bIns="18288" anchor="t">
            <a:spAutoFit/>
          </a:bodyPr>
          <a:lstStyle/>
          <a:p>
            <a:pPr rtl="1" algn="r">
              <a:lnSpc>
                <a:spcPct val="100000"/>
              </a:lnSpc>
            </a:pPr>
            <a:r>
              <a:rPr sz="2400" b="0" lang="ar-MA">
                <a:solidFill>
                  <a:srgbClr val="26303D"/>
                </a:solidFill>
                <a:latin typeface="Cairo"/>
                <a:cs typeface="Cairo"/>
              </a:rPr>
              <a:t>ثورة صناعية ثانية: فولاذ وكيمياء وسيارات</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ملاحظة منهجية</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حلقات مترابطة… لا وقائع منفصلة</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التصنيع ← الرأسمالية ← الإمبريالية ← الحروب والأزمات ← حركات التحرر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1" lang="ar-MA">
                <a:solidFill>
                  <a:srgbClr val="0B2242"/>
                </a:solidFill>
                <a:latin typeface="Cairo"/>
                <a:cs typeface="Cairo"/>
              </a:rPr>
              <a:t>1- الإطار الزمني لموضوع البرنامج</a:t>
            </a:r>
          </a:p>
          <a:p>
            <a:pPr rtl="1" algn="r">
              <a:buNone/>
              <a:spcAft>
                <a:spcPts val="600"/>
              </a:spcAft>
            </a:pPr>
            <a:r>
              <a:rPr sz="2400" b="0" lang="ar-MA">
                <a:latin typeface="Cairo"/>
                <a:cs typeface="Cairo"/>
              </a:rPr>
              <a:t>يمتد موضوع البرنامج عبر القرنين 19 و20م، وهي فترة اتسمت بتسارع الأحداث وترابطها؛ إذ أدى التصنيع إلى نمو الرأسمالية، وأفضى البحث عن المواد الأولية والأسواق إلى التوسع الإمبريالي، ثم تحولت المنافسة بين القوى الكبرى إلى صراعات وحروب عالمية، قبل أن يشهد العالم موجة واسعة من حركات التحرر والاستقلال.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a:xfrm>
            <a:off x="548640" y="1188720"/>
            <a:ext cx="7772400" cy="502920"/>
          </a:xfrm>
        </p:spPr>
        <p:txBody>
          <a:bodyPr wrap="square"/>
          <a:lstStyle/>
          <a:p>
            <a:pPr rtl="1" algn="r">
              <a:buNone/>
              <a:spcAft>
                <a:spcPts val="600"/>
              </a:spcAft>
            </a:pPr>
            <a:r>
              <a:rPr sz="2200" b="1" lang="ar-MA">
                <a:solidFill>
                  <a:srgbClr val="0B2242"/>
                </a:solidFill>
                <a:latin typeface="Cairo"/>
                <a:cs typeface="Cairo"/>
              </a:rPr>
              <a:t>1- الإطار الزمني لموضوع البرنامج</a:t>
            </a:r>
          </a:p>
        </p:txBody>
      </p:sp>
      <p:graphicFrame>
        <p:nvGraphicFramePr>
          <p:cNvPr id="3" name="Table 2"/>
          <p:cNvGraphicFramePr>
            <a:graphicFrameLocks noGrp="1"/>
          </p:cNvGraphicFramePr>
          <p:nvPr/>
        </p:nvGraphicFramePr>
        <p:xfrm>
          <a:off x="548640" y="1737360"/>
          <a:ext cx="7772400" cy="1828800"/>
        </p:xfrm>
        <a:graphic>
          <a:graphicData uri="http://schemas.openxmlformats.org/drawingml/2006/table">
            <a:tbl>
              <a:tblPr firstRow="1" bandRow="1" rtl="1">
                <a:tableStyleId>{5C22544A-7EE6-4342-B048-85BDC9FD1C3A}</a:tableStyleId>
              </a:tblPr>
              <a:tblGrid>
                <a:gridCol w="1865376"/>
                <a:gridCol w="2020824"/>
                <a:gridCol w="3886200"/>
              </a:tblGrid>
              <a:tr h="457200">
                <a:tc>
                  <a:txBody>
                    <a:bodyPr/>
                    <a:lstStyle/>
                    <a:p>
                      <a:pPr rtl="1" algn="ctr"/>
                      <a:r>
                        <a:rPr sz="1800" b="1" lang="ar-MA">
                          <a:solidFill>
                            <a:srgbClr val="FFFFFF"/>
                          </a:solidFill>
                          <a:latin typeface="Cairo"/>
                          <a:cs typeface="Cairo"/>
                        </a:rPr>
                        <a:t>الفترة</a:t>
                      </a:r>
                    </a:p>
                  </a:txBody>
                  <a:tcPr>
                    <a:solidFill>
                      <a:srgbClr val="0B2242"/>
                    </a:solidFill>
                  </a:tcPr>
                </a:tc>
                <a:tc>
                  <a:txBody>
                    <a:bodyPr/>
                    <a:lstStyle/>
                    <a:p>
                      <a:pPr rtl="1" algn="ctr"/>
                      <a:r>
                        <a:rPr sz="1800" b="1" lang="ar-MA">
                          <a:solidFill>
                            <a:srgbClr val="FFFFFF"/>
                          </a:solidFill>
                          <a:latin typeface="Cairo"/>
                          <a:cs typeface="Cairo"/>
                        </a:rPr>
                        <a:t>الحدث أو التحول</a:t>
                      </a:r>
                    </a:p>
                  </a:txBody>
                  <a:tcPr>
                    <a:solidFill>
                      <a:srgbClr val="0B2242"/>
                    </a:solidFill>
                  </a:tcPr>
                </a:tc>
                <a:tc>
                  <a:txBody>
                    <a:bodyPr/>
                    <a:lstStyle/>
                    <a:p>
                      <a:pPr rtl="1" algn="ctr"/>
                      <a:r>
                        <a:rPr sz="1800" b="1" lang="ar-MA">
                          <a:solidFill>
                            <a:srgbClr val="FFFFFF"/>
                          </a:solidFill>
                          <a:latin typeface="Cairo"/>
                          <a:cs typeface="Cairo"/>
                        </a:rPr>
                        <a:t>الدلالة التاريخية</a:t>
                      </a:r>
                    </a:p>
                  </a:txBody>
                  <a:tcPr>
                    <a:solidFill>
                      <a:srgbClr val="0B2242"/>
                    </a:solidFill>
                  </a:tcPr>
                </a:tc>
              </a:tr>
              <a:tr h="457200">
                <a:tc>
                  <a:txBody>
                    <a:bodyPr/>
                    <a:lstStyle/>
                    <a:p>
                      <a:pPr rtl="1" algn="r"/>
                      <a:r>
                        <a:rPr sz="1800" b="1" lang="ar-MA">
                          <a:solidFill>
                            <a:srgbClr val="0B2242"/>
                          </a:solidFill>
                          <a:latin typeface="Cairo"/>
                          <a:cs typeface="Cairo"/>
                        </a:rPr>
                        <a:t>القرن 19م</a:t>
                      </a:r>
                    </a:p>
                  </a:txBody>
                  <a:tcPr anchor="ctr">
                    <a:solidFill>
                      <a:srgbClr val="FFFDF6"/>
                    </a:solidFill>
                  </a:tcPr>
                </a:tc>
                <a:tc>
                  <a:txBody>
                    <a:bodyPr/>
                    <a:lstStyle/>
                    <a:p>
                      <a:pPr rtl="1" algn="r"/>
                      <a:r>
                        <a:rPr sz="1800" b="0" lang="ar-MA">
                          <a:solidFill>
                            <a:srgbClr val="222222"/>
                          </a:solidFill>
                          <a:latin typeface="Cairo"/>
                          <a:cs typeface="Cairo"/>
                        </a:rPr>
                        <a:t>الثورة الصناعية</a:t>
                      </a:r>
                    </a:p>
                  </a:txBody>
                  <a:tcPr anchor="ctr">
                    <a:solidFill>
                      <a:srgbClr val="FFFDF6"/>
                    </a:solidFill>
                  </a:tcPr>
                </a:tc>
                <a:tc>
                  <a:txBody>
                    <a:bodyPr/>
                    <a:lstStyle/>
                    <a:p>
                      <a:pPr rtl="1" algn="r"/>
                      <a:r>
                        <a:rPr sz="1800" b="0" lang="ar-MA">
                          <a:solidFill>
                            <a:srgbClr val="222222"/>
                          </a:solidFill>
                          <a:latin typeface="Cairo"/>
                          <a:cs typeface="Cairo"/>
                        </a:rPr>
                        <a:t>تحول وسائل الإنتاج، ونمو المصانع، وتطور النقل والمواصلات، واتساع حركة رؤوس الأموال.</a:t>
                      </a:r>
                    </a:p>
                  </a:txBody>
                  <a:tcPr anchor="ctr">
                    <a:solidFill>
                      <a:srgbClr val="FFFDF6"/>
                    </a:solidFill>
                  </a:tcPr>
                </a:tc>
              </a:tr>
              <a:tr h="457200">
                <a:tc>
                  <a:txBody>
                    <a:bodyPr/>
                    <a:lstStyle/>
                    <a:p>
                      <a:pPr rtl="1" algn="r"/>
                      <a:r>
                        <a:rPr sz="1800" b="1" lang="ar-MA">
                          <a:solidFill>
                            <a:srgbClr val="0B2242"/>
                          </a:solidFill>
                          <a:latin typeface="Cairo"/>
                          <a:cs typeface="Cairo"/>
                        </a:rPr>
                        <a:t>أواخر القرن 19م</a:t>
                      </a:r>
                    </a:p>
                  </a:txBody>
                  <a:tcPr anchor="ctr">
                    <a:solidFill>
                      <a:srgbClr val="F6EED8"/>
                    </a:solidFill>
                  </a:tcPr>
                </a:tc>
                <a:tc>
                  <a:txBody>
                    <a:bodyPr/>
                    <a:lstStyle/>
                    <a:p>
                      <a:pPr rtl="1" algn="r"/>
                      <a:r>
                        <a:rPr sz="1800" b="0" lang="ar-MA">
                          <a:solidFill>
                            <a:srgbClr val="222222"/>
                          </a:solidFill>
                          <a:latin typeface="Cairo"/>
                          <a:cs typeface="Cairo"/>
                        </a:rPr>
                        <a:t>التوسع الإمبريالي</a:t>
                      </a:r>
                    </a:p>
                  </a:txBody>
                  <a:tcPr anchor="ctr">
                    <a:solidFill>
                      <a:srgbClr val="F6EED8"/>
                    </a:solidFill>
                  </a:tcPr>
                </a:tc>
                <a:tc>
                  <a:txBody>
                    <a:bodyPr/>
                    <a:lstStyle/>
                    <a:p>
                      <a:pPr rtl="1" algn="r"/>
                      <a:r>
                        <a:rPr sz="1800" b="0" lang="ar-MA">
                          <a:solidFill>
                            <a:srgbClr val="222222"/>
                          </a:solidFill>
                          <a:latin typeface="Cairo"/>
                          <a:cs typeface="Cairo"/>
                        </a:rPr>
                        <a:t>اشتداد التنافس بين القوى الصناعية للسيطرة على المواد الأولية والأسواق ومجالات الاستثمار.</a:t>
                      </a:r>
                    </a:p>
                  </a:txBody>
                  <a:tcPr anchor="ctr">
                    <a:solidFill>
                      <a:srgbClr val="F6EED8"/>
                    </a:solidFill>
                  </a:tcPr>
                </a:tc>
              </a:tr>
              <a:tr h="457200">
                <a:tc>
                  <a:txBody>
                    <a:bodyPr/>
                    <a:lstStyle/>
                    <a:p>
                      <a:pPr rtl="1" algn="r"/>
                      <a:r>
                        <a:rPr sz="1800" b="1" lang="ar-MA">
                          <a:solidFill>
                            <a:srgbClr val="0B2242"/>
                          </a:solidFill>
                          <a:latin typeface="Cairo"/>
                          <a:cs typeface="Cairo"/>
                        </a:rPr>
                        <a:t>1914م - 1918م</a:t>
                      </a:r>
                    </a:p>
                  </a:txBody>
                  <a:tcPr anchor="ctr">
                    <a:solidFill>
                      <a:srgbClr val="FFFDF6"/>
                    </a:solidFill>
                  </a:tcPr>
                </a:tc>
                <a:tc>
                  <a:txBody>
                    <a:bodyPr/>
                    <a:lstStyle/>
                    <a:p>
                      <a:pPr rtl="1" algn="r"/>
                      <a:r>
                        <a:rPr sz="1800" b="0" lang="ar-MA">
                          <a:solidFill>
                            <a:srgbClr val="222222"/>
                          </a:solidFill>
                          <a:latin typeface="Cairo"/>
                          <a:cs typeface="Cairo"/>
                        </a:rPr>
                        <a:t>الحرب العالمية الأولى</a:t>
                      </a:r>
                    </a:p>
                  </a:txBody>
                  <a:tcPr anchor="ctr">
                    <a:solidFill>
                      <a:srgbClr val="FFFDF6"/>
                    </a:solidFill>
                  </a:tcPr>
                </a:tc>
                <a:tc>
                  <a:txBody>
                    <a:bodyPr/>
                    <a:lstStyle/>
                    <a:p>
                      <a:pPr rtl="1" algn="r"/>
                      <a:r>
                        <a:rPr sz="1800" b="0" lang="ar-MA">
                          <a:solidFill>
                            <a:srgbClr val="222222"/>
                          </a:solidFill>
                          <a:latin typeface="Cairo"/>
                          <a:cs typeface="Cairo"/>
                        </a:rPr>
                        <a:t>انفجار التنافس الإمبريالي وسياسة التحالفات وسباق التسلح في صراع عالمي مدمر.</a:t>
                      </a:r>
                    </a:p>
                  </a:txBody>
                  <a:tcPr anchor="ctr">
                    <a:solidFill>
                      <a:srgbClr val="FFFDF6"/>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a:xfrm>
            <a:off x="548640" y="1188720"/>
            <a:ext cx="7772400" cy="502920"/>
          </a:xfrm>
        </p:spPr>
        <p:txBody>
          <a:bodyPr wrap="square"/>
          <a:lstStyle/>
          <a:p>
            <a:pPr rtl="1" algn="r">
              <a:buNone/>
              <a:spcAft>
                <a:spcPts val="600"/>
              </a:spcAft>
            </a:pPr>
            <a:r>
              <a:rPr sz="2200" b="1" lang="ar-MA">
                <a:solidFill>
                  <a:srgbClr val="0B2242"/>
                </a:solidFill>
                <a:latin typeface="Cairo"/>
                <a:cs typeface="Cairo"/>
              </a:rPr>
              <a:t>1- الإطار الزمني لموضوع البرنامج (تابع)</a:t>
            </a:r>
          </a:p>
        </p:txBody>
      </p:sp>
      <p:graphicFrame>
        <p:nvGraphicFramePr>
          <p:cNvPr id="3" name="Table 2"/>
          <p:cNvGraphicFramePr>
            <a:graphicFrameLocks noGrp="1"/>
          </p:cNvGraphicFramePr>
          <p:nvPr/>
        </p:nvGraphicFramePr>
        <p:xfrm>
          <a:off x="548640" y="1737360"/>
          <a:ext cx="7772400" cy="1828800"/>
        </p:xfrm>
        <a:graphic>
          <a:graphicData uri="http://schemas.openxmlformats.org/drawingml/2006/table">
            <a:tbl>
              <a:tblPr firstRow="1" bandRow="1" rtl="1">
                <a:tableStyleId>{5C22544A-7EE6-4342-B048-85BDC9FD1C3A}</a:tableStyleId>
              </a:tblPr>
              <a:tblGrid>
                <a:gridCol w="1865376"/>
                <a:gridCol w="2020824"/>
                <a:gridCol w="3886200"/>
              </a:tblGrid>
              <a:tr h="457200">
                <a:tc>
                  <a:txBody>
                    <a:bodyPr/>
                    <a:lstStyle/>
                    <a:p>
                      <a:pPr rtl="1" algn="ctr"/>
                      <a:r>
                        <a:rPr sz="1800" b="1" lang="ar-MA">
                          <a:solidFill>
                            <a:srgbClr val="FFFFFF"/>
                          </a:solidFill>
                          <a:latin typeface="Cairo"/>
                          <a:cs typeface="Cairo"/>
                        </a:rPr>
                        <a:t>الفترة</a:t>
                      </a:r>
                    </a:p>
                  </a:txBody>
                  <a:tcPr>
                    <a:solidFill>
                      <a:srgbClr val="0B2242"/>
                    </a:solidFill>
                  </a:tcPr>
                </a:tc>
                <a:tc>
                  <a:txBody>
                    <a:bodyPr/>
                    <a:lstStyle/>
                    <a:p>
                      <a:pPr rtl="1" algn="ctr"/>
                      <a:r>
                        <a:rPr sz="1800" b="1" lang="ar-MA">
                          <a:solidFill>
                            <a:srgbClr val="FFFFFF"/>
                          </a:solidFill>
                          <a:latin typeface="Cairo"/>
                          <a:cs typeface="Cairo"/>
                        </a:rPr>
                        <a:t>الحدث أو التحول</a:t>
                      </a:r>
                    </a:p>
                  </a:txBody>
                  <a:tcPr>
                    <a:solidFill>
                      <a:srgbClr val="0B2242"/>
                    </a:solidFill>
                  </a:tcPr>
                </a:tc>
                <a:tc>
                  <a:txBody>
                    <a:bodyPr/>
                    <a:lstStyle/>
                    <a:p>
                      <a:pPr rtl="1" algn="ctr"/>
                      <a:r>
                        <a:rPr sz="1800" b="1" lang="ar-MA">
                          <a:solidFill>
                            <a:srgbClr val="FFFFFF"/>
                          </a:solidFill>
                          <a:latin typeface="Cairo"/>
                          <a:cs typeface="Cairo"/>
                        </a:rPr>
                        <a:t>الدلالة التاريخية</a:t>
                      </a:r>
                    </a:p>
                  </a:txBody>
                  <a:tcPr>
                    <a:solidFill>
                      <a:srgbClr val="0B2242"/>
                    </a:solidFill>
                  </a:tcPr>
                </a:tc>
              </a:tr>
              <a:tr h="457200">
                <a:tc>
                  <a:txBody>
                    <a:bodyPr/>
                    <a:lstStyle/>
                    <a:p>
                      <a:pPr rtl="1" algn="r"/>
                      <a:r>
                        <a:rPr sz="1800" b="1" lang="ar-MA">
                          <a:solidFill>
                            <a:srgbClr val="0B2242"/>
                          </a:solidFill>
                          <a:latin typeface="Cairo"/>
                          <a:cs typeface="Cairo"/>
                        </a:rPr>
                        <a:t>1929م</a:t>
                      </a:r>
                    </a:p>
                  </a:txBody>
                  <a:tcPr anchor="ctr">
                    <a:solidFill>
                      <a:srgbClr val="FFFDF6"/>
                    </a:solidFill>
                  </a:tcPr>
                </a:tc>
                <a:tc>
                  <a:txBody>
                    <a:bodyPr/>
                    <a:lstStyle/>
                    <a:p>
                      <a:pPr rtl="1" algn="r"/>
                      <a:r>
                        <a:rPr sz="1800" b="0" lang="ar-MA">
                          <a:solidFill>
                            <a:srgbClr val="222222"/>
                          </a:solidFill>
                          <a:latin typeface="Cairo"/>
                          <a:cs typeface="Cairo"/>
                        </a:rPr>
                        <a:t>الأزمة الاقتصادية العالمية</a:t>
                      </a:r>
                    </a:p>
                  </a:txBody>
                  <a:tcPr anchor="ctr">
                    <a:solidFill>
                      <a:srgbClr val="FFFDF6"/>
                    </a:solidFill>
                  </a:tcPr>
                </a:tc>
                <a:tc>
                  <a:txBody>
                    <a:bodyPr/>
                    <a:lstStyle/>
                    <a:p>
                      <a:pPr rtl="1" algn="r"/>
                      <a:r>
                        <a:rPr sz="1800" b="0" lang="ar-MA">
                          <a:solidFill>
                            <a:srgbClr val="222222"/>
                          </a:solidFill>
                          <a:latin typeface="Cairo"/>
                          <a:cs typeface="Cairo"/>
                        </a:rPr>
                        <a:t>انهيار مالي واقتصادي أضعف الدول الرأسمالية وعمق التوترات الاجتماعية والسياسية.</a:t>
                      </a:r>
                    </a:p>
                  </a:txBody>
                  <a:tcPr anchor="ctr">
                    <a:solidFill>
                      <a:srgbClr val="FFFDF6"/>
                    </a:solidFill>
                  </a:tcPr>
                </a:tc>
              </a:tr>
              <a:tr h="457200">
                <a:tc>
                  <a:txBody>
                    <a:bodyPr/>
                    <a:lstStyle/>
                    <a:p>
                      <a:pPr rtl="1" algn="r"/>
                      <a:r>
                        <a:rPr sz="1800" b="1" lang="ar-MA">
                          <a:solidFill>
                            <a:srgbClr val="0B2242"/>
                          </a:solidFill>
                          <a:latin typeface="Cairo"/>
                          <a:cs typeface="Cairo"/>
                        </a:rPr>
                        <a:t>1939م - 1945م</a:t>
                      </a:r>
                    </a:p>
                  </a:txBody>
                  <a:tcPr anchor="ctr">
                    <a:solidFill>
                      <a:srgbClr val="F6EED8"/>
                    </a:solidFill>
                  </a:tcPr>
                </a:tc>
                <a:tc>
                  <a:txBody>
                    <a:bodyPr/>
                    <a:lstStyle/>
                    <a:p>
                      <a:pPr rtl="1" algn="r"/>
                      <a:r>
                        <a:rPr sz="1800" b="0" lang="ar-MA">
                          <a:solidFill>
                            <a:srgbClr val="222222"/>
                          </a:solidFill>
                          <a:latin typeface="Cairo"/>
                          <a:cs typeface="Cairo"/>
                        </a:rPr>
                        <a:t>الحرب العالمية الثانية</a:t>
                      </a:r>
                    </a:p>
                  </a:txBody>
                  <a:tcPr anchor="ctr">
                    <a:solidFill>
                      <a:srgbClr val="F6EED8"/>
                    </a:solidFill>
                  </a:tcPr>
                </a:tc>
                <a:tc>
                  <a:txBody>
                    <a:bodyPr/>
                    <a:lstStyle/>
                    <a:p>
                      <a:pPr rtl="1" algn="r"/>
                      <a:r>
                        <a:rPr sz="1800" b="0" lang="ar-MA">
                          <a:solidFill>
                            <a:srgbClr val="222222"/>
                          </a:solidFill>
                          <a:latin typeface="Cairo"/>
                          <a:cs typeface="Cairo"/>
                        </a:rPr>
                        <a:t>إعادة رسم موازين القوى وصعود الولايات المتحدة والاتحاد السوفياتي.</a:t>
                      </a:r>
                    </a:p>
                  </a:txBody>
                  <a:tcPr anchor="ctr">
                    <a:solidFill>
                      <a:srgbClr val="F6EED8"/>
                    </a:solidFill>
                  </a:tcPr>
                </a:tc>
              </a:tr>
              <a:tr h="457200">
                <a:tc>
                  <a:txBody>
                    <a:bodyPr/>
                    <a:lstStyle/>
                    <a:p>
                      <a:pPr rtl="1" algn="r"/>
                      <a:r>
                        <a:rPr sz="1800" b="1" lang="ar-MA">
                          <a:solidFill>
                            <a:srgbClr val="0B2242"/>
                          </a:solidFill>
                          <a:latin typeface="Cairo"/>
                          <a:cs typeface="Cairo"/>
                        </a:rPr>
                        <a:t>1945م - 1991م</a:t>
                      </a:r>
                    </a:p>
                  </a:txBody>
                  <a:tcPr anchor="ctr">
                    <a:solidFill>
                      <a:srgbClr val="FFFDF6"/>
                    </a:solidFill>
                  </a:tcPr>
                </a:tc>
                <a:tc>
                  <a:txBody>
                    <a:bodyPr/>
                    <a:lstStyle/>
                    <a:p>
                      <a:pPr rtl="1" algn="r"/>
                      <a:r>
                        <a:rPr sz="1800" b="0" lang="ar-MA">
                          <a:solidFill>
                            <a:srgbClr val="222222"/>
                          </a:solidFill>
                          <a:latin typeface="Cairo"/>
                          <a:cs typeface="Cairo"/>
                        </a:rPr>
                        <a:t>الثنائية القطبية وحركات التحرر</a:t>
                      </a:r>
                    </a:p>
                  </a:txBody>
                  <a:tcPr anchor="ctr">
                    <a:solidFill>
                      <a:srgbClr val="FFFDF6"/>
                    </a:solidFill>
                  </a:tcPr>
                </a:tc>
                <a:tc>
                  <a:txBody>
                    <a:bodyPr/>
                    <a:lstStyle/>
                    <a:p>
                      <a:pPr rtl="1" algn="r"/>
                      <a:r>
                        <a:rPr sz="1800" b="0" lang="ar-MA">
                          <a:solidFill>
                            <a:srgbClr val="222222"/>
                          </a:solidFill>
                          <a:latin typeface="Cairo"/>
                          <a:cs typeface="Cairo"/>
                        </a:rPr>
                        <a:t>انقسام العالم إلى معسكرين، وتنامي نضال الشعوب من أجل الاستقلال وبناء الدولة الوطنية.</a:t>
                      </a:r>
                    </a:p>
                  </a:txBody>
                  <a:tcPr anchor="ctr">
                    <a:solidFill>
                      <a:srgbClr val="FFFDF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ملاحظة منهجية: لا ينبغي النظر إلى هذه الأحداث باعتبارها وقائع منفصلة، بل حلقات مترابطة: التصنيع قوّى الرأسمالية، والرأسمالية غذّت الإمبريالية، والتنافس الإمبريالي مهّد للحروب والأزمات، ثم ولّد مقاومات وحركات تحرر.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2</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الثاني: الإطار المكاني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مركز يهيمن… وأطراف تتأثر</a:t>
            </a:r>
          </a:p>
        </p:txBody>
      </p:sp>
      <p:cxnSp>
        <p:nvCxnSpPr>
          <p:cNvPr id="3" name="Connector 2"/>
          <p:cNvCxnSpPr/>
          <p:nvPr/>
        </p:nvCxnSpPr>
        <p:spPr>
          <a:xfrm flipV="1">
            <a:off x="4572000" y="1531620"/>
            <a:ext cx="0" cy="1325880"/>
          </a:xfrm>
          <a:prstGeom prst="line">
            <a:avLst/>
          </a:prstGeom>
          <a:ln w="28575">
            <a:solidFill>
              <a:srgbClr val="C9A24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1658685" y="2447780"/>
            <a:ext cx="2913315" cy="409720"/>
          </a:xfrm>
          <a:prstGeom prst="line">
            <a:avLst/>
          </a:prstGeom>
          <a:ln w="28575">
            <a:solidFill>
              <a:srgbClr val="C9A24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2771472" y="2857500"/>
            <a:ext cx="1800528" cy="1072659"/>
          </a:xfrm>
          <a:prstGeom prst="line">
            <a:avLst/>
          </a:prstGeom>
          <a:ln w="28575">
            <a:solidFill>
              <a:srgbClr val="C9A2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72000" y="2857500"/>
            <a:ext cx="1800527" cy="1072659"/>
          </a:xfrm>
          <a:prstGeom prst="line">
            <a:avLst/>
          </a:prstGeom>
          <a:ln w="28575">
            <a:solidFill>
              <a:srgbClr val="C9A24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572000" y="2447780"/>
            <a:ext cx="2913314" cy="409720"/>
          </a:xfrm>
          <a:prstGeom prst="line">
            <a:avLst/>
          </a:prstGeom>
          <a:ln w="28575">
            <a:solidFill>
              <a:srgbClr val="C9A24A"/>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771900" y="2057400"/>
            <a:ext cx="1600200" cy="160020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794760" y="2308860"/>
            <a:ext cx="1554480" cy="1097280"/>
          </a:xfrm>
          <a:prstGeom prst="rect">
            <a:avLst/>
          </a:prstGeom>
          <a:noFill/>
        </p:spPr>
        <p:txBody>
          <a:bodyPr wrap="square" lIns="45720" rIns="45720" tIns="18288" bIns="18288" anchor="ctr">
            <a:spAutoFit/>
          </a:bodyPr>
          <a:lstStyle/>
          <a:p>
            <a:pPr rtl="1" algn="ctr">
              <a:lnSpc>
                <a:spcPct val="95000"/>
              </a:lnSpc>
            </a:pPr>
            <a:r>
              <a:rPr sz="2100" b="1" lang="ar-MA">
                <a:solidFill>
                  <a:srgbClr val="FFFFFF"/>
                </a:solidFill>
                <a:latin typeface="Cairo"/>
                <a:cs typeface="Cairo"/>
              </a:rPr>
              <a:t>المراكز الصناعية</a:t>
            </a:r>
          </a:p>
        </p:txBody>
      </p:sp>
      <p:sp>
        <p:nvSpPr>
          <p:cNvPr id="10" name="Rounded Rectangle 9"/>
          <p:cNvSpPr/>
          <p:nvPr/>
        </p:nvSpPr>
        <p:spPr>
          <a:xfrm>
            <a:off x="3383280" y="1028700"/>
            <a:ext cx="2377440" cy="1005840"/>
          </a:xfrm>
          <a:prstGeom prst="roundRect">
            <a:avLst>
              <a:gd name="adj" fmla="val 30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29000" y="1046988"/>
            <a:ext cx="2286000" cy="457200"/>
          </a:xfrm>
          <a:prstGeom prst="rect">
            <a:avLst/>
          </a:prstGeom>
          <a:noFill/>
        </p:spPr>
        <p:txBody>
          <a:bodyPr wrap="square" lIns="45720" rIns="45720" tIns="18288" bIns="18288" anchor="ctr">
            <a:spAutoFit/>
          </a:bodyPr>
          <a:lstStyle/>
          <a:p>
            <a:pPr rtl="1" algn="ctr">
              <a:lnSpc>
                <a:spcPct val="100000"/>
              </a:lnSpc>
            </a:pPr>
            <a:r>
              <a:rPr sz="2000" b="1" lang="ar-MA">
                <a:solidFill>
                  <a:srgbClr val="FFFFFF"/>
                </a:solidFill>
                <a:latin typeface="Cairo"/>
                <a:cs typeface="Cairo"/>
              </a:rPr>
              <a:t>المواد الأولية</a:t>
            </a:r>
          </a:p>
        </p:txBody>
      </p:sp>
      <p:sp>
        <p:nvSpPr>
          <p:cNvPr id="12" name="TextBox 11"/>
          <p:cNvSpPr txBox="1"/>
          <p:nvPr/>
        </p:nvSpPr>
        <p:spPr>
          <a:xfrm>
            <a:off x="3429000" y="1485900"/>
            <a:ext cx="2286000" cy="502920"/>
          </a:xfrm>
          <a:prstGeom prst="rect">
            <a:avLst/>
          </a:prstGeom>
          <a:noFill/>
        </p:spPr>
        <p:txBody>
          <a:bodyPr wrap="square" lIns="45720" rIns="45720" tIns="18288" bIns="18288" anchor="t">
            <a:spAutoFit/>
          </a:bodyPr>
          <a:lstStyle/>
          <a:p>
            <a:pPr rtl="1" algn="ctr">
              <a:lnSpc>
                <a:spcPct val="100000"/>
              </a:lnSpc>
            </a:pPr>
            <a:r>
              <a:rPr sz="1600" b="0" lang="ar-MA">
                <a:solidFill>
                  <a:srgbClr val="FFFFFF"/>
                </a:solidFill>
                <a:latin typeface="Cairo"/>
                <a:cs typeface="Cairo"/>
              </a:rPr>
              <a:t>تُجلب من المستعمرات</a:t>
            </a:r>
          </a:p>
        </p:txBody>
      </p:sp>
      <p:sp>
        <p:nvSpPr>
          <p:cNvPr id="13" name="Rounded Rectangle 12"/>
          <p:cNvSpPr/>
          <p:nvPr/>
        </p:nvSpPr>
        <p:spPr>
          <a:xfrm>
            <a:off x="469965" y="1944860"/>
            <a:ext cx="2377440" cy="1005840"/>
          </a:xfrm>
          <a:prstGeom prst="roundRect">
            <a:avLst>
              <a:gd name="adj" fmla="val 30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5685" y="1963148"/>
            <a:ext cx="2286000" cy="457200"/>
          </a:xfrm>
          <a:prstGeom prst="rect">
            <a:avLst/>
          </a:prstGeom>
          <a:noFill/>
        </p:spPr>
        <p:txBody>
          <a:bodyPr wrap="square" lIns="45720" rIns="45720" tIns="18288" bIns="18288" anchor="ctr">
            <a:spAutoFit/>
          </a:bodyPr>
          <a:lstStyle/>
          <a:p>
            <a:pPr rtl="1" algn="ctr">
              <a:lnSpc>
                <a:spcPct val="100000"/>
              </a:lnSpc>
            </a:pPr>
            <a:r>
              <a:rPr sz="2000" b="1" lang="ar-MA">
                <a:solidFill>
                  <a:srgbClr val="FFFFFF"/>
                </a:solidFill>
                <a:latin typeface="Cairo"/>
                <a:cs typeface="Cairo"/>
              </a:rPr>
              <a:t>الأسواق</a:t>
            </a:r>
          </a:p>
        </p:txBody>
      </p:sp>
      <p:sp>
        <p:nvSpPr>
          <p:cNvPr id="15" name="TextBox 14"/>
          <p:cNvSpPr txBox="1"/>
          <p:nvPr/>
        </p:nvSpPr>
        <p:spPr>
          <a:xfrm>
            <a:off x="515685" y="2402060"/>
            <a:ext cx="2286000" cy="502920"/>
          </a:xfrm>
          <a:prstGeom prst="rect">
            <a:avLst/>
          </a:prstGeom>
          <a:noFill/>
        </p:spPr>
        <p:txBody>
          <a:bodyPr wrap="square" lIns="45720" rIns="45720" tIns="18288" bIns="18288" anchor="t">
            <a:spAutoFit/>
          </a:bodyPr>
          <a:lstStyle/>
          <a:p>
            <a:pPr rtl="1" algn="ctr">
              <a:lnSpc>
                <a:spcPct val="100000"/>
              </a:lnSpc>
            </a:pPr>
            <a:r>
              <a:rPr sz="1600" b="0" lang="ar-MA">
                <a:solidFill>
                  <a:srgbClr val="FFFFFF"/>
                </a:solidFill>
                <a:latin typeface="Cairo"/>
                <a:cs typeface="Cairo"/>
              </a:rPr>
              <a:t>لتصريف فائض الإنتاج</a:t>
            </a:r>
          </a:p>
        </p:txBody>
      </p:sp>
      <p:sp>
        <p:nvSpPr>
          <p:cNvPr id="16" name="Rounded Rectangle 15"/>
          <p:cNvSpPr/>
          <p:nvPr/>
        </p:nvSpPr>
        <p:spPr>
          <a:xfrm>
            <a:off x="1582752" y="3427239"/>
            <a:ext cx="2377440" cy="1005840"/>
          </a:xfrm>
          <a:prstGeom prst="roundRect">
            <a:avLst>
              <a:gd name="adj" fmla="val 30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628472" y="3445527"/>
            <a:ext cx="2286000" cy="457200"/>
          </a:xfrm>
          <a:prstGeom prst="rect">
            <a:avLst/>
          </a:prstGeom>
          <a:noFill/>
        </p:spPr>
        <p:txBody>
          <a:bodyPr wrap="square" lIns="45720" rIns="45720" tIns="18288" bIns="18288" anchor="ctr">
            <a:spAutoFit/>
          </a:bodyPr>
          <a:lstStyle/>
          <a:p>
            <a:pPr rtl="1" algn="ctr">
              <a:lnSpc>
                <a:spcPct val="100000"/>
              </a:lnSpc>
            </a:pPr>
            <a:r>
              <a:rPr sz="2000" b="1" lang="ar-MA">
                <a:solidFill>
                  <a:srgbClr val="FFFFFF"/>
                </a:solidFill>
                <a:latin typeface="Cairo"/>
                <a:cs typeface="Cairo"/>
              </a:rPr>
              <a:t>الرساميل</a:t>
            </a:r>
          </a:p>
        </p:txBody>
      </p:sp>
      <p:sp>
        <p:nvSpPr>
          <p:cNvPr id="18" name="TextBox 17"/>
          <p:cNvSpPr txBox="1"/>
          <p:nvPr/>
        </p:nvSpPr>
        <p:spPr>
          <a:xfrm>
            <a:off x="1628472" y="3884439"/>
            <a:ext cx="2286000" cy="502920"/>
          </a:xfrm>
          <a:prstGeom prst="rect">
            <a:avLst/>
          </a:prstGeom>
          <a:noFill/>
        </p:spPr>
        <p:txBody>
          <a:bodyPr wrap="square" lIns="45720" rIns="45720" tIns="18288" bIns="18288" anchor="t">
            <a:spAutoFit/>
          </a:bodyPr>
          <a:lstStyle/>
          <a:p>
            <a:pPr rtl="1" algn="ctr">
              <a:lnSpc>
                <a:spcPct val="100000"/>
              </a:lnSpc>
            </a:pPr>
            <a:r>
              <a:rPr sz="1600" b="0" lang="ar-MA">
                <a:solidFill>
                  <a:srgbClr val="FFFFFF"/>
                </a:solidFill>
                <a:latin typeface="Cairo"/>
                <a:cs typeface="Cairo"/>
              </a:rPr>
              <a:t>تُستثمر خارج أوروبا</a:t>
            </a:r>
          </a:p>
        </p:txBody>
      </p:sp>
      <p:sp>
        <p:nvSpPr>
          <p:cNvPr id="19" name="Rounded Rectangle 18"/>
          <p:cNvSpPr/>
          <p:nvPr/>
        </p:nvSpPr>
        <p:spPr>
          <a:xfrm>
            <a:off x="5183807" y="3427239"/>
            <a:ext cx="2377440" cy="1005840"/>
          </a:xfrm>
          <a:prstGeom prst="roundRect">
            <a:avLst>
              <a:gd name="adj" fmla="val 30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9527" y="3445527"/>
            <a:ext cx="2286000" cy="457200"/>
          </a:xfrm>
          <a:prstGeom prst="rect">
            <a:avLst/>
          </a:prstGeom>
          <a:noFill/>
        </p:spPr>
        <p:txBody>
          <a:bodyPr wrap="square" lIns="45720" rIns="45720" tIns="18288" bIns="18288" anchor="ctr">
            <a:spAutoFit/>
          </a:bodyPr>
          <a:lstStyle/>
          <a:p>
            <a:pPr rtl="1" algn="ctr">
              <a:lnSpc>
                <a:spcPct val="100000"/>
              </a:lnSpc>
            </a:pPr>
            <a:r>
              <a:rPr sz="2000" b="1" lang="ar-MA">
                <a:solidFill>
                  <a:srgbClr val="FFFFFF"/>
                </a:solidFill>
                <a:latin typeface="Cairo"/>
                <a:cs typeface="Cairo"/>
              </a:rPr>
              <a:t>المستعمرات</a:t>
            </a:r>
          </a:p>
        </p:txBody>
      </p:sp>
      <p:sp>
        <p:nvSpPr>
          <p:cNvPr id="21" name="TextBox 20"/>
          <p:cNvSpPr txBox="1"/>
          <p:nvPr/>
        </p:nvSpPr>
        <p:spPr>
          <a:xfrm>
            <a:off x="5229527" y="3884439"/>
            <a:ext cx="2286000" cy="502920"/>
          </a:xfrm>
          <a:prstGeom prst="rect">
            <a:avLst/>
          </a:prstGeom>
          <a:noFill/>
        </p:spPr>
        <p:txBody>
          <a:bodyPr wrap="square" lIns="45720" rIns="45720" tIns="18288" bIns="18288" anchor="t">
            <a:spAutoFit/>
          </a:bodyPr>
          <a:lstStyle/>
          <a:p>
            <a:pPr rtl="1" algn="ctr">
              <a:lnSpc>
                <a:spcPct val="100000"/>
              </a:lnSpc>
            </a:pPr>
            <a:r>
              <a:rPr sz="1600" b="0" lang="ar-MA">
                <a:solidFill>
                  <a:srgbClr val="FFFFFF"/>
                </a:solidFill>
                <a:latin typeface="Cairo"/>
                <a:cs typeface="Cairo"/>
              </a:rPr>
              <a:t>استغلال وتبعية</a:t>
            </a:r>
          </a:p>
        </p:txBody>
      </p:sp>
      <p:sp>
        <p:nvSpPr>
          <p:cNvPr id="22" name="Rounded Rectangle 21"/>
          <p:cNvSpPr/>
          <p:nvPr/>
        </p:nvSpPr>
        <p:spPr>
          <a:xfrm>
            <a:off x="6296594" y="1944860"/>
            <a:ext cx="2377440" cy="1005840"/>
          </a:xfrm>
          <a:prstGeom prst="roundRect">
            <a:avLst>
              <a:gd name="adj" fmla="val 30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2314" y="1963148"/>
            <a:ext cx="2286000" cy="457200"/>
          </a:xfrm>
          <a:prstGeom prst="rect">
            <a:avLst/>
          </a:prstGeom>
          <a:noFill/>
        </p:spPr>
        <p:txBody>
          <a:bodyPr wrap="square" lIns="45720" rIns="45720" tIns="18288" bIns="18288" anchor="ctr">
            <a:spAutoFit/>
          </a:bodyPr>
          <a:lstStyle/>
          <a:p>
            <a:pPr rtl="1" algn="ctr">
              <a:lnSpc>
                <a:spcPct val="100000"/>
              </a:lnSpc>
            </a:pPr>
            <a:r>
              <a:rPr sz="2000" b="1" lang="ar-MA">
                <a:solidFill>
                  <a:srgbClr val="FFFFFF"/>
                </a:solidFill>
                <a:latin typeface="Cairo"/>
                <a:cs typeface="Cairo"/>
              </a:rPr>
              <a:t>المقاومة</a:t>
            </a:r>
          </a:p>
        </p:txBody>
      </p:sp>
      <p:sp>
        <p:nvSpPr>
          <p:cNvPr id="24" name="TextBox 23"/>
          <p:cNvSpPr txBox="1"/>
          <p:nvPr/>
        </p:nvSpPr>
        <p:spPr>
          <a:xfrm>
            <a:off x="6342314" y="2402060"/>
            <a:ext cx="2286000" cy="502920"/>
          </a:xfrm>
          <a:prstGeom prst="rect">
            <a:avLst/>
          </a:prstGeom>
          <a:noFill/>
        </p:spPr>
        <p:txBody>
          <a:bodyPr wrap="square" lIns="45720" rIns="45720" tIns="18288" bIns="18288" anchor="t">
            <a:spAutoFit/>
          </a:bodyPr>
          <a:lstStyle/>
          <a:p>
            <a:pPr rtl="1" algn="ctr">
              <a:lnSpc>
                <a:spcPct val="100000"/>
              </a:lnSpc>
            </a:pPr>
            <a:r>
              <a:rPr sz="1600" b="0" lang="ar-MA">
                <a:solidFill>
                  <a:srgbClr val="FFFFFF"/>
                </a:solidFill>
                <a:latin typeface="Cairo"/>
                <a:cs typeface="Cairo"/>
              </a:rPr>
              <a:t>إصلاح وتحرر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من يصنع التحولات؟ ومن يتأثر بها؟</a:t>
            </a:r>
          </a:p>
        </p:txBody>
      </p:sp>
      <p:sp>
        <p:nvSpPr>
          <p:cNvPr id="3" name="Rounded Rectangle 2"/>
          <p:cNvSpPr/>
          <p:nvPr/>
        </p:nvSpPr>
        <p:spPr>
          <a:xfrm>
            <a:off x="6068568" y="1097280"/>
            <a:ext cx="2663952"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622792" y="1097280"/>
            <a:ext cx="109728" cy="1677923"/>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05728" y="1170432"/>
            <a:ext cx="2298192" cy="475488"/>
          </a:xfrm>
          <a:prstGeom prst="rect">
            <a:avLst/>
          </a:prstGeom>
          <a:noFill/>
        </p:spPr>
        <p:txBody>
          <a:bodyPr wrap="square" lIns="45720" rIns="45720" tIns="18288" bIns="18288" anchor="t">
            <a:spAutoFit/>
          </a:bodyPr>
          <a:lstStyle/>
          <a:p>
            <a:pPr rtl="1" algn="r">
              <a:lnSpc>
                <a:spcPct val="95000"/>
              </a:lnSpc>
            </a:pPr>
            <a:r>
              <a:rPr sz="2100" b="1" lang="ar-MA">
                <a:solidFill>
                  <a:srgbClr val="1F6F78"/>
                </a:solidFill>
                <a:latin typeface="Cairo"/>
                <a:cs typeface="Cairo"/>
              </a:rPr>
              <a:t>أوروبا الغربية</a:t>
            </a:r>
          </a:p>
        </p:txBody>
      </p:sp>
      <p:sp>
        <p:nvSpPr>
          <p:cNvPr id="6" name="TextBox 5"/>
          <p:cNvSpPr txBox="1"/>
          <p:nvPr/>
        </p:nvSpPr>
        <p:spPr>
          <a:xfrm>
            <a:off x="6205728" y="16459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المركز</a:t>
            </a:r>
          </a:p>
        </p:txBody>
      </p:sp>
      <p:sp>
        <p:nvSpPr>
          <p:cNvPr id="7" name="TextBox 6"/>
          <p:cNvSpPr txBox="1"/>
          <p:nvPr/>
        </p:nvSpPr>
        <p:spPr>
          <a:xfrm>
            <a:off x="6205728" y="2002536"/>
            <a:ext cx="2298192"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مهد الثورة الصناعية ومنطلق الإمبريالية</a:t>
            </a:r>
          </a:p>
        </p:txBody>
      </p:sp>
      <p:sp>
        <p:nvSpPr>
          <p:cNvPr id="8" name="Rounded Rectangle 7"/>
          <p:cNvSpPr/>
          <p:nvPr/>
        </p:nvSpPr>
        <p:spPr>
          <a:xfrm>
            <a:off x="3240023" y="1097280"/>
            <a:ext cx="2663952"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794248" y="1097280"/>
            <a:ext cx="109728" cy="1677923"/>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77183" y="1170432"/>
            <a:ext cx="2298192" cy="475488"/>
          </a:xfrm>
          <a:prstGeom prst="rect">
            <a:avLst/>
          </a:prstGeom>
          <a:noFill/>
        </p:spPr>
        <p:txBody>
          <a:bodyPr wrap="square" lIns="45720" rIns="45720" tIns="18288" bIns="18288" anchor="t">
            <a:spAutoFit/>
          </a:bodyPr>
          <a:lstStyle/>
          <a:p>
            <a:pPr rtl="1" algn="r">
              <a:lnSpc>
                <a:spcPct val="95000"/>
              </a:lnSpc>
            </a:pPr>
            <a:r>
              <a:rPr sz="2100" b="1" lang="ar-MA">
                <a:solidFill>
                  <a:srgbClr val="8C2F39"/>
                </a:solidFill>
                <a:latin typeface="Cairo"/>
                <a:cs typeface="Cairo"/>
              </a:rPr>
              <a:t>الولايات المتحدة</a:t>
            </a:r>
          </a:p>
        </p:txBody>
      </p:sp>
      <p:sp>
        <p:nvSpPr>
          <p:cNvPr id="11" name="TextBox 10"/>
          <p:cNvSpPr txBox="1"/>
          <p:nvPr/>
        </p:nvSpPr>
        <p:spPr>
          <a:xfrm>
            <a:off x="3377183" y="16459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قوة صاعدة</a:t>
            </a:r>
          </a:p>
        </p:txBody>
      </p:sp>
      <p:sp>
        <p:nvSpPr>
          <p:cNvPr id="12" name="TextBox 11"/>
          <p:cNvSpPr txBox="1"/>
          <p:nvPr/>
        </p:nvSpPr>
        <p:spPr>
          <a:xfrm>
            <a:off x="3377183" y="2002536"/>
            <a:ext cx="2298192"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زعيمة المعسكر الغربي بعد 1945</a:t>
            </a:r>
          </a:p>
        </p:txBody>
      </p:sp>
      <p:sp>
        <p:nvSpPr>
          <p:cNvPr id="13" name="Rounded Rectangle 12"/>
          <p:cNvSpPr/>
          <p:nvPr/>
        </p:nvSpPr>
        <p:spPr>
          <a:xfrm>
            <a:off x="411479" y="1097280"/>
            <a:ext cx="2663952"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65703" y="1097280"/>
            <a:ext cx="109728" cy="1677923"/>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39" y="1170432"/>
            <a:ext cx="2298192" cy="475488"/>
          </a:xfrm>
          <a:prstGeom prst="rect">
            <a:avLst/>
          </a:prstGeom>
          <a:noFill/>
        </p:spPr>
        <p:txBody>
          <a:bodyPr wrap="square" lIns="45720" rIns="45720" tIns="18288" bIns="18288" anchor="t">
            <a:spAutoFit/>
          </a:bodyPr>
          <a:lstStyle/>
          <a:p>
            <a:pPr rtl="1" algn="r">
              <a:lnSpc>
                <a:spcPct val="95000"/>
              </a:lnSpc>
            </a:pPr>
            <a:r>
              <a:rPr sz="2100" b="1" lang="ar-MA">
                <a:solidFill>
                  <a:srgbClr val="4F7A3A"/>
                </a:solidFill>
                <a:latin typeface="Cairo"/>
                <a:cs typeface="Cairo"/>
              </a:rPr>
              <a:t>اليابان</a:t>
            </a:r>
          </a:p>
        </p:txBody>
      </p:sp>
      <p:sp>
        <p:nvSpPr>
          <p:cNvPr id="16" name="TextBox 15"/>
          <p:cNvSpPr txBox="1"/>
          <p:nvPr/>
        </p:nvSpPr>
        <p:spPr>
          <a:xfrm>
            <a:off x="548639" y="1645920"/>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قوة صاعدة</a:t>
            </a:r>
          </a:p>
        </p:txBody>
      </p:sp>
      <p:sp>
        <p:nvSpPr>
          <p:cNvPr id="17" name="TextBox 16"/>
          <p:cNvSpPr txBox="1"/>
          <p:nvPr/>
        </p:nvSpPr>
        <p:spPr>
          <a:xfrm>
            <a:off x="548639" y="2002536"/>
            <a:ext cx="2298192"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تحديث «الميجي» ثم التوسع في آسيا</a:t>
            </a:r>
          </a:p>
        </p:txBody>
      </p:sp>
      <p:sp>
        <p:nvSpPr>
          <p:cNvPr id="18" name="Rounded Rectangle 17"/>
          <p:cNvSpPr/>
          <p:nvPr/>
        </p:nvSpPr>
        <p:spPr>
          <a:xfrm>
            <a:off x="6068568" y="2939796"/>
            <a:ext cx="2663952"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622792" y="2939796"/>
            <a:ext cx="109728" cy="1677923"/>
          </a:xfrm>
          <a:prstGeom prst="rect">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05728" y="3012948"/>
            <a:ext cx="2298192" cy="475488"/>
          </a:xfrm>
          <a:prstGeom prst="rect">
            <a:avLst/>
          </a:prstGeom>
          <a:noFill/>
        </p:spPr>
        <p:txBody>
          <a:bodyPr wrap="square" lIns="45720" rIns="45720" tIns="18288" bIns="18288" anchor="t">
            <a:spAutoFit/>
          </a:bodyPr>
          <a:lstStyle/>
          <a:p>
            <a:pPr rtl="1" algn="r">
              <a:lnSpc>
                <a:spcPct val="95000"/>
              </a:lnSpc>
            </a:pPr>
            <a:r>
              <a:rPr sz="2100" b="1" lang="ar-MA">
                <a:solidFill>
                  <a:srgbClr val="B06A1E"/>
                </a:solidFill>
                <a:latin typeface="Cairo"/>
                <a:cs typeface="Cairo"/>
              </a:rPr>
              <a:t>إفريقيا وآسيا</a:t>
            </a:r>
          </a:p>
        </p:txBody>
      </p:sp>
      <p:sp>
        <p:nvSpPr>
          <p:cNvPr id="21" name="TextBox 20"/>
          <p:cNvSpPr txBox="1"/>
          <p:nvPr/>
        </p:nvSpPr>
        <p:spPr>
          <a:xfrm>
            <a:off x="6205728" y="3488436"/>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الأطراف</a:t>
            </a:r>
          </a:p>
        </p:txBody>
      </p:sp>
      <p:sp>
        <p:nvSpPr>
          <p:cNvPr id="22" name="TextBox 21"/>
          <p:cNvSpPr txBox="1"/>
          <p:nvPr/>
        </p:nvSpPr>
        <p:spPr>
          <a:xfrm>
            <a:off x="6205728" y="3845052"/>
            <a:ext cx="2298192"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استعمار مباشر؛ وأمريكا اللاتينية: تبعية</a:t>
            </a:r>
          </a:p>
        </p:txBody>
      </p:sp>
      <p:sp>
        <p:nvSpPr>
          <p:cNvPr id="23" name="Rounded Rectangle 22"/>
          <p:cNvSpPr/>
          <p:nvPr/>
        </p:nvSpPr>
        <p:spPr>
          <a:xfrm>
            <a:off x="3240023" y="2939796"/>
            <a:ext cx="2663952"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794248" y="2939796"/>
            <a:ext cx="109728" cy="1677923"/>
          </a:xfrm>
          <a:prstGeom prst="rect">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377183" y="3012948"/>
            <a:ext cx="2298192" cy="475488"/>
          </a:xfrm>
          <a:prstGeom prst="rect">
            <a:avLst/>
          </a:prstGeom>
          <a:noFill/>
        </p:spPr>
        <p:txBody>
          <a:bodyPr wrap="square" lIns="45720" rIns="45720" tIns="18288" bIns="18288" anchor="t">
            <a:spAutoFit/>
          </a:bodyPr>
          <a:lstStyle/>
          <a:p>
            <a:pPr rtl="1" algn="r">
              <a:lnSpc>
                <a:spcPct val="95000"/>
              </a:lnSpc>
            </a:pPr>
            <a:r>
              <a:rPr sz="2100" b="1" lang="ar-MA">
                <a:solidFill>
                  <a:srgbClr val="4A4F8C"/>
                </a:solidFill>
                <a:latin typeface="Cairo"/>
                <a:cs typeface="Cairo"/>
              </a:rPr>
              <a:t>المشرق العربي</a:t>
            </a:r>
          </a:p>
        </p:txBody>
      </p:sp>
      <p:sp>
        <p:nvSpPr>
          <p:cNvPr id="26" name="TextBox 25"/>
          <p:cNvSpPr txBox="1"/>
          <p:nvPr/>
        </p:nvSpPr>
        <p:spPr>
          <a:xfrm>
            <a:off x="3377183" y="3488436"/>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نهضة ومقاومة</a:t>
            </a:r>
          </a:p>
        </p:txBody>
      </p:sp>
      <p:sp>
        <p:nvSpPr>
          <p:cNvPr id="27" name="TextBox 26"/>
          <p:cNvSpPr txBox="1"/>
          <p:nvPr/>
        </p:nvSpPr>
        <p:spPr>
          <a:xfrm>
            <a:off x="3377183" y="3845052"/>
            <a:ext cx="2298192"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يقظة فكرية ثم نضال من أجل التحرر</a:t>
            </a:r>
          </a:p>
        </p:txBody>
      </p:sp>
      <p:sp>
        <p:nvSpPr>
          <p:cNvPr id="28" name="Rounded Rectangle 27"/>
          <p:cNvSpPr/>
          <p:nvPr/>
        </p:nvSpPr>
        <p:spPr>
          <a:xfrm>
            <a:off x="411479" y="2939796"/>
            <a:ext cx="2663952" cy="1677923"/>
          </a:xfrm>
          <a:prstGeom prst="roundRect">
            <a:avLst>
              <a:gd name="adj" fmla="val 12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965703" y="2939796"/>
            <a:ext cx="109728" cy="1677923"/>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39" y="3012948"/>
            <a:ext cx="2298192" cy="475488"/>
          </a:xfrm>
          <a:prstGeom prst="rect">
            <a:avLst/>
          </a:prstGeom>
          <a:noFill/>
        </p:spPr>
        <p:txBody>
          <a:bodyPr wrap="square" lIns="45720" rIns="45720" tIns="18288" bIns="18288" anchor="t">
            <a:spAutoFit/>
          </a:bodyPr>
          <a:lstStyle/>
          <a:p>
            <a:pPr rtl="1" algn="r">
              <a:lnSpc>
                <a:spcPct val="95000"/>
              </a:lnSpc>
            </a:pPr>
            <a:r>
              <a:rPr sz="2100" b="1" lang="ar-MA">
                <a:solidFill>
                  <a:srgbClr val="0B2242"/>
                </a:solidFill>
                <a:latin typeface="Cairo"/>
                <a:cs typeface="Cairo"/>
              </a:rPr>
              <a:t>المغرب</a:t>
            </a:r>
          </a:p>
        </p:txBody>
      </p:sp>
      <p:sp>
        <p:nvSpPr>
          <p:cNvPr id="31" name="TextBox 30"/>
          <p:cNvSpPr txBox="1"/>
          <p:nvPr/>
        </p:nvSpPr>
        <p:spPr>
          <a:xfrm>
            <a:off x="548639" y="3488436"/>
            <a:ext cx="2298192" cy="310896"/>
          </a:xfrm>
          <a:prstGeom prst="rect">
            <a:avLst/>
          </a:prstGeom>
          <a:noFill/>
        </p:spPr>
        <p:txBody>
          <a:bodyPr wrap="square" lIns="45720" rIns="45720" tIns="18288" bIns="18288" anchor="t">
            <a:spAutoFit/>
          </a:bodyPr>
          <a:lstStyle/>
          <a:p>
            <a:pPr rtl="1" algn="r">
              <a:lnSpc>
                <a:spcPct val="100000"/>
              </a:lnSpc>
            </a:pPr>
            <a:r>
              <a:rPr sz="1400" b="1" lang="ar-MA">
                <a:solidFill>
                  <a:srgbClr val="C9A24A"/>
                </a:solidFill>
                <a:latin typeface="Cairo"/>
                <a:cs typeface="Cairo"/>
              </a:rPr>
              <a:t>إصلاح ومقاومة</a:t>
            </a:r>
          </a:p>
        </p:txBody>
      </p:sp>
      <p:sp>
        <p:nvSpPr>
          <p:cNvPr id="32" name="TextBox 31"/>
          <p:cNvSpPr txBox="1"/>
          <p:nvPr/>
        </p:nvSpPr>
        <p:spPr>
          <a:xfrm>
            <a:off x="548639" y="3845052"/>
            <a:ext cx="2298192" cy="726947"/>
          </a:xfrm>
          <a:prstGeom prst="rect">
            <a:avLst/>
          </a:prstGeom>
          <a:noFill/>
        </p:spPr>
        <p:txBody>
          <a:bodyPr wrap="square" lIns="45720" rIns="45720" tIns="18288" bIns="18288" anchor="t">
            <a:spAutoFit/>
          </a:bodyPr>
          <a:lstStyle/>
          <a:p>
            <a:pPr rtl="1" algn="r">
              <a:lnSpc>
                <a:spcPct val="100000"/>
              </a:lnSpc>
            </a:pPr>
            <a:r>
              <a:rPr sz="1800" b="0" lang="ar-MA">
                <a:solidFill>
                  <a:srgbClr val="26303D"/>
                </a:solidFill>
                <a:latin typeface="Cairo"/>
                <a:cs typeface="Cairo"/>
              </a:rPr>
              <a:t>حماية 1912 ← استقلال 1956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2- الإطار المكاني لموضوع البرنامج</a:t>
            </a:r>
          </a:p>
          <a:p>
            <a:pPr rtl="1" algn="r">
              <a:buNone/>
              <a:spcAft>
                <a:spcPts val="600"/>
              </a:spcAft>
            </a:pPr>
            <a:r>
              <a:rPr sz="2600" b="0" lang="ar-MA">
                <a:latin typeface="Cairo"/>
                <a:cs typeface="Cairo"/>
              </a:rPr>
              <a:t>• أوروبا الغربية: المركز الأول للثورة الصناعية والرأسمالية، ومنها انطلقت الحركة الإمبريالية واندلعت الحربان العالميتان.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الولايات المتحدة الأمريكية: تطورت إلى قوة رأسمالية كبرى، وأسهمت في انتصار الحلفاء، ثم أصبحت زعيمة المعسكر الغربي بعد الحرب العالمية الثانية.</a:t>
            </a:r>
          </a:p>
          <a:p>
            <a:pPr rtl="1" algn="r">
              <a:buNone/>
              <a:spcAft>
                <a:spcPts val="600"/>
              </a:spcAft>
            </a:pPr>
            <a:r>
              <a:rPr sz="2400" b="0" lang="ar-MA">
                <a:latin typeface="Cairo"/>
                <a:cs typeface="Cairo"/>
              </a:rPr>
              <a:t>• اليابان: نجحت في التحديث والإصلاح، وتحولت إلى قوة صناعية وتوسعية ساهمت في أحداث الحرب العالمية الثانية.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400" b="0" lang="ar-MA">
                <a:latin typeface="Cairo"/>
                <a:cs typeface="Cairo"/>
              </a:rPr>
              <a:t>• إفريقيا وآسيا وأمريكا اللاتينية: خضعت مناطق واسعة من إفريقيا وآسيا للاستعمار المباشر، بينما عانت بلدان أمريكا اللاتينية من أشكال التبعية الاقتصادية والسياسية.</a:t>
            </a:r>
          </a:p>
          <a:p>
            <a:pPr rtl="1" algn="r">
              <a:buNone/>
              <a:spcAft>
                <a:spcPts val="600"/>
              </a:spcAft>
            </a:pPr>
            <a:r>
              <a:rPr sz="2400" b="0" lang="ar-MA">
                <a:latin typeface="Cairo"/>
                <a:cs typeface="Cairo"/>
              </a:rPr>
              <a:t>• المشرق العربي: عرف يقظة فكرية ونهضة إصلاحية، ثم واجه الهيمنة الاستعمارية وسعى إلى التحرر وبناء الدولة الوطنية.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المغرب: واجه الضغوط الاستعمارية بمحاولات إصلاح، ثم فرضت عليه الحماية، قبل أن يخوض المقاومة المسلحة والعمل الوطني وينال الاستقلال سنة 1956م، ويواصل استكمال وحدته الترابية.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3</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الثالث: طبيعة التحولات</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أربع خصائص للتحولات</a:t>
            </a:r>
          </a:p>
        </p:txBody>
      </p:sp>
      <p:sp>
        <p:nvSpPr>
          <p:cNvPr id="3" name="Rounded Rectangle 2"/>
          <p:cNvSpPr/>
          <p:nvPr/>
        </p:nvSpPr>
        <p:spPr>
          <a:xfrm>
            <a:off x="4663440" y="1097280"/>
            <a:ext cx="4069080" cy="1668779"/>
          </a:xfrm>
          <a:prstGeom prst="roundRect">
            <a:avLst>
              <a:gd name="adj" fmla="val 12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069580" y="12573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1F6F78"/>
                </a:solidFill>
                <a:latin typeface="Cairo"/>
                <a:cs typeface="Cairo"/>
              </a:rPr>
              <a:t>1</a:t>
            </a:r>
          </a:p>
        </p:txBody>
      </p:sp>
      <p:sp>
        <p:nvSpPr>
          <p:cNvPr id="5" name="TextBox 4"/>
          <p:cNvSpPr txBox="1"/>
          <p:nvPr/>
        </p:nvSpPr>
        <p:spPr>
          <a:xfrm>
            <a:off x="4846320" y="123443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شمولية</a:t>
            </a:r>
          </a:p>
        </p:txBody>
      </p:sp>
      <p:sp>
        <p:nvSpPr>
          <p:cNvPr id="6" name="TextBox 5"/>
          <p:cNvSpPr txBox="1"/>
          <p:nvPr/>
        </p:nvSpPr>
        <p:spPr>
          <a:xfrm>
            <a:off x="4846320" y="192024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الاقتصاد والمجتمع والسياسة والفكر</a:t>
            </a:r>
          </a:p>
        </p:txBody>
      </p:sp>
      <p:sp>
        <p:nvSpPr>
          <p:cNvPr id="7" name="Rounded Rectangle 6"/>
          <p:cNvSpPr/>
          <p:nvPr/>
        </p:nvSpPr>
        <p:spPr>
          <a:xfrm>
            <a:off x="411479" y="1097280"/>
            <a:ext cx="4069080" cy="1668779"/>
          </a:xfrm>
          <a:prstGeom prst="roundRect">
            <a:avLst>
              <a:gd name="adj" fmla="val 12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817619" y="125730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8C2F39"/>
                </a:solidFill>
                <a:latin typeface="Cairo"/>
                <a:cs typeface="Cairo"/>
              </a:rPr>
              <a:t>2</a:t>
            </a:r>
          </a:p>
        </p:txBody>
      </p:sp>
      <p:sp>
        <p:nvSpPr>
          <p:cNvPr id="9" name="TextBox 8"/>
          <p:cNvSpPr txBox="1"/>
          <p:nvPr/>
        </p:nvSpPr>
        <p:spPr>
          <a:xfrm>
            <a:off x="594359" y="123443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مترابطة</a:t>
            </a:r>
          </a:p>
        </p:txBody>
      </p:sp>
      <p:sp>
        <p:nvSpPr>
          <p:cNvPr id="10" name="TextBox 9"/>
          <p:cNvSpPr txBox="1"/>
          <p:nvPr/>
        </p:nvSpPr>
        <p:spPr>
          <a:xfrm>
            <a:off x="594359" y="192024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كل تحول يقود إلى الذي بعده</a:t>
            </a:r>
          </a:p>
        </p:txBody>
      </p:sp>
      <p:sp>
        <p:nvSpPr>
          <p:cNvPr id="11" name="Rounded Rectangle 10"/>
          <p:cNvSpPr/>
          <p:nvPr/>
        </p:nvSpPr>
        <p:spPr>
          <a:xfrm>
            <a:off x="4663440" y="2948939"/>
            <a:ext cx="4069080" cy="1668779"/>
          </a:xfrm>
          <a:prstGeom prst="roundRect">
            <a:avLst>
              <a:gd name="adj" fmla="val 12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069580" y="31089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4F7A3A"/>
                </a:solidFill>
                <a:latin typeface="Cairo"/>
                <a:cs typeface="Cairo"/>
              </a:rPr>
              <a:t>3</a:t>
            </a:r>
          </a:p>
        </p:txBody>
      </p:sp>
      <p:sp>
        <p:nvSpPr>
          <p:cNvPr id="13" name="TextBox 12"/>
          <p:cNvSpPr txBox="1"/>
          <p:nvPr/>
        </p:nvSpPr>
        <p:spPr>
          <a:xfrm>
            <a:off x="4846320" y="308609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غير متكافئة</a:t>
            </a:r>
          </a:p>
        </p:txBody>
      </p:sp>
      <p:sp>
        <p:nvSpPr>
          <p:cNvPr id="14" name="TextBox 13"/>
          <p:cNvSpPr txBox="1"/>
          <p:nvPr/>
        </p:nvSpPr>
        <p:spPr>
          <a:xfrm>
            <a:off x="4846320" y="377190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تقدّم المراكز مقابل استغلال الأطراف</a:t>
            </a:r>
          </a:p>
        </p:txBody>
      </p:sp>
      <p:sp>
        <p:nvSpPr>
          <p:cNvPr id="15" name="Rounded Rectangle 14"/>
          <p:cNvSpPr/>
          <p:nvPr/>
        </p:nvSpPr>
        <p:spPr>
          <a:xfrm>
            <a:off x="411479" y="2948939"/>
            <a:ext cx="4069080" cy="1668779"/>
          </a:xfrm>
          <a:prstGeom prst="roundRect">
            <a:avLst>
              <a:gd name="adj" fmla="val 12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817619" y="310896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B06A1E"/>
                </a:solidFill>
                <a:latin typeface="Cairo"/>
                <a:cs typeface="Cairo"/>
              </a:rPr>
              <a:t>4</a:t>
            </a:r>
          </a:p>
        </p:txBody>
      </p:sp>
      <p:sp>
        <p:nvSpPr>
          <p:cNvPr id="17" name="TextBox 16"/>
          <p:cNvSpPr txBox="1"/>
          <p:nvPr/>
        </p:nvSpPr>
        <p:spPr>
          <a:xfrm>
            <a:off x="594359" y="3086099"/>
            <a:ext cx="3246120" cy="594360"/>
          </a:xfrm>
          <a:prstGeom prst="rect">
            <a:avLst/>
          </a:prstGeom>
          <a:noFill/>
        </p:spPr>
        <p:txBody>
          <a:bodyPr wrap="square" lIns="45720" rIns="45720" tIns="18288" bIns="18288" anchor="t">
            <a:spAutoFit/>
          </a:bodyPr>
          <a:lstStyle/>
          <a:p>
            <a:pPr rtl="1" algn="r">
              <a:lnSpc>
                <a:spcPct val="100000"/>
              </a:lnSpc>
            </a:pPr>
            <a:r>
              <a:rPr sz="3000" b="1" lang="ar-MA">
                <a:solidFill>
                  <a:srgbClr val="FFFFFF"/>
                </a:solidFill>
                <a:latin typeface="Cairo"/>
                <a:cs typeface="Cairo"/>
              </a:rPr>
              <a:t>صراعية</a:t>
            </a:r>
          </a:p>
        </p:txBody>
      </p:sp>
      <p:sp>
        <p:nvSpPr>
          <p:cNvPr id="18" name="TextBox 17"/>
          <p:cNvSpPr txBox="1"/>
          <p:nvPr/>
        </p:nvSpPr>
        <p:spPr>
          <a:xfrm>
            <a:off x="594359" y="3771900"/>
            <a:ext cx="3703320" cy="754379"/>
          </a:xfrm>
          <a:prstGeom prst="rect">
            <a:avLst/>
          </a:prstGeom>
          <a:noFill/>
        </p:spPr>
        <p:txBody>
          <a:bodyPr wrap="square" lIns="45720" rIns="45720" tIns="18288" bIns="18288" anchor="t">
            <a:spAutoFit/>
          </a:bodyPr>
          <a:lstStyle/>
          <a:p>
            <a:pPr rtl="1" algn="r">
              <a:lnSpc>
                <a:spcPct val="100000"/>
              </a:lnSpc>
            </a:pPr>
            <a:r>
              <a:rPr sz="2200" b="0" lang="ar-MA">
                <a:solidFill>
                  <a:srgbClr val="FFFFFF"/>
                </a:solidFill>
                <a:latin typeface="Cairo"/>
                <a:cs typeface="Cairo"/>
              </a:rPr>
              <a:t>حروب وأزمات… ومقاومات وتحرر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المنطق السببي: كيف تسلسلت التحولات؟</a:t>
            </a:r>
          </a:p>
        </p:txBody>
      </p:sp>
      <p:sp>
        <p:nvSpPr>
          <p:cNvPr id="3" name="Rounded Rectangle 2"/>
          <p:cNvSpPr/>
          <p:nvPr/>
        </p:nvSpPr>
        <p:spPr>
          <a:xfrm>
            <a:off x="6149340" y="1325880"/>
            <a:ext cx="2148840" cy="960120"/>
          </a:xfrm>
          <a:prstGeom prst="roundRect">
            <a:avLst>
              <a:gd name="adj" fmla="val 12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204203"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الثورة الصناعية</a:t>
            </a:r>
          </a:p>
        </p:txBody>
      </p:sp>
      <p:sp>
        <p:nvSpPr>
          <p:cNvPr id="5" name="Left Arrow 4"/>
          <p:cNvSpPr/>
          <p:nvPr/>
        </p:nvSpPr>
        <p:spPr>
          <a:xfrm>
            <a:off x="5692140" y="1623060"/>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497579" y="1325880"/>
            <a:ext cx="2148840" cy="960120"/>
          </a:xfrm>
          <a:prstGeom prst="roundRect">
            <a:avLst>
              <a:gd name="adj" fmla="val 12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552443"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تراكم الرساميل وفائض الإنتاج</a:t>
            </a:r>
          </a:p>
        </p:txBody>
      </p:sp>
      <p:sp>
        <p:nvSpPr>
          <p:cNvPr id="8" name="Left Arrow 7"/>
          <p:cNvSpPr/>
          <p:nvPr/>
        </p:nvSpPr>
        <p:spPr>
          <a:xfrm>
            <a:off x="3040379" y="1623060"/>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5819" y="1325880"/>
            <a:ext cx="2148840" cy="960120"/>
          </a:xfrm>
          <a:prstGeom prst="roundRect">
            <a:avLst>
              <a:gd name="adj" fmla="val 12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00683" y="132588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البحث عن الأسواق والمواد الأولية</a:t>
            </a:r>
          </a:p>
        </p:txBody>
      </p:sp>
      <p:sp>
        <p:nvSpPr>
          <p:cNvPr id="11" name="Down Arrow 10"/>
          <p:cNvSpPr/>
          <p:nvPr/>
        </p:nvSpPr>
        <p:spPr>
          <a:xfrm>
            <a:off x="1737359" y="2377440"/>
            <a:ext cx="365760" cy="502920"/>
          </a:xfrm>
          <a:prstGeom prst="down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45819" y="2971800"/>
            <a:ext cx="2148840" cy="960120"/>
          </a:xfrm>
          <a:prstGeom prst="roundRect">
            <a:avLst>
              <a:gd name="adj" fmla="val 12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0683" y="297180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التنافس الإمبريالي</a:t>
            </a:r>
          </a:p>
        </p:txBody>
      </p:sp>
      <p:sp>
        <p:nvSpPr>
          <p:cNvPr id="14" name="Left Arrow 13"/>
          <p:cNvSpPr/>
          <p:nvPr/>
        </p:nvSpPr>
        <p:spPr>
          <a:xfrm rot="10800000">
            <a:off x="3040379" y="3268979"/>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497579" y="2971800"/>
            <a:ext cx="2148840" cy="960120"/>
          </a:xfrm>
          <a:prstGeom prst="roundRect">
            <a:avLst>
              <a:gd name="adj" fmla="val 12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52443" y="297180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الحروب والأزمات</a:t>
            </a:r>
          </a:p>
        </p:txBody>
      </p:sp>
      <p:sp>
        <p:nvSpPr>
          <p:cNvPr id="17" name="Left Arrow 16"/>
          <p:cNvSpPr/>
          <p:nvPr/>
        </p:nvSpPr>
        <p:spPr>
          <a:xfrm rot="10800000">
            <a:off x="5692139" y="3268979"/>
            <a:ext cx="411480" cy="365760"/>
          </a:xfrm>
          <a:prstGeom prst="leftArrow">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149340" y="2971800"/>
            <a:ext cx="2148840" cy="960120"/>
          </a:xfrm>
          <a:prstGeom prst="roundRect">
            <a:avLst>
              <a:gd name="adj" fmla="val 12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204203" y="2971800"/>
            <a:ext cx="2039112" cy="960120"/>
          </a:xfrm>
          <a:prstGeom prst="rect">
            <a:avLst/>
          </a:prstGeom>
          <a:noFill/>
        </p:spPr>
        <p:txBody>
          <a:bodyPr wrap="square" lIns="45720" rIns="45720" tIns="18288" bIns="18288" anchor="ctr">
            <a:spAutoFit/>
          </a:bodyPr>
          <a:lstStyle/>
          <a:p>
            <a:pPr rtl="1" algn="ctr">
              <a:lnSpc>
                <a:spcPct val="95000"/>
              </a:lnSpc>
            </a:pPr>
            <a:r>
              <a:rPr sz="2000" b="1" lang="ar-MA">
                <a:solidFill>
                  <a:srgbClr val="FFFFFF"/>
                </a:solidFill>
                <a:latin typeface="Cairo"/>
                <a:cs typeface="Cairo"/>
              </a:rPr>
              <a:t>حركات التحرر والاستقلال</a:t>
            </a:r>
          </a:p>
        </p:txBody>
      </p:sp>
      <p:sp>
        <p:nvSpPr>
          <p:cNvPr id="20" name="Rounded Rectangle 19"/>
          <p:cNvSpPr/>
          <p:nvPr/>
        </p:nvSpPr>
        <p:spPr>
          <a:xfrm>
            <a:off x="411480" y="4050791"/>
            <a:ext cx="8321040" cy="566928"/>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4360" y="4050791"/>
            <a:ext cx="7955280" cy="566928"/>
          </a:xfrm>
          <a:prstGeom prst="rect">
            <a:avLst/>
          </a:prstGeom>
          <a:noFill/>
        </p:spPr>
        <p:txBody>
          <a:bodyPr wrap="square" lIns="45720" rIns="45720" tIns="18288" bIns="18288" anchor="ctr">
            <a:spAutoFit/>
          </a:bodyPr>
          <a:lstStyle/>
          <a:p>
            <a:pPr rtl="1" algn="ctr">
              <a:lnSpc>
                <a:spcPct val="100000"/>
              </a:lnSpc>
            </a:pPr>
            <a:r>
              <a:rPr sz="1800" b="1" lang="ar-MA">
                <a:solidFill>
                  <a:srgbClr val="0B2242"/>
                </a:solidFill>
                <a:latin typeface="Cairo"/>
                <a:cs typeface="Cairo"/>
              </a:rPr>
              <a:t>الاقتصاد هو المحرك الخفي للسياسة والحروب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مثال تطبيقي: المغرب داخل السلسلة</a:t>
            </a:r>
          </a:p>
        </p:txBody>
      </p:sp>
      <p:sp>
        <p:nvSpPr>
          <p:cNvPr id="3" name="Rectangle 2"/>
          <p:cNvSpPr/>
          <p:nvPr/>
        </p:nvSpPr>
        <p:spPr>
          <a:xfrm>
            <a:off x="502920" y="2482596"/>
            <a:ext cx="8138160" cy="64008"/>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391400" y="1234440"/>
            <a:ext cx="1295400" cy="731520"/>
          </a:xfrm>
          <a:prstGeom prst="roundRect">
            <a:avLst>
              <a:gd name="adj" fmla="val 3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9140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ق19م</a:t>
            </a:r>
          </a:p>
        </p:txBody>
      </p:sp>
      <p:sp>
        <p:nvSpPr>
          <p:cNvPr id="6" name="Rectangle 5"/>
          <p:cNvSpPr/>
          <p:nvPr/>
        </p:nvSpPr>
        <p:spPr>
          <a:xfrm>
            <a:off x="8025384" y="1965960"/>
            <a:ext cx="27432" cy="548640"/>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90194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47660" y="2423160"/>
            <a:ext cx="182880" cy="18288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6396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ضغوط وإصلاح</a:t>
            </a:r>
          </a:p>
        </p:txBody>
      </p:sp>
      <p:sp>
        <p:nvSpPr>
          <p:cNvPr id="10" name="TextBox 9"/>
          <p:cNvSpPr txBox="1"/>
          <p:nvPr/>
        </p:nvSpPr>
        <p:spPr>
          <a:xfrm>
            <a:off x="736396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إيسلي، تطوان، المعاهدات</a:t>
            </a:r>
          </a:p>
        </p:txBody>
      </p:sp>
      <p:sp>
        <p:nvSpPr>
          <p:cNvPr id="11" name="Rounded Rectangle 10"/>
          <p:cNvSpPr/>
          <p:nvPr/>
        </p:nvSpPr>
        <p:spPr>
          <a:xfrm>
            <a:off x="6004560" y="1234440"/>
            <a:ext cx="1295400" cy="731520"/>
          </a:xfrm>
          <a:prstGeom prst="roundRect">
            <a:avLst>
              <a:gd name="adj" fmla="val 3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0456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1912</a:t>
            </a:r>
          </a:p>
        </p:txBody>
      </p:sp>
      <p:sp>
        <p:nvSpPr>
          <p:cNvPr id="13" name="Rectangle 12"/>
          <p:cNvSpPr/>
          <p:nvPr/>
        </p:nvSpPr>
        <p:spPr>
          <a:xfrm>
            <a:off x="6638544" y="1965960"/>
            <a:ext cx="27432" cy="54864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1510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560820" y="2423160"/>
            <a:ext cx="182880" cy="18288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7712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فرض الحماية</a:t>
            </a:r>
          </a:p>
        </p:txBody>
      </p:sp>
      <p:sp>
        <p:nvSpPr>
          <p:cNvPr id="17" name="TextBox 16"/>
          <p:cNvSpPr txBox="1"/>
          <p:nvPr/>
        </p:nvSpPr>
        <p:spPr>
          <a:xfrm>
            <a:off x="597712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معاهدة فاس</a:t>
            </a:r>
          </a:p>
        </p:txBody>
      </p:sp>
      <p:sp>
        <p:nvSpPr>
          <p:cNvPr id="18" name="Rounded Rectangle 17"/>
          <p:cNvSpPr/>
          <p:nvPr/>
        </p:nvSpPr>
        <p:spPr>
          <a:xfrm>
            <a:off x="4617720" y="1234440"/>
            <a:ext cx="1295400" cy="731520"/>
          </a:xfrm>
          <a:prstGeom prst="roundRect">
            <a:avLst>
              <a:gd name="adj" fmla="val 3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1772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1912–1934</a:t>
            </a:r>
          </a:p>
        </p:txBody>
      </p:sp>
      <p:sp>
        <p:nvSpPr>
          <p:cNvPr id="20" name="Rectangle 19"/>
          <p:cNvSpPr/>
          <p:nvPr/>
        </p:nvSpPr>
        <p:spPr>
          <a:xfrm>
            <a:off x="5251704" y="1965960"/>
            <a:ext cx="27432" cy="548640"/>
          </a:xfrm>
          <a:prstGeom prst="rect">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12826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173980" y="2423160"/>
            <a:ext cx="182880" cy="182880"/>
          </a:xfrm>
          <a:prstGeom prst="ellipse">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9028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المقاومة المسلحة</a:t>
            </a:r>
          </a:p>
        </p:txBody>
      </p:sp>
      <p:sp>
        <p:nvSpPr>
          <p:cNvPr id="24" name="TextBox 23"/>
          <p:cNvSpPr txBox="1"/>
          <p:nvPr/>
        </p:nvSpPr>
        <p:spPr>
          <a:xfrm>
            <a:off x="459028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الهري، أنوال، بوكافر</a:t>
            </a:r>
          </a:p>
        </p:txBody>
      </p:sp>
      <p:sp>
        <p:nvSpPr>
          <p:cNvPr id="25" name="Rounded Rectangle 24"/>
          <p:cNvSpPr/>
          <p:nvPr/>
        </p:nvSpPr>
        <p:spPr>
          <a:xfrm>
            <a:off x="3230880" y="1234440"/>
            <a:ext cx="1295400" cy="731520"/>
          </a:xfrm>
          <a:prstGeom prst="roundRect">
            <a:avLst>
              <a:gd name="adj" fmla="val 3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23088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1944</a:t>
            </a:r>
          </a:p>
        </p:txBody>
      </p:sp>
      <p:sp>
        <p:nvSpPr>
          <p:cNvPr id="27" name="Rectangle 26"/>
          <p:cNvSpPr/>
          <p:nvPr/>
        </p:nvSpPr>
        <p:spPr>
          <a:xfrm>
            <a:off x="3864864" y="1965960"/>
            <a:ext cx="27432" cy="548640"/>
          </a:xfrm>
          <a:prstGeom prst="rect">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374142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3787140" y="2423160"/>
            <a:ext cx="182880" cy="182880"/>
          </a:xfrm>
          <a:prstGeom prst="ellipse">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20344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عريضة الاستقلال</a:t>
            </a:r>
          </a:p>
        </p:txBody>
      </p:sp>
      <p:sp>
        <p:nvSpPr>
          <p:cNvPr id="31" name="TextBox 30"/>
          <p:cNvSpPr txBox="1"/>
          <p:nvPr/>
        </p:nvSpPr>
        <p:spPr>
          <a:xfrm>
            <a:off x="320344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11 يناير</a:t>
            </a:r>
          </a:p>
        </p:txBody>
      </p:sp>
      <p:sp>
        <p:nvSpPr>
          <p:cNvPr id="32" name="Rounded Rectangle 31"/>
          <p:cNvSpPr/>
          <p:nvPr/>
        </p:nvSpPr>
        <p:spPr>
          <a:xfrm>
            <a:off x="1844039" y="1234440"/>
            <a:ext cx="1295400" cy="731520"/>
          </a:xfrm>
          <a:prstGeom prst="roundRect">
            <a:avLst>
              <a:gd name="adj" fmla="val 35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844039"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1956</a:t>
            </a:r>
          </a:p>
        </p:txBody>
      </p:sp>
      <p:sp>
        <p:nvSpPr>
          <p:cNvPr id="34" name="Rectangle 33"/>
          <p:cNvSpPr/>
          <p:nvPr/>
        </p:nvSpPr>
        <p:spPr>
          <a:xfrm>
            <a:off x="2478023" y="1965960"/>
            <a:ext cx="27432" cy="548640"/>
          </a:xfrm>
          <a:prstGeom prst="rect">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2354579"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2400299" y="2423160"/>
            <a:ext cx="182880" cy="182880"/>
          </a:xfrm>
          <a:prstGeom prst="ellipse">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816607"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الاستقلال</a:t>
            </a:r>
          </a:p>
        </p:txBody>
      </p:sp>
      <p:sp>
        <p:nvSpPr>
          <p:cNvPr id="38" name="TextBox 37"/>
          <p:cNvSpPr txBox="1"/>
          <p:nvPr/>
        </p:nvSpPr>
        <p:spPr>
          <a:xfrm>
            <a:off x="1816607"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2 مارس</a:t>
            </a:r>
          </a:p>
        </p:txBody>
      </p:sp>
      <p:sp>
        <p:nvSpPr>
          <p:cNvPr id="39" name="Rounded Rectangle 38"/>
          <p:cNvSpPr/>
          <p:nvPr/>
        </p:nvSpPr>
        <p:spPr>
          <a:xfrm>
            <a:off x="457200" y="1234440"/>
            <a:ext cx="1295400" cy="731520"/>
          </a:xfrm>
          <a:prstGeom prst="roundRect">
            <a:avLst>
              <a:gd name="adj" fmla="val 35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57200" y="1234440"/>
            <a:ext cx="1295400" cy="731520"/>
          </a:xfrm>
          <a:prstGeom prst="rect">
            <a:avLst/>
          </a:prstGeom>
          <a:noFill/>
        </p:spPr>
        <p:txBody>
          <a:bodyPr wrap="square" lIns="45720" rIns="45720" tIns="18288" bIns="18288" anchor="ctr">
            <a:spAutoFit/>
          </a:bodyPr>
          <a:lstStyle/>
          <a:p>
            <a:pPr rtl="1" algn="ctr">
              <a:lnSpc>
                <a:spcPct val="100000"/>
              </a:lnSpc>
            </a:pPr>
            <a:r>
              <a:rPr sz="2100" b="1" lang="ar-MA">
                <a:solidFill>
                  <a:srgbClr val="FFFFFF"/>
                </a:solidFill>
                <a:latin typeface="Cairo"/>
                <a:cs typeface="Cairo"/>
              </a:rPr>
              <a:t>1956–1979</a:t>
            </a:r>
          </a:p>
        </p:txBody>
      </p:sp>
      <p:sp>
        <p:nvSpPr>
          <p:cNvPr id="41" name="Rectangle 40"/>
          <p:cNvSpPr/>
          <p:nvPr/>
        </p:nvSpPr>
        <p:spPr>
          <a:xfrm>
            <a:off x="1091184" y="1965960"/>
            <a:ext cx="27432" cy="548640"/>
          </a:xfrm>
          <a:prstGeom prst="rect">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67740" y="2377440"/>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3460" y="2423160"/>
            <a:ext cx="182880" cy="1828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29768" y="2743200"/>
            <a:ext cx="1350264" cy="868680"/>
          </a:xfrm>
          <a:prstGeom prst="rect">
            <a:avLst/>
          </a:prstGeom>
          <a:noFill/>
        </p:spPr>
        <p:txBody>
          <a:bodyPr wrap="square" lIns="45720" rIns="45720" tIns="18288" bIns="18288" anchor="t">
            <a:spAutoFit/>
          </a:bodyPr>
          <a:lstStyle/>
          <a:p>
            <a:pPr rtl="1" algn="ctr">
              <a:lnSpc>
                <a:spcPct val="100000"/>
              </a:lnSpc>
            </a:pPr>
            <a:r>
              <a:rPr sz="1900" b="1" lang="ar-MA">
                <a:solidFill>
                  <a:srgbClr val="0B2242"/>
                </a:solidFill>
                <a:latin typeface="Cairo"/>
                <a:cs typeface="Cairo"/>
              </a:rPr>
              <a:t>الوحدة الترابية</a:t>
            </a:r>
          </a:p>
        </p:txBody>
      </p:sp>
      <p:sp>
        <p:nvSpPr>
          <p:cNvPr id="45" name="TextBox 44"/>
          <p:cNvSpPr txBox="1"/>
          <p:nvPr/>
        </p:nvSpPr>
        <p:spPr>
          <a:xfrm>
            <a:off x="429768" y="3703320"/>
            <a:ext cx="1350264" cy="914400"/>
          </a:xfrm>
          <a:prstGeom prst="rect">
            <a:avLst/>
          </a:prstGeom>
          <a:noFill/>
        </p:spPr>
        <p:txBody>
          <a:bodyPr wrap="square" lIns="45720" rIns="45720" tIns="18288" bIns="18288" anchor="t">
            <a:spAutoFit/>
          </a:bodyPr>
          <a:lstStyle/>
          <a:p>
            <a:pPr rtl="1" algn="ctr">
              <a:lnSpc>
                <a:spcPct val="100000"/>
              </a:lnSpc>
            </a:pPr>
            <a:r>
              <a:rPr sz="1700" b="0" lang="ar-MA">
                <a:solidFill>
                  <a:srgbClr val="5B6675"/>
                </a:solidFill>
                <a:latin typeface="Cairo"/>
                <a:cs typeface="Cairo"/>
              </a:rPr>
              <a:t>المسيرة الخضراء 1975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a:xfrm>
            <a:off x="548640" y="1188720"/>
            <a:ext cx="7772400" cy="502920"/>
          </a:xfrm>
        </p:spPr>
        <p:txBody>
          <a:bodyPr wrap="square"/>
          <a:lstStyle/>
          <a:p>
            <a:pPr rtl="1" algn="r">
              <a:buNone/>
              <a:spcAft>
                <a:spcPts val="600"/>
              </a:spcAft>
            </a:pPr>
            <a:r>
              <a:rPr sz="2200" b="1" lang="ar-MA">
                <a:solidFill>
                  <a:srgbClr val="0B2242"/>
                </a:solidFill>
                <a:latin typeface="Cairo"/>
                <a:cs typeface="Cairo"/>
              </a:rPr>
              <a:t>3- طبيعة التحولات وخصائصها</a:t>
            </a:r>
          </a:p>
        </p:txBody>
      </p:sp>
      <p:graphicFrame>
        <p:nvGraphicFramePr>
          <p:cNvPr id="3" name="Table 2"/>
          <p:cNvGraphicFramePr>
            <a:graphicFrameLocks noGrp="1"/>
          </p:cNvGraphicFramePr>
          <p:nvPr/>
        </p:nvGraphicFramePr>
        <p:xfrm>
          <a:off x="548640" y="1737360"/>
          <a:ext cx="7772400" cy="1828800"/>
        </p:xfrm>
        <a:graphic>
          <a:graphicData uri="http://schemas.openxmlformats.org/drawingml/2006/table">
            <a:tbl>
              <a:tblPr firstRow="1" bandRow="1" rtl="1">
                <a:tableStyleId>{5C22544A-7EE6-4342-B048-85BDC9FD1C3A}</a:tableStyleId>
              </a:tblPr>
              <a:tblGrid>
                <a:gridCol w="2176272"/>
                <a:gridCol w="5596128"/>
              </a:tblGrid>
              <a:tr h="457200">
                <a:tc>
                  <a:txBody>
                    <a:bodyPr/>
                    <a:lstStyle/>
                    <a:p>
                      <a:pPr rtl="1" algn="ctr"/>
                      <a:r>
                        <a:rPr sz="2000" b="1" lang="ar-MA">
                          <a:solidFill>
                            <a:srgbClr val="FFFFFF"/>
                          </a:solidFill>
                          <a:latin typeface="Cairo"/>
                          <a:cs typeface="Cairo"/>
                        </a:rPr>
                        <a:t>الخاصية</a:t>
                      </a:r>
                    </a:p>
                  </a:txBody>
                  <a:tcPr>
                    <a:solidFill>
                      <a:srgbClr val="0B2242"/>
                    </a:solidFill>
                  </a:tcPr>
                </a:tc>
                <a:tc>
                  <a:txBody>
                    <a:bodyPr/>
                    <a:lstStyle/>
                    <a:p>
                      <a:pPr rtl="1" algn="ctr"/>
                      <a:r>
                        <a:rPr sz="2000" b="1" lang="ar-MA">
                          <a:solidFill>
                            <a:srgbClr val="FFFFFF"/>
                          </a:solidFill>
                          <a:latin typeface="Cairo"/>
                          <a:cs typeface="Cairo"/>
                        </a:rPr>
                        <a:t>مضمونها</a:t>
                      </a:r>
                    </a:p>
                  </a:txBody>
                  <a:tcPr>
                    <a:solidFill>
                      <a:srgbClr val="0B2242"/>
                    </a:solidFill>
                  </a:tcPr>
                </a:tc>
              </a:tr>
              <a:tr h="457200">
                <a:tc>
                  <a:txBody>
                    <a:bodyPr/>
                    <a:lstStyle/>
                    <a:p>
                      <a:pPr rtl="1" algn="r"/>
                      <a:r>
                        <a:rPr sz="2000" b="1" lang="ar-MA">
                          <a:solidFill>
                            <a:srgbClr val="0B2242"/>
                          </a:solidFill>
                          <a:latin typeface="Cairo"/>
                          <a:cs typeface="Cairo"/>
                        </a:rPr>
                        <a:t>تحولات شمولية</a:t>
                      </a:r>
                    </a:p>
                  </a:txBody>
                  <a:tcPr anchor="ctr">
                    <a:solidFill>
                      <a:srgbClr val="FFFDF6"/>
                    </a:solidFill>
                  </a:tcPr>
                </a:tc>
                <a:tc>
                  <a:txBody>
                    <a:bodyPr/>
                    <a:lstStyle/>
                    <a:p>
                      <a:pPr rtl="1" algn="r"/>
                      <a:r>
                        <a:rPr sz="2000" b="0" lang="ar-MA">
                          <a:solidFill>
                            <a:srgbClr val="222222"/>
                          </a:solidFill>
                          <a:latin typeface="Cairo"/>
                          <a:cs typeface="Cairo"/>
                        </a:rPr>
                        <a:t>شملت الاقتصاد والمجتمع والسياسة والفكر والعلاقات الدولية.</a:t>
                      </a:r>
                    </a:p>
                  </a:txBody>
                  <a:tcPr anchor="ctr">
                    <a:solidFill>
                      <a:srgbClr val="FFFDF6"/>
                    </a:solidFill>
                  </a:tcPr>
                </a:tc>
              </a:tr>
              <a:tr h="457200">
                <a:tc>
                  <a:txBody>
                    <a:bodyPr/>
                    <a:lstStyle/>
                    <a:p>
                      <a:pPr rtl="1" algn="r"/>
                      <a:r>
                        <a:rPr sz="2000" b="1" lang="ar-MA">
                          <a:solidFill>
                            <a:srgbClr val="0B2242"/>
                          </a:solidFill>
                          <a:latin typeface="Cairo"/>
                          <a:cs typeface="Cairo"/>
                        </a:rPr>
                        <a:t>تحولات مترابطة</a:t>
                      </a:r>
                    </a:p>
                  </a:txBody>
                  <a:tcPr anchor="ctr">
                    <a:solidFill>
                      <a:srgbClr val="F6EED8"/>
                    </a:solidFill>
                  </a:tcPr>
                </a:tc>
                <a:tc>
                  <a:txBody>
                    <a:bodyPr/>
                    <a:lstStyle/>
                    <a:p>
                      <a:pPr rtl="1" algn="r"/>
                      <a:r>
                        <a:rPr sz="2000" b="0" lang="ar-MA">
                          <a:solidFill>
                            <a:srgbClr val="222222"/>
                          </a:solidFill>
                          <a:latin typeface="Cairo"/>
                          <a:cs typeface="Cairo"/>
                        </a:rPr>
                        <a:t>أثر كل تحول في غيره؛ فالتقدم الصناعي أدى إلى تراكم رأس المال والتوسع الخارجي.</a:t>
                      </a:r>
                    </a:p>
                  </a:txBody>
                  <a:tcPr anchor="ctr">
                    <a:solidFill>
                      <a:srgbClr val="F6EED8"/>
                    </a:solidFill>
                  </a:tcPr>
                </a:tc>
              </a:tr>
              <a:tr h="457200">
                <a:tc>
                  <a:txBody>
                    <a:bodyPr/>
                    <a:lstStyle/>
                    <a:p>
                      <a:pPr rtl="1" algn="r"/>
                      <a:r>
                        <a:rPr sz="2000" b="1" lang="ar-MA">
                          <a:solidFill>
                            <a:srgbClr val="0B2242"/>
                          </a:solidFill>
                          <a:latin typeface="Cairo"/>
                          <a:cs typeface="Cairo"/>
                        </a:rPr>
                        <a:t>تحولات غير متكافئة</a:t>
                      </a:r>
                    </a:p>
                  </a:txBody>
                  <a:tcPr anchor="ctr">
                    <a:solidFill>
                      <a:srgbClr val="FFFDF6"/>
                    </a:solidFill>
                  </a:tcPr>
                </a:tc>
                <a:tc>
                  <a:txBody>
                    <a:bodyPr/>
                    <a:lstStyle/>
                    <a:p>
                      <a:pPr rtl="1" algn="r"/>
                      <a:r>
                        <a:rPr sz="2000" b="0" lang="ar-MA">
                          <a:solidFill>
                            <a:srgbClr val="222222"/>
                          </a:solidFill>
                          <a:latin typeface="Cairo"/>
                          <a:cs typeface="Cairo"/>
                        </a:rPr>
                        <a:t>استفادت منها القوى الصناعية، بينما تعرضت مناطق واسعة للاستغلال والتبعية.</a:t>
                      </a:r>
                    </a:p>
                  </a:txBody>
                  <a:tcPr anchor="ctr">
                    <a:solidFill>
                      <a:srgbClr val="FFFDF6"/>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a:xfrm>
            <a:off x="548640" y="1188720"/>
            <a:ext cx="7772400" cy="502920"/>
          </a:xfrm>
        </p:spPr>
        <p:txBody>
          <a:bodyPr wrap="square"/>
          <a:lstStyle/>
          <a:p>
            <a:pPr rtl="1" algn="r">
              <a:buNone/>
              <a:spcAft>
                <a:spcPts val="600"/>
              </a:spcAft>
            </a:pPr>
            <a:r>
              <a:rPr sz="2200" b="1" lang="ar-MA">
                <a:solidFill>
                  <a:srgbClr val="0B2242"/>
                </a:solidFill>
                <a:latin typeface="Cairo"/>
                <a:cs typeface="Cairo"/>
              </a:rPr>
              <a:t>3- طبيعة التحولات وخصائصها (تابع)</a:t>
            </a:r>
          </a:p>
        </p:txBody>
      </p:sp>
      <p:graphicFrame>
        <p:nvGraphicFramePr>
          <p:cNvPr id="3" name="Table 2"/>
          <p:cNvGraphicFramePr>
            <a:graphicFrameLocks noGrp="1"/>
          </p:cNvGraphicFramePr>
          <p:nvPr/>
        </p:nvGraphicFramePr>
        <p:xfrm>
          <a:off x="548640" y="1737360"/>
          <a:ext cx="7772400" cy="914400"/>
        </p:xfrm>
        <a:graphic>
          <a:graphicData uri="http://schemas.openxmlformats.org/drawingml/2006/table">
            <a:tbl>
              <a:tblPr firstRow="1" bandRow="1" rtl="1">
                <a:tableStyleId>{5C22544A-7EE6-4342-B048-85BDC9FD1C3A}</a:tableStyleId>
              </a:tblPr>
              <a:tblGrid>
                <a:gridCol w="2176272"/>
                <a:gridCol w="5596128"/>
              </a:tblGrid>
              <a:tr h="457200">
                <a:tc>
                  <a:txBody>
                    <a:bodyPr/>
                    <a:lstStyle/>
                    <a:p>
                      <a:pPr rtl="1" algn="ctr"/>
                      <a:r>
                        <a:rPr sz="2000" b="1" lang="ar-MA">
                          <a:solidFill>
                            <a:srgbClr val="FFFFFF"/>
                          </a:solidFill>
                          <a:latin typeface="Cairo"/>
                          <a:cs typeface="Cairo"/>
                        </a:rPr>
                        <a:t>الخاصية</a:t>
                      </a:r>
                    </a:p>
                  </a:txBody>
                  <a:tcPr>
                    <a:solidFill>
                      <a:srgbClr val="0B2242"/>
                    </a:solidFill>
                  </a:tcPr>
                </a:tc>
                <a:tc>
                  <a:txBody>
                    <a:bodyPr/>
                    <a:lstStyle/>
                    <a:p>
                      <a:pPr rtl="1" algn="ctr"/>
                      <a:r>
                        <a:rPr sz="2000" b="1" lang="ar-MA">
                          <a:solidFill>
                            <a:srgbClr val="FFFFFF"/>
                          </a:solidFill>
                          <a:latin typeface="Cairo"/>
                          <a:cs typeface="Cairo"/>
                        </a:rPr>
                        <a:t>مضمونها</a:t>
                      </a:r>
                    </a:p>
                  </a:txBody>
                  <a:tcPr>
                    <a:solidFill>
                      <a:srgbClr val="0B2242"/>
                    </a:solidFill>
                  </a:tcPr>
                </a:tc>
              </a:tr>
              <a:tr h="457200">
                <a:tc>
                  <a:txBody>
                    <a:bodyPr/>
                    <a:lstStyle/>
                    <a:p>
                      <a:pPr rtl="1" algn="r"/>
                      <a:r>
                        <a:rPr sz="2000" b="1" lang="ar-MA">
                          <a:solidFill>
                            <a:srgbClr val="0B2242"/>
                          </a:solidFill>
                          <a:latin typeface="Cairo"/>
                          <a:cs typeface="Cairo"/>
                        </a:rPr>
                        <a:t>تحولات صراعية</a:t>
                      </a:r>
                    </a:p>
                  </a:txBody>
                  <a:tcPr anchor="ctr">
                    <a:solidFill>
                      <a:srgbClr val="FFFDF6"/>
                    </a:solidFill>
                  </a:tcPr>
                </a:tc>
                <a:tc>
                  <a:txBody>
                    <a:bodyPr/>
                    <a:lstStyle/>
                    <a:p>
                      <a:pPr rtl="1" algn="r"/>
                      <a:r>
                        <a:rPr sz="2000" b="0" lang="ar-MA">
                          <a:solidFill>
                            <a:srgbClr val="222222"/>
                          </a:solidFill>
                          <a:latin typeface="Cairo"/>
                          <a:cs typeface="Cairo"/>
                        </a:rPr>
                        <a:t>أفرزت تنافسا إمبرياليا وحروبا عالمية وأزمات، كما ولدت مقاومات وحركات تحرر.</a:t>
                      </a:r>
                    </a:p>
                  </a:txBody>
                  <a:tcPr anchor="ctr">
                    <a:solidFill>
                      <a:srgbClr val="FFFDF6"/>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4</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الرابع: أسئلة البرنامج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خمسة أسئلة ترافقنا طوال السنة</a:t>
            </a:r>
          </a:p>
        </p:txBody>
      </p:sp>
      <p:sp>
        <p:nvSpPr>
          <p:cNvPr id="3" name="Oval 2"/>
          <p:cNvSpPr/>
          <p:nvPr/>
        </p:nvSpPr>
        <p:spPr>
          <a:xfrm>
            <a:off x="8229600" y="1220724"/>
            <a:ext cx="457200" cy="457200"/>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FFFFFF"/>
                </a:solidFill>
                <a:latin typeface="Cairo"/>
                <a:cs typeface="Cairo"/>
              </a:rPr>
              <a:t>1</a:t>
            </a:r>
          </a:p>
        </p:txBody>
      </p:sp>
      <p:sp>
        <p:nvSpPr>
          <p:cNvPr id="4" name="Rounded Rectangle 3"/>
          <p:cNvSpPr/>
          <p:nvPr/>
        </p:nvSpPr>
        <p:spPr>
          <a:xfrm>
            <a:off x="411480" y="1152144"/>
            <a:ext cx="7680960" cy="594359"/>
          </a:xfrm>
          <a:prstGeom prst="roundRect">
            <a:avLst>
              <a:gd name="adj" fmla="val 2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1152144"/>
            <a:ext cx="7406640" cy="594359"/>
          </a:xfrm>
          <a:prstGeom prst="rect">
            <a:avLst/>
          </a:prstGeom>
          <a:noFill/>
        </p:spPr>
        <p:txBody>
          <a:bodyPr wrap="square" lIns="45720" rIns="45720" tIns="18288" bIns="18288" anchor="ctr">
            <a:spAutoFit/>
          </a:bodyPr>
          <a:lstStyle/>
          <a:p>
            <a:pPr rtl="1" algn="r">
              <a:lnSpc>
                <a:spcPct val="100000"/>
              </a:lnSpc>
            </a:pPr>
            <a:r>
              <a:rPr sz="2200" b="0" lang="ar-MA">
                <a:solidFill>
                  <a:srgbClr val="26303D"/>
                </a:solidFill>
                <a:latin typeface="Cairo"/>
                <a:cs typeface="Cairo"/>
              </a:rPr>
              <a:t>ما مظاهر التحول في العالم الرأسمالي خلال القرن 19م؟</a:t>
            </a:r>
          </a:p>
        </p:txBody>
      </p:sp>
      <p:sp>
        <p:nvSpPr>
          <p:cNvPr id="6" name="Oval 5"/>
          <p:cNvSpPr/>
          <p:nvPr/>
        </p:nvSpPr>
        <p:spPr>
          <a:xfrm>
            <a:off x="8229600" y="1924811"/>
            <a:ext cx="457200" cy="457200"/>
          </a:xfrm>
          <a:prstGeom prst="ellipse">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FFFFFF"/>
                </a:solidFill>
                <a:latin typeface="Cairo"/>
                <a:cs typeface="Cairo"/>
              </a:rPr>
              <a:t>2</a:t>
            </a:r>
          </a:p>
        </p:txBody>
      </p:sp>
      <p:sp>
        <p:nvSpPr>
          <p:cNvPr id="7" name="Rounded Rectangle 6"/>
          <p:cNvSpPr/>
          <p:nvPr/>
        </p:nvSpPr>
        <p:spPr>
          <a:xfrm>
            <a:off x="411480" y="1856231"/>
            <a:ext cx="7680960" cy="594359"/>
          </a:xfrm>
          <a:prstGeom prst="roundRect">
            <a:avLst>
              <a:gd name="adj" fmla="val 2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856231"/>
            <a:ext cx="7406640" cy="594359"/>
          </a:xfrm>
          <a:prstGeom prst="rect">
            <a:avLst/>
          </a:prstGeom>
          <a:noFill/>
        </p:spPr>
        <p:txBody>
          <a:bodyPr wrap="square" lIns="45720" rIns="45720" tIns="18288" bIns="18288" anchor="ctr">
            <a:spAutoFit/>
          </a:bodyPr>
          <a:lstStyle/>
          <a:p>
            <a:pPr rtl="1" algn="r">
              <a:lnSpc>
                <a:spcPct val="100000"/>
              </a:lnSpc>
            </a:pPr>
            <a:r>
              <a:rPr sz="2200" b="0" lang="ar-MA">
                <a:solidFill>
                  <a:srgbClr val="26303D"/>
                </a:solidFill>
                <a:latin typeface="Cairo"/>
                <a:cs typeface="Cairo"/>
              </a:rPr>
              <a:t>كيف قاد تطور الرأسمالية إلى الإمبريالية والحروب؟</a:t>
            </a:r>
          </a:p>
        </p:txBody>
      </p:sp>
      <p:sp>
        <p:nvSpPr>
          <p:cNvPr id="9" name="Oval 8"/>
          <p:cNvSpPr/>
          <p:nvPr/>
        </p:nvSpPr>
        <p:spPr>
          <a:xfrm>
            <a:off x="8229600" y="2628899"/>
            <a:ext cx="457200" cy="457200"/>
          </a:xfrm>
          <a:prstGeom prst="ellipse">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FFFFFF"/>
                </a:solidFill>
                <a:latin typeface="Cairo"/>
                <a:cs typeface="Cairo"/>
              </a:rPr>
              <a:t>3</a:t>
            </a:r>
          </a:p>
        </p:txBody>
      </p:sp>
      <p:sp>
        <p:nvSpPr>
          <p:cNvPr id="10" name="Rounded Rectangle 9"/>
          <p:cNvSpPr/>
          <p:nvPr/>
        </p:nvSpPr>
        <p:spPr>
          <a:xfrm>
            <a:off x="411480" y="2560320"/>
            <a:ext cx="7680960" cy="594359"/>
          </a:xfrm>
          <a:prstGeom prst="roundRect">
            <a:avLst>
              <a:gd name="adj" fmla="val 2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2560320"/>
            <a:ext cx="7406640" cy="594359"/>
          </a:xfrm>
          <a:prstGeom prst="rect">
            <a:avLst/>
          </a:prstGeom>
          <a:noFill/>
        </p:spPr>
        <p:txBody>
          <a:bodyPr wrap="square" lIns="45720" rIns="45720" tIns="18288" bIns="18288" anchor="ctr">
            <a:spAutoFit/>
          </a:bodyPr>
          <a:lstStyle/>
          <a:p>
            <a:pPr rtl="1" algn="r">
              <a:lnSpc>
                <a:spcPct val="100000"/>
              </a:lnSpc>
            </a:pPr>
            <a:r>
              <a:rPr sz="2200" b="0" lang="ar-MA">
                <a:solidFill>
                  <a:srgbClr val="26303D"/>
                </a:solidFill>
                <a:latin typeface="Cairo"/>
                <a:cs typeface="Cairo"/>
              </a:rPr>
              <a:t>ما أبرز تحولات القرن 20م؟</a:t>
            </a:r>
          </a:p>
        </p:txBody>
      </p:sp>
      <p:sp>
        <p:nvSpPr>
          <p:cNvPr id="12" name="Oval 11"/>
          <p:cNvSpPr/>
          <p:nvPr/>
        </p:nvSpPr>
        <p:spPr>
          <a:xfrm>
            <a:off x="8229600" y="3332987"/>
            <a:ext cx="457200" cy="457200"/>
          </a:xfrm>
          <a:prstGeom prst="ellipse">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FFFFFF"/>
                </a:solidFill>
                <a:latin typeface="Cairo"/>
                <a:cs typeface="Cairo"/>
              </a:rPr>
              <a:t>4</a:t>
            </a:r>
          </a:p>
        </p:txBody>
      </p:sp>
      <p:sp>
        <p:nvSpPr>
          <p:cNvPr id="13" name="Rounded Rectangle 12"/>
          <p:cNvSpPr/>
          <p:nvPr/>
        </p:nvSpPr>
        <p:spPr>
          <a:xfrm>
            <a:off x="411480" y="3264408"/>
            <a:ext cx="7680960" cy="594359"/>
          </a:xfrm>
          <a:prstGeom prst="roundRect">
            <a:avLst>
              <a:gd name="adj" fmla="val 2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3264408"/>
            <a:ext cx="7406640" cy="594359"/>
          </a:xfrm>
          <a:prstGeom prst="rect">
            <a:avLst/>
          </a:prstGeom>
          <a:noFill/>
        </p:spPr>
        <p:txBody>
          <a:bodyPr wrap="square" lIns="45720" rIns="45720" tIns="18288" bIns="18288" anchor="ctr">
            <a:spAutoFit/>
          </a:bodyPr>
          <a:lstStyle/>
          <a:p>
            <a:pPr rtl="1" algn="r">
              <a:lnSpc>
                <a:spcPct val="100000"/>
              </a:lnSpc>
            </a:pPr>
            <a:r>
              <a:rPr sz="2200" b="0" lang="ar-MA">
                <a:solidFill>
                  <a:srgbClr val="26303D"/>
                </a:solidFill>
                <a:latin typeface="Cairo"/>
                <a:cs typeface="Cairo"/>
              </a:rPr>
              <a:t>كيف تفاعل المشرق العربي والمغرب مع الضغوط الاستعمارية؟</a:t>
            </a:r>
          </a:p>
        </p:txBody>
      </p:sp>
      <p:sp>
        <p:nvSpPr>
          <p:cNvPr id="15" name="Oval 14"/>
          <p:cNvSpPr/>
          <p:nvPr/>
        </p:nvSpPr>
        <p:spPr>
          <a:xfrm>
            <a:off x="8229600" y="4037075"/>
            <a:ext cx="457200" cy="457200"/>
          </a:xfrm>
          <a:prstGeom prst="ellipse">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lang="ar-MA">
                <a:solidFill>
                  <a:srgbClr val="FFFFFF"/>
                </a:solidFill>
                <a:latin typeface="Cairo"/>
                <a:cs typeface="Cairo"/>
              </a:rPr>
              <a:t>5</a:t>
            </a:r>
          </a:p>
        </p:txBody>
      </p:sp>
      <p:sp>
        <p:nvSpPr>
          <p:cNvPr id="16" name="Rounded Rectangle 15"/>
          <p:cNvSpPr/>
          <p:nvPr/>
        </p:nvSpPr>
        <p:spPr>
          <a:xfrm>
            <a:off x="411480" y="3968495"/>
            <a:ext cx="7680960" cy="594359"/>
          </a:xfrm>
          <a:prstGeom prst="roundRect">
            <a:avLst>
              <a:gd name="adj" fmla="val 2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3968495"/>
            <a:ext cx="7406640" cy="594359"/>
          </a:xfrm>
          <a:prstGeom prst="rect">
            <a:avLst/>
          </a:prstGeom>
          <a:noFill/>
        </p:spPr>
        <p:txBody>
          <a:bodyPr wrap="square" lIns="45720" rIns="45720" tIns="18288" bIns="18288" anchor="ctr">
            <a:spAutoFit/>
          </a:bodyPr>
          <a:lstStyle/>
          <a:p>
            <a:pPr rtl="1" algn="r">
              <a:lnSpc>
                <a:spcPct val="100000"/>
              </a:lnSpc>
            </a:pPr>
            <a:r>
              <a:rPr sz="2200" b="0" lang="ar-MA">
                <a:solidFill>
                  <a:srgbClr val="26303D"/>
                </a:solidFill>
                <a:latin typeface="Cairo"/>
                <a:cs typeface="Cairo"/>
              </a:rPr>
              <a:t>كيف أفضت المقاومة إلى الاستقلال وبناء الدولة الوطنية؟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4- الطرح الإشكالي وأسئلة البرنامج</a:t>
            </a:r>
          </a:p>
          <a:p>
            <a:pPr rtl="1" algn="r">
              <a:buNone/>
              <a:spcAft>
                <a:spcPts val="600"/>
              </a:spcAft>
            </a:pPr>
            <a:r>
              <a:rPr sz="2600" b="0" lang="ar-MA">
                <a:latin typeface="Cairo"/>
                <a:cs typeface="Cairo"/>
              </a:rPr>
              <a:t>• ما مظاهر التحول الاقتصادي والاجتماعي والفكري والسياسي في العالم الرأسمالي خلال القرن التاسع عشر؟</a:t>
            </a:r>
          </a:p>
          <a:p>
            <a:pPr rtl="1" algn="r">
              <a:buNone/>
              <a:spcAft>
                <a:spcPts val="600"/>
              </a:spcAft>
            </a:pPr>
            <a:r>
              <a:rPr sz="2600" b="0" lang="ar-MA">
                <a:latin typeface="Cairo"/>
                <a:cs typeface="Cairo"/>
              </a:rPr>
              <a:t>• كيف أدى تطور الرأسمالية إلى اشتداد التنافس الإمبريالي وإلى اندلاع الحروب والأزمات؟</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 ما أبرز التحولات التي عرفها العالم خلال القرن العشرين؟</a:t>
            </a:r>
          </a:p>
          <a:p>
            <a:pPr rtl="1" algn="r">
              <a:buNone/>
              <a:spcAft>
                <a:spcPts val="600"/>
              </a:spcAft>
            </a:pPr>
            <a:r>
              <a:rPr sz="2600" b="0" lang="ar-MA">
                <a:latin typeface="Cairo"/>
                <a:cs typeface="Cairo"/>
              </a:rPr>
              <a:t>• كيف تفاعل المشرق العربي والمغرب مع الضغوط الاستعمارية والتحولات الدولية؟</a:t>
            </a:r>
          </a:p>
          <a:p>
            <a:pPr rtl="1" algn="r">
              <a:buNone/>
              <a:spcAft>
                <a:spcPts val="600"/>
              </a:spcAft>
            </a:pPr>
            <a:r>
              <a:rPr sz="2600" b="0" lang="ar-MA">
                <a:latin typeface="Cairo"/>
                <a:cs typeface="Cairo"/>
              </a:rPr>
              <a:t>• ما أشكال المقاومة والتحرر التي أفضت إلى الاستقلال وبناء الدولة الوطنية؟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pPr rtl="1" algn="r">
              <a:buNone/>
              <a:spcAft>
                <a:spcPts val="600"/>
              </a:spcAft>
            </a:pPr>
            <a:r>
              <a:rPr sz="9600" b="0" lang="ar-MA">
                <a:latin typeface="Cairo"/>
                <a:cs typeface="Cairo"/>
              </a:rPr>
              <a:t>5</a:t>
            </a:r>
          </a:p>
        </p:txBody>
      </p:sp>
      <p:sp>
        <p:nvSpPr>
          <p:cNvPr id="3" name="Title 2"/>
          <p:cNvSpPr>
            <a:spLocks noGrp="1"/>
          </p:cNvSpPr>
          <p:nvPr>
            <p:ph type="title" idx="102"/>
          </p:nvPr>
        </p:nvSpPr>
        <p:spPr/>
        <p:txBody>
          <a:bodyPr wrap="square"/>
          <a:lstStyle/>
          <a:p>
            <a:pPr rtl="1" algn="r">
              <a:buNone/>
              <a:spcAft>
                <a:spcPts val="600"/>
              </a:spcAft>
            </a:pPr>
            <a:r>
              <a:rPr sz="4000" b="0" lang="ar-MA">
                <a:latin typeface="Cairo"/>
                <a:cs typeface="Cairo"/>
              </a:rPr>
              <a:t>المحور الخامس: مفاهيم أساسية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مفاهيم مفتاحية (1)</a:t>
            </a:r>
          </a:p>
        </p:txBody>
      </p:sp>
      <p:sp>
        <p:nvSpPr>
          <p:cNvPr id="3" name="Rounded Rectangle 2"/>
          <p:cNvSpPr/>
          <p:nvPr/>
        </p:nvSpPr>
        <p:spPr>
          <a:xfrm>
            <a:off x="6056376" y="1097280"/>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056376" y="1097280"/>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47815" y="1097280"/>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الثورة الصناعية</a:t>
            </a:r>
          </a:p>
        </p:txBody>
      </p:sp>
      <p:sp>
        <p:nvSpPr>
          <p:cNvPr id="6" name="TextBox 5"/>
          <p:cNvSpPr txBox="1"/>
          <p:nvPr/>
        </p:nvSpPr>
        <p:spPr>
          <a:xfrm>
            <a:off x="6166104" y="1664207"/>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الآلة والطاقة الجديدة والمصنع</a:t>
            </a:r>
          </a:p>
        </p:txBody>
      </p:sp>
      <p:sp>
        <p:nvSpPr>
          <p:cNvPr id="7" name="Rounded Rectangle 6"/>
          <p:cNvSpPr/>
          <p:nvPr/>
        </p:nvSpPr>
        <p:spPr>
          <a:xfrm>
            <a:off x="3233927" y="1097280"/>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233927" y="1097280"/>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25367" y="1097280"/>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الرأسمالية</a:t>
            </a:r>
          </a:p>
        </p:txBody>
      </p:sp>
      <p:sp>
        <p:nvSpPr>
          <p:cNvPr id="10" name="TextBox 9"/>
          <p:cNvSpPr txBox="1"/>
          <p:nvPr/>
        </p:nvSpPr>
        <p:spPr>
          <a:xfrm>
            <a:off x="3343655" y="1664207"/>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ملكية خاصة ومنافسة وسعي إلى الربح</a:t>
            </a:r>
          </a:p>
        </p:txBody>
      </p:sp>
      <p:sp>
        <p:nvSpPr>
          <p:cNvPr id="11" name="Rounded Rectangle 10"/>
          <p:cNvSpPr/>
          <p:nvPr/>
        </p:nvSpPr>
        <p:spPr>
          <a:xfrm>
            <a:off x="411479" y="1097280"/>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11479" y="1097280"/>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2919" y="1097280"/>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البرجوازية</a:t>
            </a:r>
          </a:p>
        </p:txBody>
      </p:sp>
      <p:sp>
        <p:nvSpPr>
          <p:cNvPr id="14" name="TextBox 13"/>
          <p:cNvSpPr txBox="1"/>
          <p:nvPr/>
        </p:nvSpPr>
        <p:spPr>
          <a:xfrm>
            <a:off x="521207" y="1664207"/>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مالكو وسائل الإنتاج والرساميل</a:t>
            </a:r>
          </a:p>
        </p:txBody>
      </p:sp>
      <p:sp>
        <p:nvSpPr>
          <p:cNvPr id="15" name="Rounded Rectangle 14"/>
          <p:cNvSpPr/>
          <p:nvPr/>
        </p:nvSpPr>
        <p:spPr>
          <a:xfrm>
            <a:off x="6056376" y="2930652"/>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056376" y="2930652"/>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47815" y="2930652"/>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البروليتاريا</a:t>
            </a:r>
          </a:p>
        </p:txBody>
      </p:sp>
      <p:sp>
        <p:nvSpPr>
          <p:cNvPr id="18" name="TextBox 17"/>
          <p:cNvSpPr txBox="1"/>
          <p:nvPr/>
        </p:nvSpPr>
        <p:spPr>
          <a:xfrm>
            <a:off x="6166104" y="3497580"/>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عمال لا يملكون إلا قوة عملهم</a:t>
            </a:r>
          </a:p>
        </p:txBody>
      </p:sp>
      <p:sp>
        <p:nvSpPr>
          <p:cNvPr id="19" name="Rounded Rectangle 18"/>
          <p:cNvSpPr/>
          <p:nvPr/>
        </p:nvSpPr>
        <p:spPr>
          <a:xfrm>
            <a:off x="3233927" y="2930652"/>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3233927" y="2930652"/>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325367" y="2930652"/>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الإمبريالية</a:t>
            </a:r>
          </a:p>
        </p:txBody>
      </p:sp>
      <p:sp>
        <p:nvSpPr>
          <p:cNvPr id="22" name="TextBox 21"/>
          <p:cNvSpPr txBox="1"/>
          <p:nvPr/>
        </p:nvSpPr>
        <p:spPr>
          <a:xfrm>
            <a:off x="3343655" y="3497580"/>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توسّع وهيمنة على الأسواق والمواد الأولية</a:t>
            </a:r>
          </a:p>
        </p:txBody>
      </p:sp>
      <p:sp>
        <p:nvSpPr>
          <p:cNvPr id="23" name="Rounded Rectangle 22"/>
          <p:cNvSpPr/>
          <p:nvPr/>
        </p:nvSpPr>
        <p:spPr>
          <a:xfrm>
            <a:off x="411479" y="2930652"/>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411479" y="2930652"/>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02919" y="2930652"/>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الاستعمار</a:t>
            </a:r>
          </a:p>
        </p:txBody>
      </p:sp>
      <p:sp>
        <p:nvSpPr>
          <p:cNvPr id="26" name="TextBox 25"/>
          <p:cNvSpPr txBox="1"/>
          <p:nvPr/>
        </p:nvSpPr>
        <p:spPr>
          <a:xfrm>
            <a:off x="521207" y="3497580"/>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سيطرة على بلد آخر واستغلال موارده</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مفاهيم مفتاحية (2)</a:t>
            </a:r>
          </a:p>
        </p:txBody>
      </p:sp>
      <p:sp>
        <p:nvSpPr>
          <p:cNvPr id="3" name="Rounded Rectangle 2"/>
          <p:cNvSpPr/>
          <p:nvPr/>
        </p:nvSpPr>
        <p:spPr>
          <a:xfrm>
            <a:off x="6056376" y="1097280"/>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056376" y="1097280"/>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47815" y="1097280"/>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الاشتراكية</a:t>
            </a:r>
          </a:p>
        </p:txBody>
      </p:sp>
      <p:sp>
        <p:nvSpPr>
          <p:cNvPr id="6" name="TextBox 5"/>
          <p:cNvSpPr txBox="1"/>
          <p:nvPr/>
        </p:nvSpPr>
        <p:spPr>
          <a:xfrm>
            <a:off x="6166104" y="1664207"/>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عدالة اجتماعية وملكية جماعية</a:t>
            </a:r>
          </a:p>
        </p:txBody>
      </p:sp>
      <p:sp>
        <p:nvSpPr>
          <p:cNvPr id="7" name="Rounded Rectangle 6"/>
          <p:cNvSpPr/>
          <p:nvPr/>
        </p:nvSpPr>
        <p:spPr>
          <a:xfrm>
            <a:off x="3233927" y="1097280"/>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233927" y="1097280"/>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25367" y="1097280"/>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التبعية</a:t>
            </a:r>
          </a:p>
        </p:txBody>
      </p:sp>
      <p:sp>
        <p:nvSpPr>
          <p:cNvPr id="10" name="TextBox 9"/>
          <p:cNvSpPr txBox="1"/>
          <p:nvPr/>
        </p:nvSpPr>
        <p:spPr>
          <a:xfrm>
            <a:off x="3343655" y="1664207"/>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اقتصاد خاضع للقوى الكبرى</a:t>
            </a:r>
          </a:p>
        </p:txBody>
      </p:sp>
      <p:sp>
        <p:nvSpPr>
          <p:cNvPr id="11" name="Rounded Rectangle 10"/>
          <p:cNvSpPr/>
          <p:nvPr/>
        </p:nvSpPr>
        <p:spPr>
          <a:xfrm>
            <a:off x="411479" y="1097280"/>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11479" y="1097280"/>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2919" y="1097280"/>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النهضة العربية</a:t>
            </a:r>
          </a:p>
        </p:txBody>
      </p:sp>
      <p:sp>
        <p:nvSpPr>
          <p:cNvPr id="14" name="TextBox 13"/>
          <p:cNvSpPr txBox="1"/>
          <p:nvPr/>
        </p:nvSpPr>
        <p:spPr>
          <a:xfrm>
            <a:off x="521207" y="1664207"/>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حركة فكرية وإصلاحية في ق19م</a:t>
            </a:r>
          </a:p>
        </p:txBody>
      </p:sp>
      <p:sp>
        <p:nvSpPr>
          <p:cNvPr id="15" name="Rounded Rectangle 14"/>
          <p:cNvSpPr/>
          <p:nvPr/>
        </p:nvSpPr>
        <p:spPr>
          <a:xfrm>
            <a:off x="6056376" y="2930652"/>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056376" y="2930652"/>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47815" y="2930652"/>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الحماية</a:t>
            </a:r>
          </a:p>
        </p:txBody>
      </p:sp>
      <p:sp>
        <p:nvSpPr>
          <p:cNvPr id="18" name="TextBox 17"/>
          <p:cNvSpPr txBox="1"/>
          <p:nvPr/>
        </p:nvSpPr>
        <p:spPr>
          <a:xfrm>
            <a:off x="6166104" y="3497580"/>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استعمار غير مباشر؛ المغرب 1912</a:t>
            </a:r>
          </a:p>
        </p:txBody>
      </p:sp>
      <p:sp>
        <p:nvSpPr>
          <p:cNvPr id="19" name="Rounded Rectangle 18"/>
          <p:cNvSpPr/>
          <p:nvPr/>
        </p:nvSpPr>
        <p:spPr>
          <a:xfrm>
            <a:off x="3233927" y="2930652"/>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3233927" y="2930652"/>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325367" y="2930652"/>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الثنائية القطبية</a:t>
            </a:r>
          </a:p>
        </p:txBody>
      </p:sp>
      <p:sp>
        <p:nvSpPr>
          <p:cNvPr id="22" name="TextBox 21"/>
          <p:cNvSpPr txBox="1"/>
          <p:nvPr/>
        </p:nvSpPr>
        <p:spPr>
          <a:xfrm>
            <a:off x="3343655" y="3497580"/>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معسكر غربي ومعسكر شرقي بعد 1945</a:t>
            </a:r>
          </a:p>
        </p:txBody>
      </p:sp>
      <p:sp>
        <p:nvSpPr>
          <p:cNvPr id="23" name="Rounded Rectangle 22"/>
          <p:cNvSpPr/>
          <p:nvPr/>
        </p:nvSpPr>
        <p:spPr>
          <a:xfrm>
            <a:off x="411479" y="2930652"/>
            <a:ext cx="2676144" cy="1687067"/>
          </a:xfrm>
          <a:prstGeom prst="roundRect">
            <a:avLst>
              <a:gd name="adj" fmla="val 8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411479" y="2930652"/>
            <a:ext cx="2676144" cy="530352"/>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02919" y="2930652"/>
            <a:ext cx="2493264" cy="530352"/>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حركات التحرر</a:t>
            </a:r>
          </a:p>
        </p:txBody>
      </p:sp>
      <p:sp>
        <p:nvSpPr>
          <p:cNvPr id="26" name="TextBox 25"/>
          <p:cNvSpPr txBox="1"/>
          <p:nvPr/>
        </p:nvSpPr>
        <p:spPr>
          <a:xfrm>
            <a:off x="521207" y="3497580"/>
            <a:ext cx="2456688" cy="1065275"/>
          </a:xfrm>
          <a:prstGeom prst="rect">
            <a:avLst/>
          </a:prstGeom>
          <a:noFill/>
        </p:spPr>
        <p:txBody>
          <a:bodyPr wrap="square" lIns="45720" rIns="45720" tIns="18288" bIns="18288" anchor="ctr">
            <a:spAutoFit/>
          </a:bodyPr>
          <a:lstStyle/>
          <a:p>
            <a:pPr rtl="1" algn="ctr">
              <a:lnSpc>
                <a:spcPct val="100000"/>
              </a:lnSpc>
            </a:pPr>
            <a:r>
              <a:rPr sz="2000" b="0" lang="ar-MA">
                <a:solidFill>
                  <a:srgbClr val="26303D"/>
                </a:solidFill>
                <a:latin typeface="Cairo"/>
                <a:cs typeface="Cairo"/>
              </a:rPr>
              <a:t>نضال الشعوب من أجل الاستقلال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مفاهيم متقابلة: لا تخلط بينها</a:t>
            </a:r>
          </a:p>
        </p:txBody>
      </p:sp>
      <p:sp>
        <p:nvSpPr>
          <p:cNvPr id="3" name="Rounded Rectangle 2"/>
          <p:cNvSpPr/>
          <p:nvPr/>
        </p:nvSpPr>
        <p:spPr>
          <a:xfrm>
            <a:off x="5212080" y="1097280"/>
            <a:ext cx="3520440" cy="1075943"/>
          </a:xfrm>
          <a:prstGeom prst="roundRect">
            <a:avLst>
              <a:gd name="adj" fmla="val 15000"/>
            </a:avLst>
          </a:prstGeom>
          <a:solidFill>
            <a:srgbClr val="FFFFFF"/>
          </a:solidFill>
          <a:ln w="15875">
            <a:solidFill>
              <a:srgbClr val="1F6F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06640" y="1097280"/>
            <a:ext cx="1325880" cy="1075943"/>
          </a:xfrm>
          <a:prstGeom prst="roundRect">
            <a:avLst>
              <a:gd name="adj" fmla="val 1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06640" y="1097280"/>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البرجوازية</a:t>
            </a:r>
          </a:p>
        </p:txBody>
      </p:sp>
      <p:sp>
        <p:nvSpPr>
          <p:cNvPr id="6" name="TextBox 5"/>
          <p:cNvSpPr txBox="1"/>
          <p:nvPr/>
        </p:nvSpPr>
        <p:spPr>
          <a:xfrm>
            <a:off x="5303520" y="1097280"/>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تملك وسائل الإنتاج والرساميل</a:t>
            </a:r>
          </a:p>
        </p:txBody>
      </p:sp>
      <p:sp>
        <p:nvSpPr>
          <p:cNvPr id="7" name="Rounded Rectangle 6"/>
          <p:cNvSpPr/>
          <p:nvPr/>
        </p:nvSpPr>
        <p:spPr>
          <a:xfrm>
            <a:off x="411480" y="1097280"/>
            <a:ext cx="3520440" cy="1075943"/>
          </a:xfrm>
          <a:prstGeom prst="roundRect">
            <a:avLst>
              <a:gd name="adj" fmla="val 15000"/>
            </a:avLst>
          </a:prstGeom>
          <a:solidFill>
            <a:srgbClr val="FFFFFF"/>
          </a:solidFill>
          <a:ln w="15875">
            <a:solidFill>
              <a:srgbClr val="8C2F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606039" y="1097280"/>
            <a:ext cx="1325880" cy="1075943"/>
          </a:xfrm>
          <a:prstGeom prst="roundRect">
            <a:avLst>
              <a:gd name="adj" fmla="val 1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606039" y="1097280"/>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البروليتاريا</a:t>
            </a:r>
          </a:p>
        </p:txBody>
      </p:sp>
      <p:sp>
        <p:nvSpPr>
          <p:cNvPr id="10" name="TextBox 9"/>
          <p:cNvSpPr txBox="1"/>
          <p:nvPr/>
        </p:nvSpPr>
        <p:spPr>
          <a:xfrm>
            <a:off x="502920" y="1097280"/>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لا تملك إلا قوة عملها</a:t>
            </a:r>
          </a:p>
        </p:txBody>
      </p:sp>
      <p:sp>
        <p:nvSpPr>
          <p:cNvPr id="11" name="Oval 10"/>
          <p:cNvSpPr/>
          <p:nvPr/>
        </p:nvSpPr>
        <p:spPr>
          <a:xfrm>
            <a:off x="4288536" y="1351787"/>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
        <p:nvSpPr>
          <p:cNvPr id="12" name="Rounded Rectangle 11"/>
          <p:cNvSpPr/>
          <p:nvPr/>
        </p:nvSpPr>
        <p:spPr>
          <a:xfrm>
            <a:off x="5212080" y="2319527"/>
            <a:ext cx="3520440" cy="1075943"/>
          </a:xfrm>
          <a:prstGeom prst="roundRect">
            <a:avLst>
              <a:gd name="adj" fmla="val 15000"/>
            </a:avLst>
          </a:prstGeom>
          <a:solidFill>
            <a:srgbClr val="FFFFFF"/>
          </a:solidFill>
          <a:ln w="15875">
            <a:solidFill>
              <a:srgbClr val="4F7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406640" y="2319527"/>
            <a:ext cx="1325880" cy="1075943"/>
          </a:xfrm>
          <a:prstGeom prst="roundRect">
            <a:avLst>
              <a:gd name="adj" fmla="val 1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0" y="2319527"/>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الرأسمالية</a:t>
            </a:r>
          </a:p>
        </p:txBody>
      </p:sp>
      <p:sp>
        <p:nvSpPr>
          <p:cNvPr id="15" name="TextBox 14"/>
          <p:cNvSpPr txBox="1"/>
          <p:nvPr/>
        </p:nvSpPr>
        <p:spPr>
          <a:xfrm>
            <a:off x="5303520" y="2319527"/>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ملكية خاصة وحرية المبادرة</a:t>
            </a:r>
          </a:p>
        </p:txBody>
      </p:sp>
      <p:sp>
        <p:nvSpPr>
          <p:cNvPr id="16" name="Rounded Rectangle 15"/>
          <p:cNvSpPr/>
          <p:nvPr/>
        </p:nvSpPr>
        <p:spPr>
          <a:xfrm>
            <a:off x="411480" y="2319527"/>
            <a:ext cx="3520440" cy="1075943"/>
          </a:xfrm>
          <a:prstGeom prst="roundRect">
            <a:avLst>
              <a:gd name="adj" fmla="val 15000"/>
            </a:avLst>
          </a:prstGeom>
          <a:solidFill>
            <a:srgbClr val="FFFFFF"/>
          </a:solidFill>
          <a:ln w="15875">
            <a:solidFill>
              <a:srgbClr val="B06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606039" y="2319527"/>
            <a:ext cx="1325880" cy="1075943"/>
          </a:xfrm>
          <a:prstGeom prst="roundRect">
            <a:avLst>
              <a:gd name="adj" fmla="val 1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606039" y="2319527"/>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الاشتراكية</a:t>
            </a:r>
          </a:p>
        </p:txBody>
      </p:sp>
      <p:sp>
        <p:nvSpPr>
          <p:cNvPr id="19" name="TextBox 18"/>
          <p:cNvSpPr txBox="1"/>
          <p:nvPr/>
        </p:nvSpPr>
        <p:spPr>
          <a:xfrm>
            <a:off x="502920" y="2319527"/>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ملكية جماعية وعدالة اجتماعية</a:t>
            </a:r>
          </a:p>
        </p:txBody>
      </p:sp>
      <p:sp>
        <p:nvSpPr>
          <p:cNvPr id="20" name="Oval 19"/>
          <p:cNvSpPr/>
          <p:nvPr/>
        </p:nvSpPr>
        <p:spPr>
          <a:xfrm>
            <a:off x="4288536" y="2574035"/>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
        <p:nvSpPr>
          <p:cNvPr id="21" name="Rounded Rectangle 20"/>
          <p:cNvSpPr/>
          <p:nvPr/>
        </p:nvSpPr>
        <p:spPr>
          <a:xfrm>
            <a:off x="5212080" y="3541775"/>
            <a:ext cx="3520440" cy="1075943"/>
          </a:xfrm>
          <a:prstGeom prst="roundRect">
            <a:avLst>
              <a:gd name="adj" fmla="val 15000"/>
            </a:avLst>
          </a:prstGeom>
          <a:solidFill>
            <a:srgbClr val="FFFFFF"/>
          </a:solidFill>
          <a:ln w="15875">
            <a:solidFill>
              <a:srgbClr val="4A4F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406640" y="3541775"/>
            <a:ext cx="1325880" cy="1075943"/>
          </a:xfrm>
          <a:prstGeom prst="roundRect">
            <a:avLst>
              <a:gd name="adj" fmla="val 15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06640" y="3541775"/>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الإمبريالية</a:t>
            </a:r>
          </a:p>
        </p:txBody>
      </p:sp>
      <p:sp>
        <p:nvSpPr>
          <p:cNvPr id="24" name="TextBox 23"/>
          <p:cNvSpPr txBox="1"/>
          <p:nvPr/>
        </p:nvSpPr>
        <p:spPr>
          <a:xfrm>
            <a:off x="5303520" y="3541775"/>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سياسة توسع وهيمنة</a:t>
            </a:r>
          </a:p>
        </p:txBody>
      </p:sp>
      <p:sp>
        <p:nvSpPr>
          <p:cNvPr id="25" name="Rounded Rectangle 24"/>
          <p:cNvSpPr/>
          <p:nvPr/>
        </p:nvSpPr>
        <p:spPr>
          <a:xfrm>
            <a:off x="411480" y="3541775"/>
            <a:ext cx="3520440" cy="1075943"/>
          </a:xfrm>
          <a:prstGeom prst="roundRect">
            <a:avLst>
              <a:gd name="adj" fmla="val 15000"/>
            </a:avLst>
          </a:prstGeom>
          <a:solidFill>
            <a:srgbClr val="FFFFFF"/>
          </a:solidFill>
          <a:ln w="15875">
            <a:solidFill>
              <a:srgbClr val="0B22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2606039" y="3541775"/>
            <a:ext cx="1325880" cy="1075943"/>
          </a:xfrm>
          <a:prstGeom prst="roundRect">
            <a:avLst>
              <a:gd name="adj" fmla="val 15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606039" y="3541775"/>
            <a:ext cx="1325880" cy="1075943"/>
          </a:xfrm>
          <a:prstGeom prst="rect">
            <a:avLst/>
          </a:prstGeom>
          <a:noFill/>
        </p:spPr>
        <p:txBody>
          <a:bodyPr wrap="square" lIns="45720" rIns="45720" tIns="18288" bIns="18288" anchor="ctr">
            <a:spAutoFit/>
          </a:bodyPr>
          <a:lstStyle/>
          <a:p>
            <a:pPr rtl="1" algn="ctr">
              <a:lnSpc>
                <a:spcPct val="95000"/>
              </a:lnSpc>
            </a:pPr>
            <a:r>
              <a:rPr sz="1900" b="1" lang="ar-MA">
                <a:solidFill>
                  <a:srgbClr val="FFFFFF"/>
                </a:solidFill>
                <a:latin typeface="Cairo"/>
                <a:cs typeface="Cairo"/>
              </a:rPr>
              <a:t>الاستعمار</a:t>
            </a:r>
          </a:p>
        </p:txBody>
      </p:sp>
      <p:sp>
        <p:nvSpPr>
          <p:cNvPr id="28" name="TextBox 27"/>
          <p:cNvSpPr txBox="1"/>
          <p:nvPr/>
        </p:nvSpPr>
        <p:spPr>
          <a:xfrm>
            <a:off x="502920" y="3541775"/>
            <a:ext cx="2057400" cy="1075943"/>
          </a:xfrm>
          <a:prstGeom prst="rect">
            <a:avLst/>
          </a:prstGeom>
          <a:noFill/>
        </p:spPr>
        <p:txBody>
          <a:bodyPr wrap="square" lIns="45720" rIns="45720" tIns="18288" bIns="18288" anchor="ctr">
            <a:spAutoFit/>
          </a:bodyPr>
          <a:lstStyle/>
          <a:p>
            <a:pPr rtl="1" algn="r">
              <a:lnSpc>
                <a:spcPct val="100000"/>
              </a:lnSpc>
            </a:pPr>
            <a:r>
              <a:rPr sz="1800" b="0" lang="ar-MA">
                <a:solidFill>
                  <a:srgbClr val="26303D"/>
                </a:solidFill>
                <a:latin typeface="Cairo"/>
                <a:cs typeface="Cairo"/>
              </a:rPr>
              <a:t>سيطرة فعلية على بلد آخر</a:t>
            </a:r>
          </a:p>
        </p:txBody>
      </p:sp>
      <p:sp>
        <p:nvSpPr>
          <p:cNvPr id="29" name="Oval 28"/>
          <p:cNvSpPr/>
          <p:nvPr/>
        </p:nvSpPr>
        <p:spPr>
          <a:xfrm>
            <a:off x="4288536" y="3796283"/>
            <a:ext cx="566928" cy="566928"/>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a:xfrm>
            <a:off x="548640" y="1188720"/>
            <a:ext cx="7772400" cy="502920"/>
          </a:xfrm>
        </p:spPr>
        <p:txBody>
          <a:bodyPr wrap="square"/>
          <a:lstStyle/>
          <a:p>
            <a:pPr rtl="1" algn="r">
              <a:buNone/>
              <a:spcAft>
                <a:spcPts val="600"/>
              </a:spcAft>
            </a:pPr>
            <a:r>
              <a:rPr sz="2200" b="1" lang="ar-MA">
                <a:solidFill>
                  <a:srgbClr val="0B2242"/>
                </a:solidFill>
                <a:latin typeface="Cairo"/>
                <a:cs typeface="Cairo"/>
              </a:rPr>
              <a:t>5- مفاهيم أساسية</a:t>
            </a:r>
          </a:p>
        </p:txBody>
      </p:sp>
      <p:graphicFrame>
        <p:nvGraphicFramePr>
          <p:cNvPr id="3" name="Table 2"/>
          <p:cNvGraphicFramePr>
            <a:graphicFrameLocks noGrp="1"/>
          </p:cNvGraphicFramePr>
          <p:nvPr/>
        </p:nvGraphicFramePr>
        <p:xfrm>
          <a:off x="548640" y="1737360"/>
          <a:ext cx="7772400" cy="1828800"/>
        </p:xfrm>
        <a:graphic>
          <a:graphicData uri="http://schemas.openxmlformats.org/drawingml/2006/table">
            <a:tbl>
              <a:tblPr firstRow="1" bandRow="1" rtl="1">
                <a:tableStyleId>{5C22544A-7EE6-4342-B048-85BDC9FD1C3A}</a:tableStyleId>
              </a:tblPr>
              <a:tblGrid>
                <a:gridCol w="2176272"/>
                <a:gridCol w="5596128"/>
              </a:tblGrid>
              <a:tr h="457200">
                <a:tc>
                  <a:txBody>
                    <a:bodyPr/>
                    <a:lstStyle/>
                    <a:p>
                      <a:pPr rtl="1" algn="ctr"/>
                      <a:r>
                        <a:rPr sz="2000" b="1" lang="ar-MA">
                          <a:solidFill>
                            <a:srgbClr val="FFFFFF"/>
                          </a:solidFill>
                          <a:latin typeface="Cairo"/>
                          <a:cs typeface="Cairo"/>
                        </a:rPr>
                        <a:t>المفهوم</a:t>
                      </a:r>
                    </a:p>
                  </a:txBody>
                  <a:tcPr>
                    <a:solidFill>
                      <a:srgbClr val="0B2242"/>
                    </a:solidFill>
                  </a:tcPr>
                </a:tc>
                <a:tc>
                  <a:txBody>
                    <a:bodyPr/>
                    <a:lstStyle/>
                    <a:p>
                      <a:pPr rtl="1" algn="ctr"/>
                      <a:r>
                        <a:rPr sz="2000" b="1" lang="ar-MA">
                          <a:solidFill>
                            <a:srgbClr val="FFFFFF"/>
                          </a:solidFill>
                          <a:latin typeface="Cairo"/>
                          <a:cs typeface="Cairo"/>
                        </a:rPr>
                        <a:t>التعريف</a:t>
                      </a:r>
                    </a:p>
                  </a:txBody>
                  <a:tcPr>
                    <a:solidFill>
                      <a:srgbClr val="0B2242"/>
                    </a:solidFill>
                  </a:tcPr>
                </a:tc>
              </a:tr>
              <a:tr h="457200">
                <a:tc>
                  <a:txBody>
                    <a:bodyPr/>
                    <a:lstStyle/>
                    <a:p>
                      <a:pPr rtl="1" algn="r"/>
                      <a:r>
                        <a:rPr sz="2000" b="1" lang="ar-MA">
                          <a:solidFill>
                            <a:srgbClr val="0B2242"/>
                          </a:solidFill>
                          <a:latin typeface="Cairo"/>
                          <a:cs typeface="Cairo"/>
                        </a:rPr>
                        <a:t>الثورة الصناعية</a:t>
                      </a:r>
                    </a:p>
                  </a:txBody>
                  <a:tcPr anchor="ctr">
                    <a:solidFill>
                      <a:srgbClr val="FFFDF6"/>
                    </a:solidFill>
                  </a:tcPr>
                </a:tc>
                <a:tc>
                  <a:txBody>
                    <a:bodyPr/>
                    <a:lstStyle/>
                    <a:p>
                      <a:pPr rtl="1" algn="r"/>
                      <a:r>
                        <a:rPr sz="2000" b="0" lang="ar-MA">
                          <a:solidFill>
                            <a:srgbClr val="222222"/>
                          </a:solidFill>
                          <a:latin typeface="Cairo"/>
                          <a:cs typeface="Cairo"/>
                        </a:rPr>
                        <a:t>تحول جذري في الإنتاج بفعل الآلة والطاقة وظهور المصنع وتطور النقل.</a:t>
                      </a:r>
                    </a:p>
                  </a:txBody>
                  <a:tcPr anchor="ctr">
                    <a:solidFill>
                      <a:srgbClr val="FFFDF6"/>
                    </a:solidFill>
                  </a:tcPr>
                </a:tc>
              </a:tr>
              <a:tr h="457200">
                <a:tc>
                  <a:txBody>
                    <a:bodyPr/>
                    <a:lstStyle/>
                    <a:p>
                      <a:pPr rtl="1" algn="r"/>
                      <a:r>
                        <a:rPr sz="2000" b="1" lang="ar-MA">
                          <a:solidFill>
                            <a:srgbClr val="0B2242"/>
                          </a:solidFill>
                          <a:latin typeface="Cairo"/>
                          <a:cs typeface="Cairo"/>
                        </a:rPr>
                        <a:t>الرأسمالية</a:t>
                      </a:r>
                    </a:p>
                  </a:txBody>
                  <a:tcPr anchor="ctr">
                    <a:solidFill>
                      <a:srgbClr val="F6EED8"/>
                    </a:solidFill>
                  </a:tcPr>
                </a:tc>
                <a:tc>
                  <a:txBody>
                    <a:bodyPr/>
                    <a:lstStyle/>
                    <a:p>
                      <a:pPr rtl="1" algn="r"/>
                      <a:r>
                        <a:rPr sz="2000" b="0" lang="ar-MA">
                          <a:solidFill>
                            <a:srgbClr val="222222"/>
                          </a:solidFill>
                          <a:latin typeface="Cairo"/>
                          <a:cs typeface="Cairo"/>
                        </a:rPr>
                        <a:t>نظام اقتصادي يقوم على الملكية الخاصة لوسائل الإنتاج وحرية المبادرة والسعي إلى الربح.</a:t>
                      </a:r>
                    </a:p>
                  </a:txBody>
                  <a:tcPr anchor="ctr">
                    <a:solidFill>
                      <a:srgbClr val="F6EED8"/>
                    </a:solidFill>
                  </a:tcPr>
                </a:tc>
              </a:tr>
              <a:tr h="457200">
                <a:tc>
                  <a:txBody>
                    <a:bodyPr/>
                    <a:lstStyle/>
                    <a:p>
                      <a:pPr rtl="1" algn="r"/>
                      <a:r>
                        <a:rPr sz="2000" b="1" lang="ar-MA">
                          <a:solidFill>
                            <a:srgbClr val="0B2242"/>
                          </a:solidFill>
                          <a:latin typeface="Cairo"/>
                          <a:cs typeface="Cairo"/>
                        </a:rPr>
                        <a:t>الإمبريالية</a:t>
                      </a:r>
                    </a:p>
                  </a:txBody>
                  <a:tcPr anchor="ctr">
                    <a:solidFill>
                      <a:srgbClr val="FFFDF6"/>
                    </a:solidFill>
                  </a:tcPr>
                </a:tc>
                <a:tc>
                  <a:txBody>
                    <a:bodyPr/>
                    <a:lstStyle/>
                    <a:p>
                      <a:pPr rtl="1" algn="r"/>
                      <a:r>
                        <a:rPr sz="2000" b="0" lang="ar-MA">
                          <a:solidFill>
                            <a:srgbClr val="222222"/>
                          </a:solidFill>
                          <a:latin typeface="Cairo"/>
                          <a:cs typeface="Cairo"/>
                        </a:rPr>
                        <a:t>سياسة توسع وهيمنة للسيطرة على الأسواق والمواد الأولية ومجالات النفوذ.</a:t>
                      </a:r>
                    </a:p>
                  </a:txBody>
                  <a:tcPr anchor="ctr">
                    <a:solidFill>
                      <a:srgbClr val="FFFDF6"/>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a:xfrm>
            <a:off x="548640" y="1188720"/>
            <a:ext cx="7772400" cy="502920"/>
          </a:xfrm>
        </p:spPr>
        <p:txBody>
          <a:bodyPr wrap="square"/>
          <a:lstStyle/>
          <a:p>
            <a:pPr rtl="1" algn="r">
              <a:buNone/>
              <a:spcAft>
                <a:spcPts val="600"/>
              </a:spcAft>
            </a:pPr>
            <a:r>
              <a:rPr sz="2200" b="1" lang="ar-MA">
                <a:solidFill>
                  <a:srgbClr val="0B2242"/>
                </a:solidFill>
                <a:latin typeface="Cairo"/>
                <a:cs typeface="Cairo"/>
              </a:rPr>
              <a:t>5- مفاهيم أساسية (تابع)</a:t>
            </a:r>
          </a:p>
        </p:txBody>
      </p:sp>
      <p:graphicFrame>
        <p:nvGraphicFramePr>
          <p:cNvPr id="3" name="Table 2"/>
          <p:cNvGraphicFramePr>
            <a:graphicFrameLocks noGrp="1"/>
          </p:cNvGraphicFramePr>
          <p:nvPr/>
        </p:nvGraphicFramePr>
        <p:xfrm>
          <a:off x="548640" y="1737360"/>
          <a:ext cx="7772400" cy="1828800"/>
        </p:xfrm>
        <a:graphic>
          <a:graphicData uri="http://schemas.openxmlformats.org/drawingml/2006/table">
            <a:tbl>
              <a:tblPr firstRow="1" bandRow="1" rtl="1">
                <a:tableStyleId>{5C22544A-7EE6-4342-B048-85BDC9FD1C3A}</a:tableStyleId>
              </a:tblPr>
              <a:tblGrid>
                <a:gridCol w="2176272"/>
                <a:gridCol w="5596128"/>
              </a:tblGrid>
              <a:tr h="457200">
                <a:tc>
                  <a:txBody>
                    <a:bodyPr/>
                    <a:lstStyle/>
                    <a:p>
                      <a:pPr rtl="1" algn="ctr"/>
                      <a:r>
                        <a:rPr sz="2000" b="1" lang="ar-MA">
                          <a:solidFill>
                            <a:srgbClr val="FFFFFF"/>
                          </a:solidFill>
                          <a:latin typeface="Cairo"/>
                          <a:cs typeface="Cairo"/>
                        </a:rPr>
                        <a:t>المفهوم</a:t>
                      </a:r>
                    </a:p>
                  </a:txBody>
                  <a:tcPr>
                    <a:solidFill>
                      <a:srgbClr val="0B2242"/>
                    </a:solidFill>
                  </a:tcPr>
                </a:tc>
                <a:tc>
                  <a:txBody>
                    <a:bodyPr/>
                    <a:lstStyle/>
                    <a:p>
                      <a:pPr rtl="1" algn="ctr"/>
                      <a:r>
                        <a:rPr sz="2000" b="1" lang="ar-MA">
                          <a:solidFill>
                            <a:srgbClr val="FFFFFF"/>
                          </a:solidFill>
                          <a:latin typeface="Cairo"/>
                          <a:cs typeface="Cairo"/>
                        </a:rPr>
                        <a:t>التعريف</a:t>
                      </a:r>
                    </a:p>
                  </a:txBody>
                  <a:tcPr>
                    <a:solidFill>
                      <a:srgbClr val="0B2242"/>
                    </a:solidFill>
                  </a:tcPr>
                </a:tc>
              </a:tr>
              <a:tr h="457200">
                <a:tc>
                  <a:txBody>
                    <a:bodyPr/>
                    <a:lstStyle/>
                    <a:p>
                      <a:pPr rtl="1" algn="r"/>
                      <a:r>
                        <a:rPr sz="2000" b="1" lang="ar-MA">
                          <a:solidFill>
                            <a:srgbClr val="0B2242"/>
                          </a:solidFill>
                          <a:latin typeface="Cairo"/>
                          <a:cs typeface="Cairo"/>
                        </a:rPr>
                        <a:t>الاستعمار</a:t>
                      </a:r>
                    </a:p>
                  </a:txBody>
                  <a:tcPr anchor="ctr">
                    <a:solidFill>
                      <a:srgbClr val="FFFDF6"/>
                    </a:solidFill>
                  </a:tcPr>
                </a:tc>
                <a:tc>
                  <a:txBody>
                    <a:bodyPr/>
                    <a:lstStyle/>
                    <a:p>
                      <a:pPr rtl="1" algn="r"/>
                      <a:r>
                        <a:rPr sz="2000" b="0" lang="ar-MA">
                          <a:solidFill>
                            <a:srgbClr val="222222"/>
                          </a:solidFill>
                          <a:latin typeface="Cairo"/>
                          <a:cs typeface="Cairo"/>
                        </a:rPr>
                        <a:t>سيطرة دولة قوية على بلد آخر واستغلال موارده وإخضاع سكانه.</a:t>
                      </a:r>
                    </a:p>
                  </a:txBody>
                  <a:tcPr anchor="ctr">
                    <a:solidFill>
                      <a:srgbClr val="FFFDF6"/>
                    </a:solidFill>
                  </a:tcPr>
                </a:tc>
              </a:tr>
              <a:tr h="457200">
                <a:tc>
                  <a:txBody>
                    <a:bodyPr/>
                    <a:lstStyle/>
                    <a:p>
                      <a:pPr rtl="1" algn="r"/>
                      <a:r>
                        <a:rPr sz="2000" b="1" lang="ar-MA">
                          <a:solidFill>
                            <a:srgbClr val="0B2242"/>
                          </a:solidFill>
                          <a:latin typeface="Cairo"/>
                          <a:cs typeface="Cairo"/>
                        </a:rPr>
                        <a:t>الثنائية القطبية</a:t>
                      </a:r>
                    </a:p>
                  </a:txBody>
                  <a:tcPr anchor="ctr">
                    <a:solidFill>
                      <a:srgbClr val="F6EED8"/>
                    </a:solidFill>
                  </a:tcPr>
                </a:tc>
                <a:tc>
                  <a:txBody>
                    <a:bodyPr/>
                    <a:lstStyle/>
                    <a:p>
                      <a:pPr rtl="1" algn="r"/>
                      <a:r>
                        <a:rPr sz="2000" b="0" lang="ar-MA">
                          <a:solidFill>
                            <a:srgbClr val="222222"/>
                          </a:solidFill>
                          <a:latin typeface="Cairo"/>
                          <a:cs typeface="Cairo"/>
                        </a:rPr>
                        <a:t>انقسام العالم بعد سنة 1945م إلى معسكر غربي رأسمالي وآخر شرقي اشتراكي.</a:t>
                      </a:r>
                    </a:p>
                  </a:txBody>
                  <a:tcPr anchor="ctr">
                    <a:solidFill>
                      <a:srgbClr val="F6EED8"/>
                    </a:solidFill>
                  </a:tcPr>
                </a:tc>
              </a:tr>
              <a:tr h="457200">
                <a:tc>
                  <a:txBody>
                    <a:bodyPr/>
                    <a:lstStyle/>
                    <a:p>
                      <a:pPr rtl="1" algn="r"/>
                      <a:r>
                        <a:rPr sz="2000" b="1" lang="ar-MA">
                          <a:solidFill>
                            <a:srgbClr val="0B2242"/>
                          </a:solidFill>
                          <a:latin typeface="Cairo"/>
                          <a:cs typeface="Cairo"/>
                        </a:rPr>
                        <a:t>حركات التحرر</a:t>
                      </a:r>
                    </a:p>
                  </a:txBody>
                  <a:tcPr anchor="ctr">
                    <a:solidFill>
                      <a:srgbClr val="FFFDF6"/>
                    </a:solidFill>
                  </a:tcPr>
                </a:tc>
                <a:tc>
                  <a:txBody>
                    <a:bodyPr/>
                    <a:lstStyle/>
                    <a:p>
                      <a:pPr rtl="1" algn="r"/>
                      <a:r>
                        <a:rPr sz="2000" b="0" lang="ar-MA">
                          <a:solidFill>
                            <a:srgbClr val="222222"/>
                          </a:solidFill>
                          <a:latin typeface="Cairo"/>
                          <a:cs typeface="Cairo"/>
                        </a:rPr>
                        <a:t>نضالات سياسية ومسلحة من أجل الاستقلال والسيادة الوطنية.</a:t>
                      </a:r>
                    </a:p>
                  </a:txBody>
                  <a:tcPr anchor="ctr">
                    <a:solidFill>
                      <a:srgbClr val="FFFDF6"/>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تطبيق منهجي</a:t>
            </a:r>
          </a:p>
        </p:txBody>
      </p:sp>
      <p:sp>
        <p:nvSpPr>
          <p:cNvPr id="3" name="Rounded Rectangle 2"/>
          <p:cNvSpPr/>
          <p:nvPr/>
        </p:nvSpPr>
        <p:spPr>
          <a:xfrm>
            <a:off x="411480" y="1097280"/>
            <a:ext cx="8321040" cy="3520439"/>
          </a:xfrm>
          <a:prstGeom prst="roundRect">
            <a:avLst>
              <a:gd name="adj" fmla="val 5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6720840" y="1097280"/>
            <a:ext cx="2011680" cy="502920"/>
          </a:xfrm>
          <a:prstGeom prst="roundRect">
            <a:avLst>
              <a:gd name="adj" fmla="val 30000"/>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720840" y="1097280"/>
            <a:ext cx="2011680" cy="502920"/>
          </a:xfrm>
          <a:prstGeom prst="rect">
            <a:avLst/>
          </a:prstGeom>
          <a:noFill/>
        </p:spPr>
        <p:txBody>
          <a:bodyPr wrap="square" lIns="45720" rIns="45720" tIns="18288" bIns="18288" anchor="ctr">
            <a:spAutoFit/>
          </a:bodyPr>
          <a:lstStyle/>
          <a:p>
            <a:pPr rtl="1" algn="ctr">
              <a:lnSpc>
                <a:spcPct val="100000"/>
              </a:lnSpc>
            </a:pPr>
            <a:r>
              <a:rPr sz="2000" b="1" lang="ar-MA">
                <a:solidFill>
                  <a:srgbClr val="0B2242"/>
                </a:solidFill>
                <a:latin typeface="Cairo"/>
                <a:cs typeface="Cairo"/>
              </a:rPr>
              <a:t>تدرّب</a:t>
            </a:r>
          </a:p>
        </p:txBody>
      </p:sp>
      <p:sp>
        <p:nvSpPr>
          <p:cNvPr id="6" name="Oval 5"/>
          <p:cNvSpPr/>
          <p:nvPr/>
        </p:nvSpPr>
        <p:spPr>
          <a:xfrm>
            <a:off x="8069580" y="1996439"/>
            <a:ext cx="411480" cy="4114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FFFFFF"/>
                </a:solidFill>
                <a:latin typeface="Cairo"/>
                <a:cs typeface="Cairo"/>
              </a:rPr>
              <a:t>1</a:t>
            </a:r>
          </a:p>
        </p:txBody>
      </p:sp>
      <p:sp>
        <p:nvSpPr>
          <p:cNvPr id="7" name="TextBox 6"/>
          <p:cNvSpPr txBox="1"/>
          <p:nvPr/>
        </p:nvSpPr>
        <p:spPr>
          <a:xfrm>
            <a:off x="685800" y="1737360"/>
            <a:ext cx="7223760" cy="929640"/>
          </a:xfrm>
          <a:prstGeom prst="rect">
            <a:avLst/>
          </a:prstGeom>
          <a:noFill/>
        </p:spPr>
        <p:txBody>
          <a:bodyPr wrap="square" lIns="45720" rIns="45720" tIns="18288" bIns="18288" anchor="ctr">
            <a:spAutoFit/>
          </a:bodyPr>
          <a:lstStyle/>
          <a:p>
            <a:pPr rtl="1" algn="r">
              <a:lnSpc>
                <a:spcPct val="100000"/>
              </a:lnSpc>
            </a:pPr>
            <a:r>
              <a:rPr sz="2400" b="0" lang="ar-MA">
                <a:solidFill>
                  <a:srgbClr val="26303D"/>
                </a:solidFill>
                <a:latin typeface="Cairo"/>
                <a:cs typeface="Cairo"/>
              </a:rPr>
              <a:t>رتّب المحطات الست على خط زمني</a:t>
            </a:r>
          </a:p>
        </p:txBody>
      </p:sp>
      <p:sp>
        <p:nvSpPr>
          <p:cNvPr id="8" name="Oval 7"/>
          <p:cNvSpPr/>
          <p:nvPr/>
        </p:nvSpPr>
        <p:spPr>
          <a:xfrm>
            <a:off x="8069580" y="2926079"/>
            <a:ext cx="411480" cy="4114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FFFFFF"/>
                </a:solidFill>
                <a:latin typeface="Cairo"/>
                <a:cs typeface="Cairo"/>
              </a:rPr>
              <a:t>2</a:t>
            </a:r>
          </a:p>
        </p:txBody>
      </p:sp>
      <p:sp>
        <p:nvSpPr>
          <p:cNvPr id="9" name="TextBox 8"/>
          <p:cNvSpPr txBox="1"/>
          <p:nvPr/>
        </p:nvSpPr>
        <p:spPr>
          <a:xfrm>
            <a:off x="685800" y="2667000"/>
            <a:ext cx="7223760" cy="929640"/>
          </a:xfrm>
          <a:prstGeom prst="rect">
            <a:avLst/>
          </a:prstGeom>
          <a:noFill/>
        </p:spPr>
        <p:txBody>
          <a:bodyPr wrap="square" lIns="45720" rIns="45720" tIns="18288" bIns="18288" anchor="ctr">
            <a:spAutoFit/>
          </a:bodyPr>
          <a:lstStyle/>
          <a:p>
            <a:pPr rtl="1" algn="r">
              <a:lnSpc>
                <a:spcPct val="100000"/>
              </a:lnSpc>
            </a:pPr>
            <a:r>
              <a:rPr sz="2400" b="0" lang="ar-MA">
                <a:solidFill>
                  <a:srgbClr val="26303D"/>
                </a:solidFill>
                <a:latin typeface="Cairo"/>
                <a:cs typeface="Cairo"/>
              </a:rPr>
              <a:t>بيّن بسهم العلاقة السببية بين كل محطة والتي تليها</a:t>
            </a:r>
          </a:p>
        </p:txBody>
      </p:sp>
      <p:sp>
        <p:nvSpPr>
          <p:cNvPr id="10" name="Oval 9"/>
          <p:cNvSpPr/>
          <p:nvPr/>
        </p:nvSpPr>
        <p:spPr>
          <a:xfrm>
            <a:off x="8069580" y="3855720"/>
            <a:ext cx="411480" cy="41148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FFFFFF"/>
                </a:solidFill>
                <a:latin typeface="Cairo"/>
                <a:cs typeface="Cairo"/>
              </a:rPr>
              <a:t>3</a:t>
            </a:r>
          </a:p>
        </p:txBody>
      </p:sp>
      <p:sp>
        <p:nvSpPr>
          <p:cNvPr id="11" name="TextBox 10"/>
          <p:cNvSpPr txBox="1"/>
          <p:nvPr/>
        </p:nvSpPr>
        <p:spPr>
          <a:xfrm>
            <a:off x="685800" y="3596640"/>
            <a:ext cx="7223760" cy="929640"/>
          </a:xfrm>
          <a:prstGeom prst="rect">
            <a:avLst/>
          </a:prstGeom>
          <a:noFill/>
        </p:spPr>
        <p:txBody>
          <a:bodyPr wrap="square" lIns="45720" rIns="45720" tIns="18288" bIns="18288" anchor="ctr">
            <a:spAutoFit/>
          </a:bodyPr>
          <a:lstStyle/>
          <a:p>
            <a:pPr rtl="1" algn="r">
              <a:lnSpc>
                <a:spcPct val="100000"/>
              </a:lnSpc>
            </a:pPr>
            <a:r>
              <a:rPr sz="2400" b="0" lang="ar-MA">
                <a:solidFill>
                  <a:srgbClr val="26303D"/>
                </a:solidFill>
                <a:latin typeface="Cairo"/>
                <a:cs typeface="Cairo"/>
              </a:rPr>
              <a:t>اكتب فقرة تركيبية (5–6 أسطر) توضّح كيف مهّد كل حدث لما بعده</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اختبر فهمك</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أربعة أسئلة سريعة</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اختر الجواب الصحيح قبل أن يظهر</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1</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ما الحدث الذي أطلق سلسلة التحولات الكبرى؟</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الحرب العالمية الأولى</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الثورة الصناعية</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أزمة 1929</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1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ما الحدث الذي أطلق سلسلة التحولات الكبرى؟</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الحرب العالمية الأولى</a:t>
            </a:r>
          </a:p>
        </p:txBody>
      </p:sp>
      <p:sp>
        <p:nvSpPr>
          <p:cNvPr id="8" name="Rounded Rectangle 7"/>
          <p:cNvSpPr/>
          <p:nvPr/>
        </p:nvSpPr>
        <p:spPr>
          <a:xfrm>
            <a:off x="3246120"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الثورة الصناعية</a:t>
            </a:r>
          </a:p>
        </p:txBody>
      </p:sp>
      <p:sp>
        <p:nvSpPr>
          <p:cNvPr id="11" name="TextBox 10"/>
          <p:cNvSpPr txBox="1"/>
          <p:nvPr/>
        </p:nvSpPr>
        <p:spPr>
          <a:xfrm>
            <a:off x="3337560"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2" name="Rounded Rectangle 11"/>
          <p:cNvSpPr/>
          <p:nvPr/>
        </p:nvSpPr>
        <p:spPr>
          <a:xfrm>
            <a:off x="411479"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4" name="TextBox 13"/>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أزمة 1929</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التصنيع قوّى الرأسمالية، فغذّت الإمبريالية… وهكذا تتابعت الحلقات</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2</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متى فُرض نظام الحماية على المغرب؟</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1906م</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1912م</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1956م</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2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متى فُرض نظام الحماية على المغرب؟</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1906م</a:t>
            </a:r>
          </a:p>
        </p:txBody>
      </p:sp>
      <p:sp>
        <p:nvSpPr>
          <p:cNvPr id="8" name="Rounded Rectangle 7"/>
          <p:cNvSpPr/>
          <p:nvPr/>
        </p:nvSpPr>
        <p:spPr>
          <a:xfrm>
            <a:off x="3246120"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1912م</a:t>
            </a:r>
          </a:p>
        </p:txBody>
      </p:sp>
      <p:sp>
        <p:nvSpPr>
          <p:cNvPr id="11" name="TextBox 10"/>
          <p:cNvSpPr txBox="1"/>
          <p:nvPr/>
        </p:nvSpPr>
        <p:spPr>
          <a:xfrm>
            <a:off x="3337560"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2" name="Rounded Rectangle 11"/>
          <p:cNvSpPr/>
          <p:nvPr/>
        </p:nvSpPr>
        <p:spPr>
          <a:xfrm>
            <a:off x="411479"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4" name="TextBox 13"/>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1956م</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معاهدة فاس: 30 مارس 1912م</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3</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«استفادت القوى الصناعية واستُغلّت الأطراف»: أي خاصية هذه؟</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شمولية</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مترابطة</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غير متكافئة</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3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«استفادت القوى الصناعية واستُغلّت الأطراف»: أي خاصية هذه؟</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شمولية</a:t>
            </a:r>
          </a:p>
        </p:txBody>
      </p:sp>
      <p:sp>
        <p:nvSpPr>
          <p:cNvPr id="8" name="Rounded Rectangle 7"/>
          <p:cNvSpPr/>
          <p:nvPr/>
        </p:nvSpPr>
        <p:spPr>
          <a:xfrm>
            <a:off x="324612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مترابطة</a:t>
            </a:r>
          </a:p>
        </p:txBody>
      </p:sp>
      <p:sp>
        <p:nvSpPr>
          <p:cNvPr id="11" name="Rounded Rectangle 10"/>
          <p:cNvSpPr/>
          <p:nvPr/>
        </p:nvSpPr>
        <p:spPr>
          <a:xfrm>
            <a:off x="411479"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غير متكافئة</a:t>
            </a:r>
          </a:p>
        </p:txBody>
      </p:sp>
      <p:sp>
        <p:nvSpPr>
          <p:cNvPr id="14" name="TextBox 13"/>
          <p:cNvSpPr txBox="1"/>
          <p:nvPr/>
        </p:nvSpPr>
        <p:spPr>
          <a:xfrm>
            <a:off x="502919"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تحولات غير متكافئة: تقدّم المراكز مقابل تبعية الأطراف</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4</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ماذا تعني الثنائية القطبية؟</a:t>
            </a:r>
          </a:p>
        </p:txBody>
      </p:sp>
      <p:sp>
        <p:nvSpPr>
          <p:cNvPr id="5" name="Rounded Rectangle 4"/>
          <p:cNvSpPr/>
          <p:nvPr/>
        </p:nvSpPr>
        <p:spPr>
          <a:xfrm>
            <a:off x="608076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تقاسم إفريقيا بين أوروبا</a:t>
            </a:r>
          </a:p>
        </p:txBody>
      </p:sp>
      <p:sp>
        <p:nvSpPr>
          <p:cNvPr id="8" name="Rounded Rectangle 7"/>
          <p:cNvSpPr/>
          <p:nvPr/>
        </p:nvSpPr>
        <p:spPr>
          <a:xfrm>
            <a:off x="3246120"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انقسام العالم إلى معسكرين بعد 1945</a:t>
            </a:r>
          </a:p>
        </p:txBody>
      </p:sp>
      <p:sp>
        <p:nvSpPr>
          <p:cNvPr id="11" name="Rounded Rectangle 10"/>
          <p:cNvSpPr/>
          <p:nvPr/>
        </p:nvSpPr>
        <p:spPr>
          <a:xfrm>
            <a:off x="411479" y="2331720"/>
            <a:ext cx="2651760" cy="1417320"/>
          </a:xfrm>
          <a:prstGeom prst="roundRect">
            <a:avLst>
              <a:gd name="adj" fmla="val 15000"/>
            </a:avLst>
          </a:prstGeom>
          <a:solidFill>
            <a:srgbClr val="FFFFFF"/>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3" name="TextBox 12"/>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26303D"/>
                </a:solidFill>
                <a:latin typeface="Cairo"/>
                <a:cs typeface="Cairo"/>
              </a:rPr>
              <a:t>تحالف فرنسا وبريطانيا</a:t>
            </a:r>
          </a:p>
        </p:txBody>
      </p:sp>
      <p:sp>
        <p:nvSpPr>
          <p:cNvPr id="14" name="TextBox 13"/>
          <p:cNvSpPr txBox="1"/>
          <p:nvPr/>
        </p:nvSpPr>
        <p:spPr>
          <a:xfrm>
            <a:off x="411480" y="3977639"/>
            <a:ext cx="8321040" cy="457200"/>
          </a:xfrm>
          <a:prstGeom prst="rect">
            <a:avLst/>
          </a:prstGeom>
          <a:noFill/>
        </p:spPr>
        <p:txBody>
          <a:bodyPr wrap="square" lIns="45720" rIns="45720" tIns="18288" bIns="18288" anchor="ctr">
            <a:spAutoFit/>
          </a:bodyPr>
          <a:lstStyle/>
          <a:p>
            <a:pPr rtl="1" algn="ctr">
              <a:lnSpc>
                <a:spcPct val="100000"/>
              </a:lnSpc>
            </a:pPr>
            <a:r>
              <a:rPr sz="1800" b="1" lang="ar-MA">
                <a:solidFill>
                  <a:srgbClr val="C9A24A"/>
                </a:solidFill>
                <a:latin typeface="Cairo"/>
                <a:cs typeface="Cairo"/>
              </a:rPr>
              <a:t>فكّر… ثم أجب</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سؤال 4 — الجواب</a:t>
            </a:r>
          </a:p>
        </p:txBody>
      </p:sp>
      <p:sp>
        <p:nvSpPr>
          <p:cNvPr id="3" name="Rounded Rectangle 2"/>
          <p:cNvSpPr/>
          <p:nvPr/>
        </p:nvSpPr>
        <p:spPr>
          <a:xfrm>
            <a:off x="411480" y="1097280"/>
            <a:ext cx="8321040" cy="960120"/>
          </a:xfrm>
          <a:prstGeom prst="roundRect">
            <a:avLst>
              <a:gd name="adj" fmla="val 20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097280"/>
            <a:ext cx="7863840" cy="960120"/>
          </a:xfrm>
          <a:prstGeom prst="rect">
            <a:avLst/>
          </a:prstGeom>
          <a:noFill/>
        </p:spPr>
        <p:txBody>
          <a:bodyPr wrap="square" lIns="45720" rIns="45720" tIns="18288" bIns="18288" anchor="ctr">
            <a:spAutoFit/>
          </a:bodyPr>
          <a:lstStyle/>
          <a:p>
            <a:pPr rtl="1" algn="ctr">
              <a:lnSpc>
                <a:spcPct val="100000"/>
              </a:lnSpc>
            </a:pPr>
            <a:r>
              <a:rPr sz="2400" b="1" lang="ar-MA">
                <a:solidFill>
                  <a:srgbClr val="FFFFFF"/>
                </a:solidFill>
                <a:latin typeface="Cairo"/>
                <a:cs typeface="Cairo"/>
              </a:rPr>
              <a:t>ماذا تعني الثنائية القطبية؟</a:t>
            </a:r>
          </a:p>
        </p:txBody>
      </p:sp>
      <p:sp>
        <p:nvSpPr>
          <p:cNvPr id="5" name="Rounded Rectangle 4"/>
          <p:cNvSpPr/>
          <p:nvPr/>
        </p:nvSpPr>
        <p:spPr>
          <a:xfrm>
            <a:off x="6080760"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987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أ</a:t>
            </a:r>
          </a:p>
        </p:txBody>
      </p:sp>
      <p:sp>
        <p:nvSpPr>
          <p:cNvPr id="7" name="TextBox 6"/>
          <p:cNvSpPr txBox="1"/>
          <p:nvPr/>
        </p:nvSpPr>
        <p:spPr>
          <a:xfrm>
            <a:off x="6217920"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تقاسم إفريقيا بين أوروبا</a:t>
            </a:r>
          </a:p>
        </p:txBody>
      </p:sp>
      <p:sp>
        <p:nvSpPr>
          <p:cNvPr id="8" name="Rounded Rectangle 7"/>
          <p:cNvSpPr/>
          <p:nvPr/>
        </p:nvSpPr>
        <p:spPr>
          <a:xfrm>
            <a:off x="3246120" y="2331720"/>
            <a:ext cx="2651760" cy="14173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85232" y="248716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2E7D32"/>
                </a:solidFill>
                <a:latin typeface="Cairo"/>
                <a:cs typeface="Cairo"/>
              </a:rPr>
              <a:t>ب</a:t>
            </a:r>
          </a:p>
        </p:txBody>
      </p:sp>
      <p:sp>
        <p:nvSpPr>
          <p:cNvPr id="10" name="TextBox 9"/>
          <p:cNvSpPr txBox="1"/>
          <p:nvPr/>
        </p:nvSpPr>
        <p:spPr>
          <a:xfrm>
            <a:off x="3383279" y="2514600"/>
            <a:ext cx="1920240" cy="1143000"/>
          </a:xfrm>
          <a:prstGeom prst="rect">
            <a:avLst/>
          </a:prstGeom>
          <a:noFill/>
        </p:spPr>
        <p:txBody>
          <a:bodyPr wrap="square" lIns="45720" rIns="45720" tIns="18288" bIns="18288" anchor="ctr">
            <a:spAutoFit/>
          </a:bodyPr>
          <a:lstStyle/>
          <a:p>
            <a:pPr rtl="1" algn="r">
              <a:lnSpc>
                <a:spcPct val="100000"/>
              </a:lnSpc>
            </a:pPr>
            <a:r>
              <a:rPr sz="2100" b="1" lang="ar-MA">
                <a:solidFill>
                  <a:srgbClr val="FFFFFF"/>
                </a:solidFill>
                <a:latin typeface="Cairo"/>
                <a:cs typeface="Cairo"/>
              </a:rPr>
              <a:t>انقسام العالم إلى معسكرين بعد 1945</a:t>
            </a:r>
          </a:p>
        </p:txBody>
      </p:sp>
      <p:sp>
        <p:nvSpPr>
          <p:cNvPr id="11" name="TextBox 10"/>
          <p:cNvSpPr txBox="1"/>
          <p:nvPr/>
        </p:nvSpPr>
        <p:spPr>
          <a:xfrm>
            <a:off x="3337560" y="3337559"/>
            <a:ext cx="548640" cy="365760"/>
          </a:xfrm>
          <a:prstGeom prst="rect">
            <a:avLst/>
          </a:prstGeom>
          <a:noFill/>
        </p:spPr>
        <p:txBody>
          <a:bodyPr wrap="square" lIns="45720" rIns="45720" tIns="18288" bIns="18288" anchor="ctr">
            <a:spAutoFit/>
          </a:bodyPr>
          <a:lstStyle/>
          <a:p>
            <a:pPr rtl="1" algn="ctr">
              <a:lnSpc>
                <a:spcPct val="100000"/>
              </a:lnSpc>
            </a:pPr>
            <a:r>
              <a:rPr sz="2200" b="1" lang="ar-MA">
                <a:solidFill>
                  <a:srgbClr val="FFFFFF"/>
                </a:solidFill>
                <a:latin typeface="Cairo"/>
                <a:cs typeface="Cairo"/>
              </a:rPr>
              <a:t>✓</a:t>
            </a:r>
          </a:p>
        </p:txBody>
      </p:sp>
      <p:sp>
        <p:nvSpPr>
          <p:cNvPr id="12" name="Rounded Rectangle 11"/>
          <p:cNvSpPr/>
          <p:nvPr/>
        </p:nvSpPr>
        <p:spPr>
          <a:xfrm>
            <a:off x="411479" y="2331720"/>
            <a:ext cx="2651760" cy="1417320"/>
          </a:xfrm>
          <a:prstGeom prst="roundRect">
            <a:avLst>
              <a:gd name="adj" fmla="val 15000"/>
            </a:avLst>
          </a:prstGeom>
          <a:solidFill>
            <a:srgbClr val="EEEBE4"/>
          </a:solidFill>
          <a:ln w="15875">
            <a:solidFill>
              <a:srgbClr val="DDD5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50592" y="2487168"/>
            <a:ext cx="457200" cy="457200"/>
          </a:xfrm>
          <a:prstGeom prst="ellipse">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lang="ar-MA">
                <a:solidFill>
                  <a:srgbClr val="0B2242"/>
                </a:solidFill>
                <a:latin typeface="Cairo"/>
                <a:cs typeface="Cairo"/>
              </a:rPr>
              <a:t>ج</a:t>
            </a:r>
          </a:p>
        </p:txBody>
      </p:sp>
      <p:sp>
        <p:nvSpPr>
          <p:cNvPr id="14" name="TextBox 13"/>
          <p:cNvSpPr txBox="1"/>
          <p:nvPr/>
        </p:nvSpPr>
        <p:spPr>
          <a:xfrm>
            <a:off x="548639" y="2514600"/>
            <a:ext cx="1920240" cy="1143000"/>
          </a:xfrm>
          <a:prstGeom prst="rect">
            <a:avLst/>
          </a:prstGeom>
          <a:noFill/>
        </p:spPr>
        <p:txBody>
          <a:bodyPr wrap="square" lIns="45720" rIns="45720" tIns="18288" bIns="18288" anchor="ctr">
            <a:spAutoFit/>
          </a:bodyPr>
          <a:lstStyle/>
          <a:p>
            <a:pPr rtl="1" algn="r">
              <a:lnSpc>
                <a:spcPct val="100000"/>
              </a:lnSpc>
            </a:pPr>
            <a:r>
              <a:rPr sz="2100" b="0" lang="ar-MA">
                <a:solidFill>
                  <a:srgbClr val="5B6675"/>
                </a:solidFill>
                <a:latin typeface="Cairo"/>
                <a:cs typeface="Cairo"/>
              </a:rPr>
              <a:t>تحالف فرنسا وبريطانيا</a:t>
            </a:r>
          </a:p>
        </p:txBody>
      </p:sp>
      <p:sp>
        <p:nvSpPr>
          <p:cNvPr id="15" name="Rounded Rectangle 14"/>
          <p:cNvSpPr/>
          <p:nvPr/>
        </p:nvSpPr>
        <p:spPr>
          <a:xfrm>
            <a:off x="411480" y="3749039"/>
            <a:ext cx="8321040" cy="777240"/>
          </a:xfrm>
          <a:prstGeom prst="roundRect">
            <a:avLst>
              <a:gd name="adj" fmla="val 30000"/>
            </a:avLst>
          </a:prstGeom>
          <a:solidFill>
            <a:srgbClr val="F3E6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3749039"/>
            <a:ext cx="7863840" cy="777240"/>
          </a:xfrm>
          <a:prstGeom prst="rect">
            <a:avLst/>
          </a:prstGeom>
          <a:noFill/>
        </p:spPr>
        <p:txBody>
          <a:bodyPr wrap="square" lIns="45720" rIns="45720" tIns="18288" bIns="18288" anchor="ctr">
            <a:spAutoFit/>
          </a:bodyPr>
          <a:lstStyle/>
          <a:p>
            <a:pPr rtl="1" algn="ctr">
              <a:lnSpc>
                <a:spcPct val="100000"/>
              </a:lnSpc>
            </a:pPr>
            <a:r>
              <a:rPr sz="1900" b="0" lang="ar-MA">
                <a:solidFill>
                  <a:srgbClr val="0B2242"/>
                </a:solidFill>
                <a:latin typeface="Cairo"/>
                <a:cs typeface="Cairo"/>
              </a:rPr>
              <a:t>معسكر غربي رأسمالي ومعسكر شرقي اشتراكي</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خريطة ذهنية للدرس</a:t>
            </a:r>
          </a:p>
        </p:txBody>
      </p:sp>
      <p:cxnSp>
        <p:nvCxnSpPr>
          <p:cNvPr id="3" name="Connector 2"/>
          <p:cNvCxnSpPr/>
          <p:nvPr/>
        </p:nvCxnSpPr>
        <p:spPr>
          <a:xfrm flipV="1">
            <a:off x="5394960" y="1638299"/>
            <a:ext cx="594360" cy="1219201"/>
          </a:xfrm>
          <a:prstGeom prst="line">
            <a:avLst/>
          </a:prstGeom>
          <a:ln w="31750">
            <a:solidFill>
              <a:srgbClr val="1F6F78"/>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989320" y="1097280"/>
            <a:ext cx="2743200" cy="1082040"/>
          </a:xfrm>
          <a:prstGeom prst="roundRect">
            <a:avLst>
              <a:gd name="adj" fmla="val 12000"/>
            </a:avLst>
          </a:prstGeom>
          <a:solidFill>
            <a:srgbClr val="FFFFFF"/>
          </a:solidFill>
          <a:ln w="15875">
            <a:solidFill>
              <a:srgbClr val="1F6F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989320" y="1097280"/>
            <a:ext cx="2743200" cy="411480"/>
          </a:xfrm>
          <a:prstGeom prst="roundRect">
            <a:avLst>
              <a:gd name="adj" fmla="val 25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35040" y="10972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الإطار الزمني</a:t>
            </a:r>
          </a:p>
        </p:txBody>
      </p:sp>
      <p:sp>
        <p:nvSpPr>
          <p:cNvPr id="7" name="TextBox 6"/>
          <p:cNvSpPr txBox="1"/>
          <p:nvPr/>
        </p:nvSpPr>
        <p:spPr>
          <a:xfrm>
            <a:off x="6080760" y="1527048"/>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الثورة الصناعية، الإمبريالية، حربان وأزمة، حركات التحرر</a:t>
            </a:r>
          </a:p>
        </p:txBody>
      </p:sp>
      <p:cxnSp>
        <p:nvCxnSpPr>
          <p:cNvPr id="8" name="Connector 7"/>
          <p:cNvCxnSpPr/>
          <p:nvPr/>
        </p:nvCxnSpPr>
        <p:spPr>
          <a:xfrm>
            <a:off x="5394960" y="2857500"/>
            <a:ext cx="594360" cy="0"/>
          </a:xfrm>
          <a:prstGeom prst="line">
            <a:avLst/>
          </a:prstGeom>
          <a:ln w="31750">
            <a:solidFill>
              <a:srgbClr val="8C2F3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989320" y="2316480"/>
            <a:ext cx="2743200" cy="1082040"/>
          </a:xfrm>
          <a:prstGeom prst="roundRect">
            <a:avLst>
              <a:gd name="adj" fmla="val 12000"/>
            </a:avLst>
          </a:prstGeom>
          <a:solidFill>
            <a:srgbClr val="FFFFFF"/>
          </a:solidFill>
          <a:ln w="15875">
            <a:solidFill>
              <a:srgbClr val="8C2F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5989320" y="2316480"/>
            <a:ext cx="2743200" cy="411480"/>
          </a:xfrm>
          <a:prstGeom prst="roundRect">
            <a:avLst>
              <a:gd name="adj" fmla="val 25000"/>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35040" y="23164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الإطار المكاني</a:t>
            </a:r>
          </a:p>
        </p:txBody>
      </p:sp>
      <p:sp>
        <p:nvSpPr>
          <p:cNvPr id="12" name="TextBox 11"/>
          <p:cNvSpPr txBox="1"/>
          <p:nvPr/>
        </p:nvSpPr>
        <p:spPr>
          <a:xfrm>
            <a:off x="6080760" y="27462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أوروبا والو.م.أ واليابان، المستعمرات، المشرق العربي، المغرب</a:t>
            </a:r>
          </a:p>
        </p:txBody>
      </p:sp>
      <p:cxnSp>
        <p:nvCxnSpPr>
          <p:cNvPr id="13" name="Connector 12"/>
          <p:cNvCxnSpPr/>
          <p:nvPr/>
        </p:nvCxnSpPr>
        <p:spPr>
          <a:xfrm>
            <a:off x="5394960" y="2857500"/>
            <a:ext cx="594360" cy="1219199"/>
          </a:xfrm>
          <a:prstGeom prst="line">
            <a:avLst/>
          </a:prstGeom>
          <a:ln w="31750">
            <a:solidFill>
              <a:srgbClr val="4F7A3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89320" y="3535679"/>
            <a:ext cx="2743200" cy="1082040"/>
          </a:xfrm>
          <a:prstGeom prst="roundRect">
            <a:avLst>
              <a:gd name="adj" fmla="val 12000"/>
            </a:avLst>
          </a:prstGeom>
          <a:solidFill>
            <a:srgbClr val="FFFFFF"/>
          </a:solidFill>
          <a:ln w="15875">
            <a:solidFill>
              <a:srgbClr val="4F7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989320" y="3535679"/>
            <a:ext cx="2743200" cy="411480"/>
          </a:xfrm>
          <a:prstGeom prst="roundRect">
            <a:avLst>
              <a:gd name="adj" fmla="val 25000"/>
            </a:avLst>
          </a:prstGeom>
          <a:solidFill>
            <a:srgbClr val="4F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35040" y="3535679"/>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الخصائص</a:t>
            </a:r>
          </a:p>
        </p:txBody>
      </p:sp>
      <p:sp>
        <p:nvSpPr>
          <p:cNvPr id="17" name="TextBox 16"/>
          <p:cNvSpPr txBox="1"/>
          <p:nvPr/>
        </p:nvSpPr>
        <p:spPr>
          <a:xfrm>
            <a:off x="6080760" y="39654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شمولية، مترابطة، غير متكافئة، صراعية</a:t>
            </a:r>
          </a:p>
        </p:txBody>
      </p:sp>
      <p:cxnSp>
        <p:nvCxnSpPr>
          <p:cNvPr id="18" name="Connector 17"/>
          <p:cNvCxnSpPr/>
          <p:nvPr/>
        </p:nvCxnSpPr>
        <p:spPr>
          <a:xfrm flipH="1" flipV="1">
            <a:off x="3154680" y="1638299"/>
            <a:ext cx="594359" cy="1219201"/>
          </a:xfrm>
          <a:prstGeom prst="line">
            <a:avLst/>
          </a:prstGeom>
          <a:ln w="31750">
            <a:solidFill>
              <a:srgbClr val="B06A1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11480" y="1097280"/>
            <a:ext cx="2743200" cy="1082040"/>
          </a:xfrm>
          <a:prstGeom prst="roundRect">
            <a:avLst>
              <a:gd name="adj" fmla="val 12000"/>
            </a:avLst>
          </a:prstGeom>
          <a:solidFill>
            <a:srgbClr val="FFFFFF"/>
          </a:solidFill>
          <a:ln w="15875">
            <a:solidFill>
              <a:srgbClr val="B06A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11480" y="1097280"/>
            <a:ext cx="2743200" cy="411480"/>
          </a:xfrm>
          <a:prstGeom prst="roundRect">
            <a:avLst>
              <a:gd name="adj" fmla="val 25000"/>
            </a:avLst>
          </a:prstGeom>
          <a:solidFill>
            <a:srgbClr val="B06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10972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المنطق السببي</a:t>
            </a:r>
          </a:p>
        </p:txBody>
      </p:sp>
      <p:sp>
        <p:nvSpPr>
          <p:cNvPr id="22" name="TextBox 21"/>
          <p:cNvSpPr txBox="1"/>
          <p:nvPr/>
        </p:nvSpPr>
        <p:spPr>
          <a:xfrm>
            <a:off x="502920" y="1527048"/>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فائض الإنتاج، التوسع، الحروب، التحرر</a:t>
            </a:r>
          </a:p>
        </p:txBody>
      </p:sp>
      <p:cxnSp>
        <p:nvCxnSpPr>
          <p:cNvPr id="23" name="Connector 22"/>
          <p:cNvCxnSpPr/>
          <p:nvPr/>
        </p:nvCxnSpPr>
        <p:spPr>
          <a:xfrm flipH="1">
            <a:off x="3154680" y="2857500"/>
            <a:ext cx="594359" cy="0"/>
          </a:xfrm>
          <a:prstGeom prst="line">
            <a:avLst/>
          </a:prstGeom>
          <a:ln w="31750">
            <a:solidFill>
              <a:srgbClr val="4A4F8C"/>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11480" y="2316480"/>
            <a:ext cx="2743200" cy="1082040"/>
          </a:xfrm>
          <a:prstGeom prst="roundRect">
            <a:avLst>
              <a:gd name="adj" fmla="val 12000"/>
            </a:avLst>
          </a:prstGeom>
          <a:solidFill>
            <a:srgbClr val="FFFFFF"/>
          </a:solidFill>
          <a:ln w="15875">
            <a:solidFill>
              <a:srgbClr val="4A4F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411480" y="2316480"/>
            <a:ext cx="2743200" cy="411480"/>
          </a:xfrm>
          <a:prstGeom prst="roundRect">
            <a:avLst>
              <a:gd name="adj" fmla="val 25000"/>
            </a:avLst>
          </a:prstGeom>
          <a:solidFill>
            <a:srgbClr val="4A4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7200" y="2316480"/>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مفاهيم مفتاحية</a:t>
            </a:r>
          </a:p>
        </p:txBody>
      </p:sp>
      <p:sp>
        <p:nvSpPr>
          <p:cNvPr id="27" name="TextBox 26"/>
          <p:cNvSpPr txBox="1"/>
          <p:nvPr/>
        </p:nvSpPr>
        <p:spPr>
          <a:xfrm>
            <a:off x="502920" y="27462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الرأسمالية، الإمبريالية، الحماية، الثنائية القطبية</a:t>
            </a:r>
          </a:p>
        </p:txBody>
      </p:sp>
      <p:cxnSp>
        <p:nvCxnSpPr>
          <p:cNvPr id="28" name="Connector 27"/>
          <p:cNvCxnSpPr/>
          <p:nvPr/>
        </p:nvCxnSpPr>
        <p:spPr>
          <a:xfrm flipH="1">
            <a:off x="3154680" y="2857500"/>
            <a:ext cx="594359" cy="1219199"/>
          </a:xfrm>
          <a:prstGeom prst="line">
            <a:avLst/>
          </a:prstGeom>
          <a:ln w="31750">
            <a:solidFill>
              <a:srgbClr val="0B2242"/>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1480" y="3535679"/>
            <a:ext cx="2743200" cy="1082040"/>
          </a:xfrm>
          <a:prstGeom prst="roundRect">
            <a:avLst>
              <a:gd name="adj" fmla="val 12000"/>
            </a:avLst>
          </a:prstGeom>
          <a:solidFill>
            <a:srgbClr val="FFFFFF"/>
          </a:solidFill>
          <a:ln w="15875">
            <a:solidFill>
              <a:srgbClr val="0B22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411480" y="3535679"/>
            <a:ext cx="2743200" cy="411480"/>
          </a:xfrm>
          <a:prstGeom prst="roundRect">
            <a:avLst>
              <a:gd name="adj" fmla="val 25000"/>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7200" y="3535679"/>
            <a:ext cx="2651760" cy="411480"/>
          </a:xfrm>
          <a:prstGeom prst="rect">
            <a:avLst/>
          </a:prstGeom>
          <a:noFill/>
        </p:spPr>
        <p:txBody>
          <a:bodyPr wrap="square" lIns="45720" rIns="45720" tIns="18288" bIns="18288" anchor="ctr">
            <a:spAutoFit/>
          </a:bodyPr>
          <a:lstStyle/>
          <a:p>
            <a:pPr rtl="1" algn="ctr">
              <a:lnSpc>
                <a:spcPct val="100000"/>
              </a:lnSpc>
            </a:pPr>
            <a:r>
              <a:rPr sz="1700" b="1" lang="ar-MA">
                <a:solidFill>
                  <a:srgbClr val="FFFFFF"/>
                </a:solidFill>
                <a:latin typeface="Cairo"/>
                <a:cs typeface="Cairo"/>
              </a:rPr>
              <a:t>المغرب</a:t>
            </a:r>
          </a:p>
        </p:txBody>
      </p:sp>
      <p:sp>
        <p:nvSpPr>
          <p:cNvPr id="32" name="TextBox 31"/>
          <p:cNvSpPr txBox="1"/>
          <p:nvPr/>
        </p:nvSpPr>
        <p:spPr>
          <a:xfrm>
            <a:off x="502920" y="3965447"/>
            <a:ext cx="2560320" cy="624840"/>
          </a:xfrm>
          <a:prstGeom prst="rect">
            <a:avLst/>
          </a:prstGeom>
          <a:noFill/>
        </p:spPr>
        <p:txBody>
          <a:bodyPr wrap="square" lIns="45720" rIns="45720" tIns="18288" bIns="18288" anchor="ctr">
            <a:spAutoFit/>
          </a:bodyPr>
          <a:lstStyle/>
          <a:p>
            <a:pPr rtl="1" algn="ctr">
              <a:lnSpc>
                <a:spcPct val="100000"/>
              </a:lnSpc>
            </a:pPr>
            <a:r>
              <a:rPr sz="1600" b="0" lang="ar-MA">
                <a:solidFill>
                  <a:srgbClr val="26303D"/>
                </a:solidFill>
                <a:latin typeface="Cairo"/>
                <a:cs typeface="Cairo"/>
              </a:rPr>
              <a:t>الحماية 1912، المقاومة، الاستقلال 1956</a:t>
            </a:r>
          </a:p>
        </p:txBody>
      </p:sp>
      <p:sp>
        <p:nvSpPr>
          <p:cNvPr id="33" name="Oval 32"/>
          <p:cNvSpPr/>
          <p:nvPr/>
        </p:nvSpPr>
        <p:spPr>
          <a:xfrm>
            <a:off x="3749039" y="2034540"/>
            <a:ext cx="1645920" cy="1645920"/>
          </a:xfrm>
          <a:prstGeom prst="ellipse">
            <a:avLst/>
          </a:prstGeom>
          <a:solidFill>
            <a:srgbClr val="0B2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794760" y="2263140"/>
            <a:ext cx="1554480" cy="1188720"/>
          </a:xfrm>
          <a:prstGeom prst="rect">
            <a:avLst/>
          </a:prstGeom>
          <a:noFill/>
        </p:spPr>
        <p:txBody>
          <a:bodyPr wrap="square" lIns="45720" rIns="45720" tIns="18288" bIns="18288" anchor="ctr">
            <a:spAutoFit/>
          </a:bodyPr>
          <a:lstStyle/>
          <a:p>
            <a:pPr rtl="1" algn="ctr">
              <a:lnSpc>
                <a:spcPct val="95000"/>
              </a:lnSpc>
            </a:pPr>
            <a:r>
              <a:rPr sz="1800" b="1" lang="ar-MA">
                <a:solidFill>
                  <a:srgbClr val="FFFFFF"/>
                </a:solidFill>
                <a:latin typeface="Cairo"/>
                <a:cs typeface="Cairo"/>
              </a:rPr>
              <a:t>التحولات الكبرى ق19 و20م</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3"/>
          </p:nvPr>
        </p:nvSpPr>
        <p:spPr/>
        <p:txBody>
          <a:bodyPr wrap="square"/>
          <a:lstStyle/>
          <a:p>
            <a:pPr rtl="1" algn="r">
              <a:buNone/>
              <a:spcAft>
                <a:spcPts val="600"/>
              </a:spcAft>
            </a:pPr>
            <a:r>
              <a:rPr sz="3200" b="0" lang="ar-MA">
                <a:latin typeface="Cairo"/>
                <a:cs typeface="Cairo"/>
              </a:rPr>
              <a:t>خاتمة</a:t>
            </a:r>
          </a:p>
        </p:txBody>
      </p:sp>
      <p:sp>
        <p:nvSpPr>
          <p:cNvPr id="3" name="Rounded Rectangle 2"/>
          <p:cNvSpPr/>
          <p:nvPr/>
        </p:nvSpPr>
        <p:spPr>
          <a:xfrm>
            <a:off x="777240" y="1325880"/>
            <a:ext cx="7589520" cy="3063239"/>
          </a:xfrm>
          <a:prstGeom prst="roundRect">
            <a:avLst>
              <a:gd name="adj" fmla="val 6000"/>
            </a:avLst>
          </a:prstGeom>
          <a:solidFill>
            <a:srgbClr val="FFFFFF"/>
          </a:solidFill>
          <a:ln w="15875">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680960" y="1143000"/>
            <a:ext cx="731520" cy="822960"/>
          </a:xfrm>
          <a:prstGeom prst="rect">
            <a:avLst/>
          </a:prstGeom>
          <a:noFill/>
        </p:spPr>
        <p:txBody>
          <a:bodyPr wrap="square" lIns="45720" rIns="45720" tIns="18288" bIns="18288" anchor="t">
            <a:spAutoFit/>
          </a:bodyPr>
          <a:lstStyle/>
          <a:p>
            <a:pPr rtl="1" algn="r">
              <a:lnSpc>
                <a:spcPct val="100000"/>
              </a:lnSpc>
            </a:pPr>
            <a:r>
              <a:rPr sz="6600" b="1" lang="ar-MA">
                <a:solidFill>
                  <a:srgbClr val="C9A24A"/>
                </a:solidFill>
                <a:latin typeface="Cairo"/>
                <a:cs typeface="Cairo"/>
              </a:rPr>
              <a:t>”</a:t>
            </a:r>
          </a:p>
        </p:txBody>
      </p:sp>
      <p:sp>
        <p:nvSpPr>
          <p:cNvPr id="5" name="TextBox 4"/>
          <p:cNvSpPr txBox="1"/>
          <p:nvPr/>
        </p:nvSpPr>
        <p:spPr>
          <a:xfrm>
            <a:off x="1234440" y="1554480"/>
            <a:ext cx="6675120" cy="2606039"/>
          </a:xfrm>
          <a:prstGeom prst="rect">
            <a:avLst/>
          </a:prstGeom>
          <a:noFill/>
        </p:spPr>
        <p:txBody>
          <a:bodyPr wrap="square" lIns="45720" rIns="45720" tIns="18288" bIns="18288" anchor="ctr">
            <a:spAutoFit/>
          </a:bodyPr>
          <a:lstStyle/>
          <a:p>
            <a:pPr rtl="1" algn="ctr">
              <a:lnSpc>
                <a:spcPct val="110000"/>
              </a:lnSpc>
            </a:pPr>
            <a:r>
              <a:rPr sz="3800" b="1" lang="ar-MA">
                <a:solidFill>
                  <a:srgbClr val="0B2242"/>
                </a:solidFill>
                <a:latin typeface="Cairo"/>
                <a:cs typeface="Cairo"/>
              </a:rPr>
              <a:t>دروس المقرر تفاصيلُ هذه اللوحة الكبرى</a:t>
            </a:r>
          </a:p>
          <a:p>
            <a:pPr rtl="1" algn="ctr">
              <a:lnSpc>
                <a:spcPct val="110000"/>
              </a:lnSpc>
            </a:pPr>
            <a:r>
              <a:rPr sz="1200" b="0" lang="ar-MA">
                <a:solidFill>
                  <a:srgbClr val="26303D"/>
                </a:solidFill>
                <a:latin typeface="Cairo"/>
                <a:cs typeface="Cairo"/>
              </a:rPr>
              <a:t> </a:t>
            </a:r>
          </a:p>
          <a:p>
            <a:pPr rtl="1" algn="ctr">
              <a:lnSpc>
                <a:spcPct val="110000"/>
              </a:lnSpc>
            </a:pPr>
            <a:r>
              <a:rPr sz="2300" b="0" lang="ar-MA">
                <a:solidFill>
                  <a:srgbClr val="5B6675"/>
                </a:solidFill>
                <a:latin typeface="Cairo"/>
                <a:cs typeface="Cairo"/>
              </a:rPr>
              <a:t>تحولات اقتصادية ← هيمنة استعمارية ← إصلاح ومقاومة وتحرر، ومنها نضال المغرب والمشرق العربي</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1" lang="ar-MA">
                <a:solidFill>
                  <a:srgbClr val="0B2242"/>
                </a:solidFill>
                <a:latin typeface="Cairo"/>
                <a:cs typeface="Cairo"/>
              </a:rPr>
              <a:t>خاتمة:</a:t>
            </a:r>
          </a:p>
          <a:p>
            <a:pPr rtl="1" algn="r">
              <a:buNone/>
              <a:spcAft>
                <a:spcPts val="600"/>
              </a:spcAft>
            </a:pPr>
            <a:r>
              <a:rPr sz="2600" b="0" lang="ar-MA">
                <a:latin typeface="Cairo"/>
                <a:cs typeface="Cairo"/>
              </a:rPr>
              <a:t>عرف العالم الرأسمالي خلال القرنين 19 و20م سلسلة من التحولات المتداخلة بدأت بالثورة الصناعية ونمو الرأسمالية، ثم انتقلت إلى التوسع الإمبريالي والتنافس الدولي والحربين العالميتين والأزمة الاقتصادية.</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3"/>
          </p:nvPr>
        </p:nvSpPr>
        <p:spPr/>
        <p:txBody>
          <a:bodyPr wrap="square"/>
          <a:lstStyle/>
          <a:p>
            <a:pPr rtl="1" algn="r">
              <a:buNone/>
              <a:spcAft>
                <a:spcPts val="600"/>
              </a:spcAft>
            </a:pPr>
            <a:r>
              <a:rPr sz="2600" b="0" lang="ar-MA">
                <a:latin typeface="Cairo"/>
                <a:cs typeface="Cairo"/>
              </a:rPr>
              <a:t>وقد أعادت هذه التحولات تشكيل موازين القوى، وفرضت الهيمنة الاستعمارية على مناطق واسعة، لكنها أثارت في المقابل حركات الإصلاح والمقاومة والتحرر، ومنها نضال المغرب والمشرق العربي من أجل الاستقلال وبناء الدولة الوطنية.</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wrap="square"/>
          <a:lstStyle/>
          <a:p>
            <a:pPr rtl="1" algn="r">
              <a:buNone/>
              <a:spcAft>
                <a:spcPts val="600"/>
              </a:spcAft>
            </a:pPr>
            <a:r>
              <a:rPr sz="4000" b="0" lang="ar-MA">
                <a:latin typeface="Cairo"/>
                <a:cs typeface="Cairo"/>
              </a:rPr>
              <a:t>شكراً لانتباهكم</a:t>
            </a:r>
          </a:p>
        </p:txBody>
      </p:sp>
    </p:spTree>
  </p:cSld>
  <p:clrMapOvr>
    <a:masterClrMapping/>
  </p:clrMapOvr>
</p:sld>
</file>

<file path=ppt/theme/theme1.xml><?xml version="1.0" encoding="utf-8"?>
<a:theme xmlns:a="http://schemas.openxmlformats.org/drawingml/2006/main" name="Bouamoud Navy Gold">
  <a:themeElements>
    <a:clrScheme name="Bouamoud Navy Gold">
      <a:dk1>
        <a:srgbClr val="1B1B1B"/>
      </a:dk1>
      <a:lt1>
        <a:srgbClr val="FFFFFF"/>
      </a:lt1>
      <a:dk2>
        <a:srgbClr val="0B2242"/>
      </a:dk2>
      <a:lt2>
        <a:srgbClr val="F7F3EA"/>
      </a:lt2>
      <a:accent1>
        <a:srgbClr val="C9A24A"/>
      </a:accent1>
      <a:accent2>
        <a:srgbClr val="0B2242"/>
      </a:accent2>
      <a:accent3>
        <a:srgbClr val="1A6FA8"/>
      </a:accent3>
      <a:accent4>
        <a:srgbClr val="E8720C"/>
      </a:accent4>
      <a:accent5>
        <a:srgbClr val="8A6D2B"/>
      </a:accent5>
      <a:accent6>
        <a:srgbClr val="5B6B82"/>
      </a:accent6>
      <a:hlink>
        <a:srgbClr val="1A6FA8"/>
      </a:hlink>
      <a:folHlink>
        <a:srgbClr val="8A6D2B"/>
      </a:folHlink>
    </a:clrScheme>
    <a:fontScheme name="Bouamoud Navy Gold">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i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دروس الاجتماعيات</dc:title>
  <dc:subject>PptxGenJS Presentation</dc:subject>
  <dc:creator>أحمد بوعمود</dc:creator>
  <cp:lastModifiedBy>أحمد بوعمود</cp:lastModifiedBy>
  <cp:revision>1</cp:revision>
  <dcterms:created xsi:type="dcterms:W3CDTF">2026-10-16T14:35:24Z</dcterms:created>
  <dcterms:modified xsi:type="dcterms:W3CDTF">2026-10-16T14:35:24Z</dcterms:modified>
</cp:coreProperties>
</file>