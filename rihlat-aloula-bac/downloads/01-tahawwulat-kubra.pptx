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5"/>
    <p:sldId id="258" r:id="rId4"/>
    <p:sldId id="259" r:id="rId3"/>
    <p:sldId id="260" r:id="rId2"/>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نموذج" id="{d326dffa-4528-c323-d390-c46a4a8ff4ad}">
          <p14:sldIdLst>
            <p14:sldId id="256"/>
            <p14:sldId id="257"/>
            <p14:sldId id="258"/>
            <p14:sldId id="259"/>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xml"/><Relationship Id="rId3" Type="http://schemas.openxmlformats.org/officeDocument/2006/relationships/slide" Target="slides/slide4.xml"/><Relationship Id="rId4" Type="http://schemas.openxmlformats.org/officeDocument/2006/relationships/slide" Target="slides/slide3.xml"/><Relationship Id="rId5" Type="http://schemas.openxmlformats.org/officeDocument/2006/relationships/slide" Target="slides/slide2.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غلاف الدرس">
    <p:bg>
      <p:bgPr>
        <a:solidFill>
          <a:srgbClr val="0B2242"/>
        </a:solidFill>
      </p:bgPr>
    </p:bg>
    <p:spTree>
      <p:nvGrpSpPr>
        <p:cNvPr id="1" name=""/>
        <p:cNvGrpSpPr/>
        <p:nvPr/>
      </p:nvGrpSpPr>
      <p:grpSpPr>
        <a:xfrm>
          <a:off x="0" y="0"/>
          <a:ext cx="0" cy="0"/>
          <a:chOff x="0" y="0"/>
          <a:chExt cx="0" cy="0"/>
        </a:xfrm>
      </p:grpSpPr>
      <p:pic>
        <p:nvPicPr>
          <p:cNvPr id="2" name="Image 0" descr="/tmp/claude-0/-home-claude/19570fe6-a11a-544f-81e5-5e225fe6dd19/scratchpad/ppt/badge.png">    </p:cNvPr>
          <p:cNvPicPr>
            <a:picLocks noChangeAspect="1"/>
          </p:cNvPicPr>
          <p:nvPr/>
        </p:nvPicPr>
        <p:blipFill>
          <a:blip r:embed="rId1"/>
          <a:stretch>
            <a:fillRect/>
          </a:stretch>
        </p:blipFill>
        <p:spPr>
          <a:xfrm>
            <a:off x="411480" y="548640"/>
            <a:ext cx="3840480" cy="3840480"/>
          </a:xfrm>
          <a:prstGeom prst="rect">
            <a:avLst/>
          </a:prstGeom>
        </p:spPr>
      </p:pic>
      <p:sp>
        <p:nvSpPr>
          <p:cNvPr id="3" name="Shape 0"/>
          <p:cNvSpPr/>
          <p:nvPr/>
        </p:nvSpPr>
        <p:spPr>
          <a:xfrm>
            <a:off x="4572000" y="2788920"/>
            <a:ext cx="4160520" cy="27432"/>
          </a:xfrm>
          <a:prstGeom prst="rect">
            <a:avLst/>
          </a:prstGeom>
          <a:solidFill>
            <a:srgbClr val="C9A24A"/>
          </a:solidFill>
          <a:ln/>
        </p:spPr>
      </p:sp>
      <p:sp>
        <p:nvSpPr>
          <p:cNvPr id="4" name="Text 1"/>
          <p:cNvSpPr/>
          <p:nvPr/>
        </p:nvSpPr>
        <p:spPr>
          <a:xfrm>
            <a:off x="4480560" y="4526280"/>
            <a:ext cx="4297680" cy="365760"/>
          </a:xfrm>
          <a:prstGeom prst="rect">
            <a:avLst/>
          </a:prstGeom>
          <a:noFill/>
          <a:ln/>
        </p:spPr>
        <p:txBody>
          <a:bodyPr wrap="square" rtlCol="0" anchor="ctr"/>
          <a:lstStyle/>
          <a:p>
            <a:pPr algn="r" indent="0" marL="0">
              <a:buNone/>
            </a:pPr>
            <a:r>
              <a:rPr lang="en-US" sz="1300" dirty="0">
                <a:solidFill>
                  <a:srgbClr val="C9A24A"/>
                </a:solidFill>
              </a:rPr>
              <a:t>ذ. أحمد بوعمود — مؤسسة الحنان الخاصة | ⁦2026-2027⁩</a:t>
            </a:r>
            <a:endParaRPr lang="en-US" sz="1300" dirty="0"/>
          </a:p>
        </p:txBody>
      </p:sp>
      <p:sp>
        <p:nvSpPr>
          <p:cNvPr id="5" name="Text 2"/>
          <p:cNvSpPr/>
          <p:nvPr>
            <p:ph idx="103" type="body" hasCustomPrompt="1"/>
          </p:nvPr>
        </p:nvSpPr>
        <p:spPr>
          <a:xfrm>
            <a:off x="4572000" y="685800"/>
            <a:ext cx="4160520" cy="502920"/>
          </a:xfrm>
          <a:prstGeom prst="rect">
            <a:avLst/>
          </a:prstGeom>
          <a:noFill/>
          <a:ln/>
        </p:spPr>
        <p:txBody>
          <a:bodyPr wrap="square" rtlCol="0"/>
          <a:lstStyle>
            <a:lvl1pPr rtl="1" algn="r" indent="0" marL="0">
              <a:buNone/>
              <a:defRPr lang="en-US" sz="2000" b="1" dirty="0">
                <a:solidFill>
                  <a:srgbClr val="C9A24A"/>
                </a:solidFill>
              </a:defRPr>
            </a:lvl1pPr>
          </a:lstStyle>
          <a:p>
            <a:pPr algn="r" indent="0" marL="0">
              <a:buNone/>
            </a:pPr>
            <a:r>
              <a:rPr lang="en-US" sz="2000" b="1" dirty="0">
                <a:solidFill>
                  <a:srgbClr val="C9A24A"/>
                </a:solidFill>
              </a:rPr>
              <a:t>المستوى | المكوّن</a:t>
            </a:r>
            <a:endParaRPr lang="en-US" sz="2000" dirty="0"/>
          </a:p>
        </p:txBody>
      </p:sp>
      <p:sp>
        <p:nvSpPr>
          <p:cNvPr id="6" name="Text 2"/>
          <p:cNvSpPr/>
          <p:nvPr>
            <p:ph idx="104" type="title" hasCustomPrompt="1"/>
          </p:nvPr>
        </p:nvSpPr>
        <p:spPr>
          <a:xfrm>
            <a:off x="4572000" y="1188720"/>
            <a:ext cx="4160520" cy="1554480"/>
          </a:xfrm>
          <a:prstGeom prst="rect">
            <a:avLst/>
          </a:prstGeom>
          <a:noFill/>
          <a:ln/>
        </p:spPr>
        <p:txBody>
          <a:bodyPr wrap="square" rtlCol="0"/>
          <a:lstStyle>
            <a:lvl1pPr rtl="1" algn="r" indent="0" marL="0">
              <a:buNone/>
              <a:defRPr lang="en-US" sz="4000" b="1" dirty="0">
                <a:solidFill>
                  <a:srgbClr val="FFFFFF"/>
                </a:solidFill>
              </a:defRPr>
            </a:lvl1pPr>
          </a:lstStyle>
          <a:p>
            <a:pPr algn="r" indent="0" marL="0">
              <a:buNone/>
            </a:pPr>
            <a:r>
              <a:rPr lang="en-US" sz="4000" b="1" dirty="0">
                <a:solidFill>
                  <a:srgbClr val="FFFFFF"/>
                </a:solidFill>
              </a:rPr>
              <a:t>عنوان الدرس</a:t>
            </a:r>
            <a:endParaRPr lang="en-US" sz="4000" dirty="0"/>
          </a:p>
        </p:txBody>
      </p:sp>
      <p:sp>
        <p:nvSpPr>
          <p:cNvPr id="7" name="Text 2"/>
          <p:cNvSpPr/>
          <p:nvPr>
            <p:ph idx="105" type="body" hasCustomPrompt="1"/>
          </p:nvPr>
        </p:nvSpPr>
        <p:spPr>
          <a:xfrm>
            <a:off x="4572000" y="2926080"/>
            <a:ext cx="4160520" cy="1188720"/>
          </a:xfrm>
          <a:prstGeom prst="rect">
            <a:avLst/>
          </a:prstGeom>
          <a:noFill/>
          <a:ln/>
        </p:spPr>
        <p:txBody>
          <a:bodyPr wrap="square" rtlCol="0"/>
          <a:lstStyle>
            <a:lvl1pPr rtl="1" algn="r" indent="0" marL="0">
              <a:buNone/>
              <a:defRPr lang="en-US" sz="2000" dirty="0">
                <a:solidFill>
                  <a:srgbClr val="DCE3EE"/>
                </a:solidFill>
              </a:defRPr>
            </a:lvl1pPr>
          </a:lstStyle>
          <a:p>
            <a:pPr algn="r" indent="0" marL="0">
              <a:buNone/>
            </a:pPr>
            <a:r>
              <a:rPr lang="en-US" sz="2000" dirty="0">
                <a:solidFill>
                  <a:srgbClr val="DCE3EE"/>
                </a:solidFill>
              </a:rPr>
              <a:t>الوحدة أو الإشكالية</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محور">
    <p:bg>
      <p:bgPr>
        <a:solidFill>
          <a:srgbClr val="0B2242"/>
        </a:solidFill>
      </p:bgPr>
    </p:bg>
    <p:spTree>
      <p:nvGrpSpPr>
        <p:cNvPr id="1" name=""/>
        <p:cNvGrpSpPr/>
        <p:nvPr/>
      </p:nvGrpSpPr>
      <p:grpSpPr>
        <a:xfrm>
          <a:off x="0" y="0"/>
          <a:ext cx="0" cy="0"/>
          <a:chOff x="0" y="0"/>
          <a:chExt cx="0" cy="0"/>
        </a:xfrm>
      </p:grpSpPr>
      <p:pic>
        <p:nvPicPr>
          <p:cNvPr id="2" name="Image 0" descr="/tmp/claude-0/-home-claude/19570fe6-a11a-544f-81e5-5e225fe6dd19/scratchpad/ppt/icon.png">    </p:cNvPr>
          <p:cNvPicPr>
            <a:picLocks noChangeAspect="1"/>
          </p:cNvPicPr>
          <p:nvPr/>
        </p:nvPicPr>
        <p:blipFill>
          <a:blip r:embed="rId1"/>
          <a:stretch>
            <a:fillRect/>
          </a:stretch>
        </p:blipFill>
        <p:spPr>
          <a:xfrm>
            <a:off x="411480" y="4160520"/>
            <a:ext cx="685800" cy="685800"/>
          </a:xfrm>
          <a:prstGeom prst="rect">
            <a:avLst/>
          </a:prstGeom>
        </p:spPr>
      </p:pic>
      <p:sp>
        <p:nvSpPr>
          <p:cNvPr id="3" name="Text 0"/>
          <p:cNvSpPr/>
          <p:nvPr>
            <p:ph idx="101" type="body" hasCustomPrompt="1"/>
          </p:nvPr>
        </p:nvSpPr>
        <p:spPr>
          <a:xfrm>
            <a:off x="6035040" y="914400"/>
            <a:ext cx="2697480" cy="1463040"/>
          </a:xfrm>
          <a:prstGeom prst="rect">
            <a:avLst/>
          </a:prstGeom>
          <a:noFill/>
          <a:ln/>
        </p:spPr>
        <p:txBody>
          <a:bodyPr wrap="square" rtlCol="0"/>
          <a:lstStyle>
            <a:lvl1pPr rtl="1" algn="r" indent="0" marL="0">
              <a:buNone/>
              <a:defRPr lang="en-US" sz="9600" b="1" dirty="0">
                <a:solidFill>
                  <a:srgbClr val="C9A24A"/>
                </a:solidFill>
              </a:defRPr>
            </a:lvl1pPr>
          </a:lstStyle>
          <a:p>
            <a:pPr algn="r" indent="0" marL="0">
              <a:buNone/>
            </a:pPr>
            <a:r>
              <a:rPr lang="en-US" sz="9600" b="1" dirty="0">
                <a:solidFill>
                  <a:srgbClr val="C9A24A"/>
                </a:solidFill>
              </a:rPr>
              <a:t>1</a:t>
            </a:r>
            <a:endParaRPr lang="en-US" sz="9600" dirty="0"/>
          </a:p>
        </p:txBody>
      </p:sp>
      <p:sp>
        <p:nvSpPr>
          <p:cNvPr id="4" name="Text 0"/>
          <p:cNvSpPr/>
          <p:nvPr>
            <p:ph idx="102" type="title" hasCustomPrompt="1"/>
          </p:nvPr>
        </p:nvSpPr>
        <p:spPr>
          <a:xfrm>
            <a:off x="914400" y="2423160"/>
            <a:ext cx="7818120" cy="1463040"/>
          </a:xfrm>
          <a:prstGeom prst="rect">
            <a:avLst/>
          </a:prstGeom>
          <a:noFill/>
          <a:ln/>
        </p:spPr>
        <p:txBody>
          <a:bodyPr wrap="square" rtlCol="0"/>
          <a:lstStyle>
            <a:lvl1pPr rtl="1" algn="r" indent="0" marL="0">
              <a:buNone/>
              <a:defRPr lang="en-US" sz="4000" b="1" dirty="0">
                <a:solidFill>
                  <a:srgbClr val="FFFFFF"/>
                </a:solidFill>
              </a:defRPr>
            </a:lvl1pPr>
          </a:lstStyle>
          <a:p>
            <a:pPr algn="r" indent="0" marL="0">
              <a:buNone/>
            </a:pPr>
            <a:r>
              <a:rPr lang="en-US" sz="4000" b="1" dirty="0">
                <a:solidFill>
                  <a:srgbClr val="FFFFFF"/>
                </a:solidFill>
              </a:rPr>
              <a:t>عنوان المحور</a:t>
            </a:r>
            <a:endParaRPr lang="en-US" sz="4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شرح">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0B2242"/>
          </a:solidFill>
          <a:ln/>
        </p:spPr>
      </p:sp>
      <p:pic>
        <p:nvPicPr>
          <p:cNvPr id="3" name="Image 0" descr="/tmp/claude-0/-home-claude/19570fe6-a11a-544f-81e5-5e225fe6dd19/scratchpad/ppt/icon.png">    </p:cNvPr>
          <p:cNvPicPr>
            <a:picLocks noChangeAspect="1"/>
          </p:cNvPicPr>
          <p:nvPr/>
        </p:nvPicPr>
        <p:blipFill>
          <a:blip r:embed="rId1"/>
          <a:stretch>
            <a:fillRect/>
          </a:stretch>
        </p:blipFill>
        <p:spPr>
          <a:xfrm>
            <a:off x="274320" y="109728"/>
            <a:ext cx="731520" cy="731520"/>
          </a:xfrm>
          <a:prstGeom prst="rect">
            <a:avLst/>
          </a:prstGeom>
        </p:spPr>
      </p:pic>
      <p:sp>
        <p:nvSpPr>
          <p:cNvPr id="4" name="Text 1"/>
          <p:cNvSpPr/>
          <p:nvPr/>
        </p:nvSpPr>
        <p:spPr>
          <a:xfrm>
            <a:off x="365760" y="4754880"/>
            <a:ext cx="5943600" cy="274320"/>
          </a:xfrm>
          <a:prstGeom prst="rect">
            <a:avLst/>
          </a:prstGeom>
          <a:noFill/>
          <a:ln/>
        </p:spPr>
        <p:txBody>
          <a:bodyPr wrap="square" rtlCol="0" anchor="ctr"/>
          <a:lstStyle/>
          <a:p>
            <a:pPr algn="l" indent="0" marL="0">
              <a:buNone/>
            </a:pPr>
            <a:r>
              <a:rPr lang="en-US" sz="1100" dirty="0">
                <a:solidFill>
                  <a:srgbClr val="5B6B82"/>
                </a:solidFill>
              </a:rPr>
              <a:t>ذ. أحمد بوعمود — مؤسسة الحنان الخاصة | ⁦2026-2027⁩</a:t>
            </a:r>
            <a:endParaRPr lang="en-US" sz="1100" dirty="0"/>
          </a:p>
        </p:txBody>
      </p:sp>
      <p:sp>
        <p:nvSpPr>
          <p:cNvPr id="5" name="Text 2"/>
          <p:cNvSpPr/>
          <p:nvPr>
            <p:ph idx="103" type="title" hasCustomPrompt="1"/>
          </p:nvPr>
        </p:nvSpPr>
        <p:spPr>
          <a:xfrm>
            <a:off x="1188720" y="109728"/>
            <a:ext cx="7589520" cy="731520"/>
          </a:xfrm>
          <a:prstGeom prst="rect">
            <a:avLst/>
          </a:prstGeom>
          <a:noFill/>
          <a:ln/>
        </p:spPr>
        <p:txBody>
          <a:bodyPr wrap="square" rtlCol="0"/>
          <a:lstStyle>
            <a:lvl1pPr rtl="1" algn="r" indent="0" marL="0">
              <a:buNone/>
              <a:defRPr lang="en-US" sz="3200" b="1" dirty="0">
                <a:solidFill>
                  <a:srgbClr val="FFFFFF"/>
                </a:solidFill>
              </a:defRPr>
            </a:lvl1pPr>
          </a:lstStyle>
          <a:p>
            <a:pPr algn="r" indent="0" marL="0">
              <a:buNone/>
            </a:pPr>
            <a:r>
              <a:rPr lang="en-US" sz="3200" b="1" dirty="0">
                <a:solidFill>
                  <a:srgbClr val="FFFFFF"/>
                </a:solidFill>
              </a:rPr>
              <a:t>عنوان الشريحة</a:t>
            </a:r>
            <a:endParaRPr lang="en-US" sz="3200" dirty="0"/>
          </a:p>
        </p:txBody>
      </p:sp>
      <p:sp>
        <p:nvSpPr>
          <p:cNvPr id="6" name="Text 2"/>
          <p:cNvSpPr/>
          <p:nvPr>
            <p:ph idx="104" type="body" hasCustomPrompt="1"/>
          </p:nvPr>
        </p:nvSpPr>
        <p:spPr>
          <a:xfrm>
            <a:off x="457200" y="1188720"/>
            <a:ext cx="8229600" cy="3474720"/>
          </a:xfrm>
          <a:prstGeom prst="rect">
            <a:avLst/>
          </a:prstGeom>
          <a:noFill/>
          <a:ln/>
        </p:spPr>
        <p:txBody>
          <a:bodyPr wrap="square" rtlCol="0"/>
          <a:lstStyle>
            <a:lvl1pPr rtl="1" algn="r" indent="0" marL="0">
              <a:spcAft>
                <a:spcPts val="800"/>
              </a:spcAft>
              <a:buNone/>
              <a:defRPr lang="en-US" sz="2600" dirty="0">
                <a:solidFill>
                  <a:srgbClr val="1B1B1B"/>
                </a:solidFill>
              </a:defRPr>
            </a:lvl1pPr>
          </a:lstStyle>
          <a:p>
            <a:pPr algn="r" indent="0" marL="0">
              <a:spcAft>
                <a:spcPts val="800"/>
              </a:spcAft>
              <a:buNone/>
            </a:pPr>
            <a:r>
              <a:rPr lang="en-US" sz="2600" dirty="0">
                <a:solidFill>
                  <a:srgbClr val="1B1B1B"/>
                </a:solidFill>
              </a:rPr>
              <a:t>نص الشرح</a:t>
            </a:r>
            <a:endParaRPr lang="en-US" sz="2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82"/>
                </a:solidFill>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أكتب في دفتري">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C9A24A"/>
          </a:solidFill>
          <a:ln/>
        </p:spPr>
      </p:sp>
      <p:sp>
        <p:nvSpPr>
          <p:cNvPr id="3" name="Shape 1"/>
          <p:cNvSpPr/>
          <p:nvPr/>
        </p:nvSpPr>
        <p:spPr>
          <a:xfrm>
            <a:off x="8458200" y="960120"/>
            <a:ext cx="0" cy="4183380"/>
          </a:xfrm>
          <a:prstGeom prst="line">
            <a:avLst/>
          </a:prstGeom>
          <a:noFill/>
          <a:ln w="19050">
            <a:solidFill>
              <a:srgbClr val="E8A0A0"/>
            </a:solidFill>
            <a:prstDash val="solid"/>
          </a:ln>
        </p:spPr>
      </p:sp>
      <p:sp>
        <p:nvSpPr>
          <p:cNvPr id="4" name="Shape 2"/>
          <p:cNvSpPr/>
          <p:nvPr/>
        </p:nvSpPr>
        <p:spPr>
          <a:xfrm>
            <a:off x="548640" y="1572768"/>
            <a:ext cx="8046720" cy="0"/>
          </a:xfrm>
          <a:prstGeom prst="line">
            <a:avLst/>
          </a:prstGeom>
          <a:noFill/>
          <a:ln w="12700">
            <a:solidFill>
              <a:srgbClr val="C9D6E8"/>
            </a:solidFill>
            <a:prstDash val="solid"/>
          </a:ln>
        </p:spPr>
      </p:sp>
      <p:sp>
        <p:nvSpPr>
          <p:cNvPr id="5" name="Shape 3"/>
          <p:cNvSpPr/>
          <p:nvPr/>
        </p:nvSpPr>
        <p:spPr>
          <a:xfrm>
            <a:off x="548640" y="1993392"/>
            <a:ext cx="8046720" cy="0"/>
          </a:xfrm>
          <a:prstGeom prst="line">
            <a:avLst/>
          </a:prstGeom>
          <a:noFill/>
          <a:ln w="12700">
            <a:solidFill>
              <a:srgbClr val="C9D6E8"/>
            </a:solidFill>
            <a:prstDash val="solid"/>
          </a:ln>
        </p:spPr>
      </p:sp>
      <p:sp>
        <p:nvSpPr>
          <p:cNvPr id="6" name="Shape 4"/>
          <p:cNvSpPr/>
          <p:nvPr/>
        </p:nvSpPr>
        <p:spPr>
          <a:xfrm>
            <a:off x="548640" y="2414016"/>
            <a:ext cx="8046720" cy="0"/>
          </a:xfrm>
          <a:prstGeom prst="line">
            <a:avLst/>
          </a:prstGeom>
          <a:noFill/>
          <a:ln w="12700">
            <a:solidFill>
              <a:srgbClr val="C9D6E8"/>
            </a:solidFill>
            <a:prstDash val="solid"/>
          </a:ln>
        </p:spPr>
      </p:sp>
      <p:sp>
        <p:nvSpPr>
          <p:cNvPr id="7" name="Shape 5"/>
          <p:cNvSpPr/>
          <p:nvPr/>
        </p:nvSpPr>
        <p:spPr>
          <a:xfrm>
            <a:off x="548640" y="2834640"/>
            <a:ext cx="8046720" cy="0"/>
          </a:xfrm>
          <a:prstGeom prst="line">
            <a:avLst/>
          </a:prstGeom>
          <a:noFill/>
          <a:ln w="12700">
            <a:solidFill>
              <a:srgbClr val="C9D6E8"/>
            </a:solidFill>
            <a:prstDash val="solid"/>
          </a:ln>
        </p:spPr>
      </p:sp>
      <p:sp>
        <p:nvSpPr>
          <p:cNvPr id="8" name="Shape 6"/>
          <p:cNvSpPr/>
          <p:nvPr/>
        </p:nvSpPr>
        <p:spPr>
          <a:xfrm>
            <a:off x="548640" y="3255264"/>
            <a:ext cx="8046720" cy="0"/>
          </a:xfrm>
          <a:prstGeom prst="line">
            <a:avLst/>
          </a:prstGeom>
          <a:noFill/>
          <a:ln w="12700">
            <a:solidFill>
              <a:srgbClr val="C9D6E8"/>
            </a:solidFill>
            <a:prstDash val="solid"/>
          </a:ln>
        </p:spPr>
      </p:sp>
      <p:sp>
        <p:nvSpPr>
          <p:cNvPr id="9" name="Shape 7"/>
          <p:cNvSpPr/>
          <p:nvPr/>
        </p:nvSpPr>
        <p:spPr>
          <a:xfrm>
            <a:off x="548640" y="3675888"/>
            <a:ext cx="8046720" cy="0"/>
          </a:xfrm>
          <a:prstGeom prst="line">
            <a:avLst/>
          </a:prstGeom>
          <a:noFill/>
          <a:ln w="12700">
            <a:solidFill>
              <a:srgbClr val="C9D6E8"/>
            </a:solidFill>
            <a:prstDash val="solid"/>
          </a:ln>
        </p:spPr>
      </p:sp>
      <p:sp>
        <p:nvSpPr>
          <p:cNvPr id="10" name="Shape 8"/>
          <p:cNvSpPr/>
          <p:nvPr/>
        </p:nvSpPr>
        <p:spPr>
          <a:xfrm>
            <a:off x="548640" y="4096512"/>
            <a:ext cx="8046720" cy="0"/>
          </a:xfrm>
          <a:prstGeom prst="line">
            <a:avLst/>
          </a:prstGeom>
          <a:noFill/>
          <a:ln w="12700">
            <a:solidFill>
              <a:srgbClr val="C9D6E8"/>
            </a:solidFill>
            <a:prstDash val="solid"/>
          </a:ln>
        </p:spPr>
      </p:sp>
      <p:sp>
        <p:nvSpPr>
          <p:cNvPr id="11" name="Shape 9"/>
          <p:cNvSpPr/>
          <p:nvPr/>
        </p:nvSpPr>
        <p:spPr>
          <a:xfrm>
            <a:off x="548640" y="4517136"/>
            <a:ext cx="8046720" cy="0"/>
          </a:xfrm>
          <a:prstGeom prst="line">
            <a:avLst/>
          </a:prstGeom>
          <a:noFill/>
          <a:ln w="12700">
            <a:solidFill>
              <a:srgbClr val="C9D6E8"/>
            </a:solidFill>
            <a:prstDash val="solid"/>
          </a:ln>
        </p:spPr>
      </p:sp>
      <p:pic>
        <p:nvPicPr>
          <p:cNvPr id="12" name="Image 0" descr="/tmp/claude-0/-home-claude/19570fe6-a11a-544f-81e5-5e225fe6dd19/scratchpad/ppt/icon.png">    </p:cNvPr>
          <p:cNvPicPr>
            <a:picLocks noChangeAspect="1"/>
          </p:cNvPicPr>
          <p:nvPr/>
        </p:nvPicPr>
        <p:blipFill>
          <a:blip r:embed="rId1"/>
          <a:stretch>
            <a:fillRect/>
          </a:stretch>
        </p:blipFill>
        <p:spPr>
          <a:xfrm>
            <a:off x="274320" y="109728"/>
            <a:ext cx="731520" cy="731520"/>
          </a:xfrm>
          <a:prstGeom prst="rect">
            <a:avLst/>
          </a:prstGeom>
        </p:spPr>
      </p:pic>
      <p:sp>
        <p:nvSpPr>
          <p:cNvPr id="13" name="Text 10"/>
          <p:cNvSpPr/>
          <p:nvPr/>
        </p:nvSpPr>
        <p:spPr>
          <a:xfrm>
            <a:off x="3200400" y="109728"/>
            <a:ext cx="5577840" cy="731520"/>
          </a:xfrm>
          <a:prstGeom prst="rect">
            <a:avLst/>
          </a:prstGeom>
          <a:noFill/>
          <a:ln/>
        </p:spPr>
        <p:txBody>
          <a:bodyPr wrap="square" lIns="0" tIns="0" rIns="0" bIns="0" rtlCol="0" anchor="ctr"/>
          <a:lstStyle/>
          <a:p>
            <a:pPr algn="r" indent="0" marL="0">
              <a:buNone/>
            </a:pPr>
            <a:r>
              <a:rPr lang="en-US" sz="3400" b="1" dirty="0">
                <a:solidFill>
                  <a:srgbClr val="0B2242"/>
                </a:solidFill>
              </a:rPr>
              <a:t>✍  أكتب في دفتري</a:t>
            </a:r>
            <a:endParaRPr lang="en-US" sz="3400" dirty="0"/>
          </a:p>
        </p:txBody>
      </p:sp>
      <p:sp>
        <p:nvSpPr>
          <p:cNvPr id="14" name="Text 11"/>
          <p:cNvSpPr/>
          <p:nvPr/>
        </p:nvSpPr>
        <p:spPr>
          <a:xfrm>
            <a:off x="365760" y="4754880"/>
            <a:ext cx="5943600" cy="274320"/>
          </a:xfrm>
          <a:prstGeom prst="rect">
            <a:avLst/>
          </a:prstGeom>
          <a:noFill/>
          <a:ln/>
        </p:spPr>
        <p:txBody>
          <a:bodyPr wrap="square" rtlCol="0" anchor="ctr"/>
          <a:lstStyle/>
          <a:p>
            <a:pPr algn="l" indent="0" marL="0">
              <a:buNone/>
            </a:pPr>
            <a:r>
              <a:rPr lang="en-US" sz="1100" dirty="0">
                <a:solidFill>
                  <a:srgbClr val="5B6B82"/>
                </a:solidFill>
              </a:rPr>
              <a:t>ذ. أحمد بوعمود — مؤسسة الحنان الخاصة | ⁦2026-2027⁩</a:t>
            </a:r>
            <a:endParaRPr lang="en-US" sz="1100" dirty="0"/>
          </a:p>
        </p:txBody>
      </p:sp>
      <p:sp>
        <p:nvSpPr>
          <p:cNvPr id="15" name="Text 12"/>
          <p:cNvSpPr/>
          <p:nvPr>
            <p:ph idx="113" type="body" hasCustomPrompt="1"/>
          </p:nvPr>
        </p:nvSpPr>
        <p:spPr>
          <a:xfrm>
            <a:off x="548640" y="1188720"/>
            <a:ext cx="7772400" cy="3520440"/>
          </a:xfrm>
          <a:prstGeom prst="rect">
            <a:avLst/>
          </a:prstGeom>
          <a:noFill/>
          <a:ln/>
        </p:spPr>
        <p:txBody>
          <a:bodyPr wrap="square" rtlCol="0"/>
          <a:lstStyle>
            <a:lvl1pPr rtl="1" algn="r" indent="0" marL="0">
              <a:lnSpc>
                <a:spcPct val="115000"/>
              </a:lnSpc>
              <a:buNone/>
              <a:defRPr lang="en-US" sz="2600" dirty="0">
                <a:solidFill>
                  <a:srgbClr val="0B2242"/>
                </a:solidFill>
              </a:defRPr>
            </a:lvl1pPr>
          </a:lstStyle>
          <a:p>
            <a:pPr algn="r" indent="0" marL="0">
              <a:lnSpc>
                <a:spcPct val="115000"/>
              </a:lnSpc>
              <a:buNone/>
            </a:pPr>
            <a:r>
              <a:rPr lang="en-US" sz="2600" dirty="0">
                <a:solidFill>
                  <a:srgbClr val="0B2242"/>
                </a:solidFill>
              </a:rPr>
              <a:t>الفقرة المنقولة من الدرس كما هي</a:t>
            </a:r>
            <a:endParaRPr lang="en-US" sz="26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ختام">
    <p:bg>
      <p:bgPr>
        <a:solidFill>
          <a:srgbClr val="0B2242"/>
        </a:solidFill>
      </p:bgPr>
    </p:bg>
    <p:spTree>
      <p:nvGrpSpPr>
        <p:cNvPr id="1" name=""/>
        <p:cNvGrpSpPr/>
        <p:nvPr/>
      </p:nvGrpSpPr>
      <p:grpSpPr>
        <a:xfrm>
          <a:off x="0" y="0"/>
          <a:ext cx="0" cy="0"/>
          <a:chOff x="0" y="0"/>
          <a:chExt cx="0" cy="0"/>
        </a:xfrm>
      </p:grpSpPr>
      <p:pic>
        <p:nvPicPr>
          <p:cNvPr id="2" name="Image 0" descr="/tmp/claude-0/-home-claude/19570fe6-a11a-544f-81e5-5e225fe6dd19/scratchpad/ppt/logo-light.png">    </p:cNvPr>
          <p:cNvPicPr>
            <a:picLocks noChangeAspect="1"/>
          </p:cNvPicPr>
          <p:nvPr/>
        </p:nvPicPr>
        <p:blipFill>
          <a:blip r:embed="rId1"/>
          <a:stretch>
            <a:fillRect/>
          </a:stretch>
        </p:blipFill>
        <p:spPr>
          <a:xfrm>
            <a:off x="3337560" y="411480"/>
            <a:ext cx="2468880" cy="2468880"/>
          </a:xfrm>
          <a:prstGeom prst="rect">
            <a:avLst/>
          </a:prstGeom>
        </p:spPr>
      </p:pic>
      <p:sp>
        <p:nvSpPr>
          <p:cNvPr id="3" name="Text 0"/>
          <p:cNvSpPr/>
          <p:nvPr/>
        </p:nvSpPr>
        <p:spPr>
          <a:xfrm>
            <a:off x="914400" y="4434840"/>
            <a:ext cx="7315200" cy="365760"/>
          </a:xfrm>
          <a:prstGeom prst="rect">
            <a:avLst/>
          </a:prstGeom>
          <a:noFill/>
          <a:ln/>
        </p:spPr>
        <p:txBody>
          <a:bodyPr wrap="square" rtlCol="0" anchor="ctr"/>
          <a:lstStyle/>
          <a:p>
            <a:pPr algn="ctr" indent="0" marL="0">
              <a:buNone/>
            </a:pPr>
            <a:r>
              <a:rPr lang="en-US" sz="1400" dirty="0">
                <a:solidFill>
                  <a:srgbClr val="C9A24A"/>
                </a:solidFill>
              </a:rPr>
              <a:t>ذ. أحمد بوعمود — مؤسسة الحنان الخاصة | ⁦2026-2027⁩</a:t>
            </a:r>
            <a:endParaRPr lang="en-US" sz="1400" dirty="0"/>
          </a:p>
        </p:txBody>
      </p:sp>
      <p:sp>
        <p:nvSpPr>
          <p:cNvPr id="4" name="Text 1"/>
          <p:cNvSpPr/>
          <p:nvPr>
            <p:ph idx="102" type="title" hasCustomPrompt="1"/>
          </p:nvPr>
        </p:nvSpPr>
        <p:spPr>
          <a:xfrm>
            <a:off x="914400" y="3017520"/>
            <a:ext cx="7315200" cy="914400"/>
          </a:xfrm>
          <a:prstGeom prst="rect">
            <a:avLst/>
          </a:prstGeom>
          <a:noFill/>
          <a:ln/>
        </p:spPr>
        <p:txBody>
          <a:bodyPr wrap="square" rtlCol="0"/>
          <a:lstStyle>
            <a:lvl1pPr rtl="1" algn="ctr" indent="0" marL="0">
              <a:buNone/>
              <a:defRPr lang="en-US" sz="4000" b="1" dirty="0">
                <a:solidFill>
                  <a:srgbClr val="FFFFFF"/>
                </a:solidFill>
              </a:defRPr>
            </a:lvl1pPr>
          </a:lstStyle>
          <a:p>
            <a:pPr algn="ctr" indent="0" marL="0">
              <a:buNone/>
            </a:pPr>
            <a:r>
              <a:rPr lang="en-US" sz="4000" b="1" dirty="0">
                <a:solidFill>
                  <a:srgbClr val="FFFFFF"/>
                </a:solidFill>
              </a:rPr>
              <a:t>شكراً لانتباهكم</a:t>
            </a: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82"/>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wrap="square"/>
          <a:lstStyle/>
          <a:p>
            <a:pPr rtl="1" algn="r">
              <a:buNone/>
              <a:spcAft>
                <a:spcPts val="600"/>
              </a:spcAft>
            </a:pPr>
            <a:r>
              <a:rPr sz="2000" b="0" lang="ar-MA">
                <a:latin typeface="Cairo"/>
                <a:cs typeface="Cairo"/>
              </a:rPr>
              <a:t>الأولى باكالوريا | التاريخ</a:t>
            </a:r>
          </a:p>
        </p:txBody>
      </p:sp>
      <p:sp>
        <p:nvSpPr>
          <p:cNvPr id="3" name="Title 2"/>
          <p:cNvSpPr>
            <a:spLocks noGrp="1"/>
          </p:cNvSpPr>
          <p:nvPr>
            <p:ph type="title" idx="104"/>
          </p:nvPr>
        </p:nvSpPr>
        <p:spPr/>
        <p:txBody>
          <a:bodyPr wrap="square"/>
          <a:lstStyle/>
          <a:p>
            <a:pPr rtl="1" algn="r">
              <a:buNone/>
              <a:spcAft>
                <a:spcPts val="600"/>
              </a:spcAft>
            </a:pPr>
            <a:r>
              <a:rPr sz="2600" b="0" lang="ar-MA">
                <a:latin typeface="Cairo"/>
                <a:cs typeface="Cairo"/>
              </a:rPr>
              <a:t>التحولات الكبرى بالعالم الرأسمالي وانعكاساتها خلال القرنين 19 و20م</a:t>
            </a:r>
          </a:p>
        </p:txBody>
      </p:sp>
      <p:sp>
        <p:nvSpPr>
          <p:cNvPr id="4" name="Text Placeholder 3"/>
          <p:cNvSpPr>
            <a:spLocks noGrp="1"/>
          </p:cNvSpPr>
          <p:nvPr>
            <p:ph type="body" idx="105"/>
          </p:nvPr>
        </p:nvSpPr>
        <p:spPr/>
        <p:txBody>
          <a:bodyPr wrap="square"/>
          <a:lstStyle/>
          <a:p>
            <a:pPr rtl="1" algn="r">
              <a:buNone/>
              <a:spcAft>
                <a:spcPts val="600"/>
              </a:spcAft>
            </a:pPr>
            <a:r>
              <a:rPr sz="1400" b="0" lang="ar-MA">
                <a:latin typeface="Cairo"/>
                <a:cs typeface="Cairo"/>
              </a:rPr>
              <a:t>الإشكالية: ما مظاهر التحولات الكبرى التي عرفها العالم الرأسمالي خلال القرنين 19 و20م؟ وما العوامل التي فسّرت ترابطها وتسارعها؟ وما أهمّ انعكاساتها على موازين القوى الدولية وعلى باقي مناطق العالم، وخاصة المشرق العربي والمغرب؟</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مقدمة</a:t>
            </a:r>
          </a:p>
        </p:txBody>
      </p:sp>
      <p:sp>
        <p:nvSpPr>
          <p:cNvPr id="3" name="Text Placeholder 2"/>
          <p:cNvSpPr>
            <a:spLocks noGrp="1"/>
          </p:cNvSpPr>
          <p:nvPr>
            <p:ph type="body" idx="104"/>
          </p:nvPr>
        </p:nvSpPr>
        <p:spPr/>
        <p:txBody>
          <a:bodyPr wrap="square"/>
          <a:lstStyle/>
          <a:p>
            <a:pPr rtl="1" algn="r">
              <a:buNone/>
              <a:spcAft>
                <a:spcPts val="600"/>
              </a:spcAft>
            </a:pPr>
            <a:r>
              <a:rPr sz="2600" b="0" lang="ar-MA">
                <a:latin typeface="Cairo"/>
                <a:cs typeface="Cairo"/>
              </a:rPr>
              <a:t>شهدت أوروبا الغربية منذ منتصف القرن الثامن عشر ثورةً صناعية غيّرت جذريًا وسائل الإنتاج ومصادر الطاقة وطرق المواصلات وحركة رؤوس الأموال. وسرعان ما امتدت آثار هذه الثورة إلى مختلف الميادين، فرسّخت النظام الرأسمالي، ووسّعت نفوذ القوى الصناعية، وأشعلت التنافس الإمبريالي على المواد الأولية والأسواق.</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مقدمة (تابع)</a:t>
            </a:r>
          </a:p>
        </p:txBody>
      </p:sp>
      <p:sp>
        <p:nvSpPr>
          <p:cNvPr id="3" name="Text Placeholder 2"/>
          <p:cNvSpPr>
            <a:spLocks noGrp="1"/>
          </p:cNvSpPr>
          <p:nvPr>
            <p:ph type="body" idx="104"/>
          </p:nvPr>
        </p:nvSpPr>
        <p:spPr/>
        <p:txBody>
          <a:bodyPr wrap="square"/>
          <a:lstStyle/>
          <a:p>
            <a:pPr rtl="1" algn="r">
              <a:buNone/>
              <a:spcAft>
                <a:spcPts val="600"/>
              </a:spcAft>
            </a:pPr>
            <a:r>
              <a:rPr sz="2600" b="0" lang="ar-MA">
                <a:latin typeface="Cairo"/>
                <a:cs typeface="Cairo"/>
              </a:rPr>
              <a:t>وهكذا ترتبت عن التحولات الاقتصادية تغيّرات اجتماعية وسياسية وفكرية عميقة، جعلت من القرنين 19 و20م حقبةً حاسمة في تاريخ العالم، لا في مراكز الرأسمالية وحدها، بل في مناطق واسعة خضعت للهيمنة أو ناضلت من أجل التحرر، ومنها المشرق العربي والمغرب.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400" b="1" lang="ar-MA">
                <a:solidFill>
                  <a:srgbClr val="0B2242"/>
                </a:solidFill>
                <a:latin typeface="Cairo"/>
                <a:cs typeface="Cairo"/>
              </a:rPr>
              <a:t>المقدمة:</a:t>
            </a:r>
          </a:p>
          <a:p>
            <a:pPr rtl="1" algn="r">
              <a:buNone/>
              <a:spcAft>
                <a:spcPts val="600"/>
              </a:spcAft>
            </a:pPr>
            <a:r>
              <a:rPr sz="2400" b="0" lang="ar-MA">
                <a:latin typeface="Cairo"/>
                <a:cs typeface="Cairo"/>
              </a:rPr>
              <a:t>أحدثت الثورة الصناعية، التي انطلقت من أوروبا الغربية، تحولات عميقة في وسائل الإنتاج وطرق المواصلات وحركة رؤوس الأموال. وأسهمت هذه التحولات في ترسيخ النظام الرأسمالي، وتوسيع نفوذ القوى الصناعية، واشتداد التنافس الإمبريالي، فترتبت عنها تغيرات اقتصادية واجتماعية وسياسية وفكرية أثرت بعمق في تاريخ العالم خلال القرنين 19 و20م.</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الإشكالية المركزية: ما مظاهر التحولات الكبرى التي عرفها العالم الرأسمالي خلال القرنين 19 و20م؟ وما أهم انعكاساتها على باقي مناطق العالم، وخاصة المشرق العربي والمغرب؟</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wrap="square"/>
          <a:lstStyle/>
          <a:p>
            <a:pPr rtl="1" algn="r">
              <a:buNone/>
              <a:spcAft>
                <a:spcPts val="600"/>
              </a:spcAft>
            </a:pPr>
            <a:r>
              <a:rPr sz="9600" b="0" lang="ar-MA">
                <a:latin typeface="Cairo"/>
                <a:cs typeface="Cairo"/>
              </a:rPr>
              <a:t>1</a:t>
            </a:r>
          </a:p>
        </p:txBody>
      </p:sp>
      <p:sp>
        <p:nvSpPr>
          <p:cNvPr id="3" name="Title 2"/>
          <p:cNvSpPr>
            <a:spLocks noGrp="1"/>
          </p:cNvSpPr>
          <p:nvPr>
            <p:ph type="title" idx="102"/>
          </p:nvPr>
        </p:nvSpPr>
        <p:spPr/>
        <p:txBody>
          <a:bodyPr wrap="square"/>
          <a:lstStyle/>
          <a:p>
            <a:pPr rtl="1" algn="r">
              <a:buNone/>
              <a:spcAft>
                <a:spcPts val="600"/>
              </a:spcAft>
            </a:pPr>
            <a:r>
              <a:rPr sz="3600" b="0" lang="ar-MA">
                <a:latin typeface="Cairo"/>
                <a:cs typeface="Cairo"/>
              </a:rPr>
              <a:t>المحور الأول: الإطار الزمني لموضوع البرنامج</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موقع «التقديم العام» من مقرر السنة</a:t>
            </a:r>
          </a:p>
        </p:txBody>
      </p:sp>
      <p:sp>
        <p:nvSpPr>
          <p:cNvPr id="3" name="Text Placeholder 2"/>
          <p:cNvSpPr>
            <a:spLocks noGrp="1"/>
          </p:cNvSpPr>
          <p:nvPr>
            <p:ph type="body" idx="104"/>
          </p:nvPr>
        </p:nvSpPr>
        <p:spPr/>
        <p:txBody>
          <a:bodyPr wrap="square"/>
          <a:lstStyle/>
          <a:p>
            <a:pPr rtl="1" algn="r">
              <a:buNone/>
              <a:spcAft>
                <a:spcPts val="600"/>
              </a:spcAft>
            </a:pPr>
            <a:r>
              <a:rPr sz="2600" b="0" lang="ar-MA">
                <a:latin typeface="Cairo"/>
                <a:cs typeface="Cairo"/>
              </a:rPr>
              <a:t>درس «التحولات الكبرى» ليس درسًا عاديًا في المقرر، بل هو مفتاحٌ يؤطّر السنة الدراسية كلها ويربط دروسها في نسقٍ واحد. فهو يرسم الخريطة الزمنية والمكانية الكبرى التي ستتحرك داخلها باقي الدروس: من الثورة الصناعية والتحولات الاقتصادية، إلى التنافس الإمبريالي والحربين العالميتين والأزمة الاقتصادية، وصولًا إلى حركات التحرر ونضال المغرب من أجل الاستقلال.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موقع «التقديم العام» من مقرر السنة (تابع)</a:t>
            </a:r>
          </a:p>
        </p:txBody>
      </p:sp>
      <p:sp>
        <p:nvSpPr>
          <p:cNvPr id="3" name="Text Placeholder 2"/>
          <p:cNvSpPr>
            <a:spLocks noGrp="1"/>
          </p:cNvSpPr>
          <p:nvPr>
            <p:ph type="body" idx="104"/>
          </p:nvPr>
        </p:nvSpPr>
        <p:spPr/>
        <p:txBody>
          <a:bodyPr wrap="square"/>
          <a:lstStyle/>
          <a:p>
            <a:pPr rtl="1" algn="r">
              <a:buNone/>
              <a:spcAft>
                <a:spcPts val="600"/>
              </a:spcAft>
            </a:pPr>
            <a:r>
              <a:rPr sz="2600" b="0" lang="ar-MA">
                <a:latin typeface="Cairo"/>
                <a:cs typeface="Cairo"/>
              </a:rPr>
              <a:t>الهدف من هذا التقديم هو أن يمتلك التلميذ «الصورة الكبرى» قبل الدخول في التفاصيل؛ فيدرك أن أحداث القرنين 19 و20م ليست وقائع منفصلة، بل حلقاتٌ مترابطة يفسّر بعضها بعضًا. وبهذا المعنى فإنّ فهم هذا الدرس جيدًا يسهّل استيعاب كل ما بعده، ويجعل التلميذ قادرًا على تحديد موقع كل درس داخل السياق العام.</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الإطار الزمني لموضوع البرنامج</a:t>
            </a:r>
          </a:p>
        </p:txBody>
      </p:sp>
      <p:sp>
        <p:nvSpPr>
          <p:cNvPr id="3" name="Text Placeholder 2"/>
          <p:cNvSpPr>
            <a:spLocks noGrp="1"/>
          </p:cNvSpPr>
          <p:nvPr>
            <p:ph type="body" idx="104"/>
          </p:nvPr>
        </p:nvSpPr>
        <p:spPr/>
        <p:txBody>
          <a:bodyPr wrap="square"/>
          <a:lstStyle/>
          <a:p>
            <a:pPr rtl="1" algn="r">
              <a:buNone/>
              <a:spcAft>
                <a:spcPts val="600"/>
              </a:spcAft>
            </a:pPr>
            <a:r>
              <a:rPr sz="2400" b="1" lang="ar-MA">
                <a:solidFill>
                  <a:srgbClr val="0B2242"/>
                </a:solidFill>
                <a:latin typeface="Cairo"/>
                <a:cs typeface="Cairo"/>
              </a:rPr>
              <a:t>• منتصف ق18 – ق19م — الثورة الصناعية:</a:t>
            </a:r>
            <a:r>
              <a:rPr sz="2400" b="0" lang="ar-MA">
                <a:latin typeface="Cairo"/>
                <a:cs typeface="Cairo"/>
              </a:rPr>
              <a:t> الانتقال من الإنتاج الحرفي اليدوي إلى الإنتاج الآلي المصنعي، وظهور مصادر طاقة جديدة (الفحم ثم الكهرباء والبترول)، وتطور النقل (السكك الحديدية، البواخر) واتساع حركة رؤوس الأموال.</a:t>
            </a:r>
          </a:p>
          <a:p>
            <a:pPr rtl="1" algn="r">
              <a:buNone/>
              <a:spcAft>
                <a:spcPts val="600"/>
              </a:spcAft>
            </a:pPr>
            <a:r>
              <a:rPr sz="2400" b="1" lang="ar-MA">
                <a:solidFill>
                  <a:srgbClr val="0B2242"/>
                </a:solidFill>
                <a:latin typeface="Cairo"/>
                <a:cs typeface="Cairo"/>
              </a:rPr>
              <a:t>• أواخر ق19م — التوسع الإمبريالي:</a:t>
            </a:r>
            <a:r>
              <a:rPr sz="2400" b="0" lang="ar-MA">
                <a:latin typeface="Cairo"/>
                <a:cs typeface="Cairo"/>
              </a:rPr>
              <a:t> اشتداد التنافس بين القوى الصناعية للسيطرة على المواد الأولية والأسواق ومجالات الاستثمار، وتقاسم إفريقيا وآسيا (مؤتمر برلين 1884–1885م).</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الإطار الزمني لموضوع البرنامج (تابع)</a:t>
            </a:r>
          </a:p>
        </p:txBody>
      </p:sp>
      <p:sp>
        <p:nvSpPr>
          <p:cNvPr id="3" name="Text Placeholder 2"/>
          <p:cNvSpPr>
            <a:spLocks noGrp="1"/>
          </p:cNvSpPr>
          <p:nvPr>
            <p:ph type="body" idx="104"/>
          </p:nvPr>
        </p:nvSpPr>
        <p:spPr/>
        <p:txBody>
          <a:bodyPr wrap="square"/>
          <a:lstStyle/>
          <a:p>
            <a:pPr rtl="1" algn="r">
              <a:buNone/>
              <a:spcAft>
                <a:spcPts val="600"/>
              </a:spcAft>
            </a:pPr>
            <a:r>
              <a:rPr sz="2600" b="1" lang="ar-MA">
                <a:solidFill>
                  <a:srgbClr val="0B2242"/>
                </a:solidFill>
                <a:latin typeface="Cairo"/>
                <a:cs typeface="Cairo"/>
              </a:rPr>
              <a:t>• 1914 – 1918م — الحرب العالمية الأولى:</a:t>
            </a:r>
            <a:r>
              <a:rPr sz="2600" b="0" lang="ar-MA">
                <a:latin typeface="Cairo"/>
                <a:cs typeface="Cairo"/>
              </a:rPr>
              <a:t> انفجار التنافس الإمبريالي عبر سياسة التحالفات وسباق التسلح، في صراعٍ عالمي مدمّر أعاد رسم خريطة أوروبا والعالم.</a:t>
            </a:r>
          </a:p>
          <a:p>
            <a:pPr rtl="1" algn="r">
              <a:buNone/>
              <a:spcAft>
                <a:spcPts val="600"/>
              </a:spcAft>
            </a:pPr>
            <a:r>
              <a:rPr sz="2600" b="1" lang="ar-MA">
                <a:solidFill>
                  <a:srgbClr val="0B2242"/>
                </a:solidFill>
                <a:latin typeface="Cairo"/>
                <a:cs typeface="Cairo"/>
              </a:rPr>
              <a:t>• 1929م — الأزمة الاقتصادية العالمية:</a:t>
            </a:r>
            <a:r>
              <a:rPr sz="2600" b="0" lang="ar-MA">
                <a:latin typeface="Cairo"/>
                <a:cs typeface="Cairo"/>
              </a:rPr>
              <a:t> انهيار مالي واقتصادي انطلق من بورصة نيويورك وعمّ العالم الرأسمالي، فأضعف الدول الرأسمالية وعمّق التوترات الاجتماعية وصعود الأنظمة الشمولية.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الإطار الزمني لموضوع البرنامج (تابع)</a:t>
            </a:r>
          </a:p>
        </p:txBody>
      </p:sp>
      <p:sp>
        <p:nvSpPr>
          <p:cNvPr id="3" name="Text Placeholder 2"/>
          <p:cNvSpPr>
            <a:spLocks noGrp="1"/>
          </p:cNvSpPr>
          <p:nvPr>
            <p:ph type="body" idx="104"/>
          </p:nvPr>
        </p:nvSpPr>
        <p:spPr/>
        <p:txBody>
          <a:bodyPr wrap="square"/>
          <a:lstStyle/>
          <a:p>
            <a:pPr rtl="1" algn="r">
              <a:buNone/>
              <a:spcAft>
                <a:spcPts val="600"/>
              </a:spcAft>
            </a:pPr>
            <a:r>
              <a:rPr sz="2600" b="1" lang="ar-MA">
                <a:solidFill>
                  <a:srgbClr val="0B2242"/>
                </a:solidFill>
                <a:latin typeface="Cairo"/>
                <a:cs typeface="Cairo"/>
              </a:rPr>
              <a:t>• 1939 – 1945م — الحرب العالمية الثانية:</a:t>
            </a:r>
            <a:r>
              <a:rPr sz="2600" b="0" lang="ar-MA">
                <a:latin typeface="Cairo"/>
                <a:cs typeface="Cairo"/>
              </a:rPr>
              <a:t> أعنف صراع في التاريخ، أفضى إلى انهيار القوى الأوروبية التقليدية وصعود الولايات المتحدة والاتحاد السوفياتي كقوتين عظميين.</a:t>
            </a:r>
          </a:p>
          <a:p>
            <a:pPr rtl="1" algn="r">
              <a:buNone/>
              <a:spcAft>
                <a:spcPts val="600"/>
              </a:spcAft>
            </a:pPr>
            <a:r>
              <a:rPr sz="2600" b="1" lang="ar-MA">
                <a:solidFill>
                  <a:srgbClr val="0B2242"/>
                </a:solidFill>
                <a:latin typeface="Cairo"/>
                <a:cs typeface="Cairo"/>
              </a:rPr>
              <a:t>• 1945 – 1991م — الثنائية القطبية وحركات التحرر:</a:t>
            </a:r>
            <a:r>
              <a:rPr sz="2600" b="0" lang="ar-MA">
                <a:latin typeface="Cairo"/>
                <a:cs typeface="Cairo"/>
              </a:rPr>
              <a:t> انقسام العالم إلى معسكرين (غربي رأسمالي وشرقي اشتراكي) في إطار «الحرب الباردة»، وتنامي نضال الشعوب المستعمَرة من أجل الاستقلال وبناء الدولة الوطنية.</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الإطار الزمني لموضوع البرنامج (تابع)</a:t>
            </a:r>
          </a:p>
        </p:txBody>
      </p:sp>
      <p:sp>
        <p:nvSpPr>
          <p:cNvPr id="3" name="Text Placeholder 2"/>
          <p:cNvSpPr>
            <a:spLocks noGrp="1"/>
          </p:cNvSpPr>
          <p:nvPr>
            <p:ph type="body" idx="104"/>
          </p:nvPr>
        </p:nvSpPr>
        <p:spPr/>
        <p:txBody>
          <a:bodyPr wrap="square"/>
          <a:lstStyle/>
          <a:p>
            <a:pPr rtl="1" algn="r">
              <a:buNone/>
              <a:spcAft>
                <a:spcPts val="600"/>
              </a:spcAft>
            </a:pPr>
            <a:r>
              <a:rPr sz="2600" b="1" lang="ar-MA">
                <a:solidFill>
                  <a:srgbClr val="0B2242"/>
                </a:solidFill>
                <a:latin typeface="Cairo"/>
                <a:cs typeface="Cairo"/>
              </a:rPr>
              <a:t>• ملاحظة منهجية:</a:t>
            </a:r>
            <a:r>
              <a:rPr sz="2600" b="0" lang="ar-MA">
                <a:latin typeface="Cairo"/>
                <a:cs typeface="Cairo"/>
              </a:rPr>
              <a:t> لا ينبغي النظر إلى هذه الأحداث باعتبارها وقائع منفصلة، بل حلقاتٍ مترابطة: التصنيع قوّى الرأسمالية، والرأسمالية غذّت الإمبريالية، والتنافس الإمبريالي مهّد للحروب والأزمات، ثم ولّدت هذه الأخيرة مقاومات وحركات تحرر. هذا الترابط السببي هو مفتاح قراءة المقرر كله.</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400" b="1" lang="ar-MA">
                <a:solidFill>
                  <a:srgbClr val="0B2242"/>
                </a:solidFill>
                <a:latin typeface="Cairo"/>
                <a:cs typeface="Cairo"/>
              </a:rPr>
              <a:t>1- الإطار الزمني لموضوع البرنامج</a:t>
            </a:r>
          </a:p>
          <a:p>
            <a:pPr rtl="1" algn="r">
              <a:buNone/>
              <a:spcAft>
                <a:spcPts val="600"/>
              </a:spcAft>
            </a:pPr>
            <a:r>
              <a:rPr sz="2400" b="0" lang="ar-MA">
                <a:latin typeface="Cairo"/>
                <a:cs typeface="Cairo"/>
              </a:rPr>
              <a:t>يمتد موضوع البرنامج عبر القرنين 19 و20م، وهي فترة اتسمت بتسارع الأحداث وترابطها؛ إذ أدى التصنيع إلى نمو الرأسمالية، وأفضى البحث عن المواد الأولية والأسواق إلى التوسع الإمبريالي، ثم تحولت المنافسة بين القوى الكبرى إلى صراعات وحروب عالمية، قبل أن يشهد العالم موجة واسعة من حركات التحرر والاستقلال.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a:xfrm>
            <a:off x="548640" y="1188720"/>
            <a:ext cx="7772400" cy="502920"/>
          </a:xfrm>
        </p:spPr>
        <p:txBody>
          <a:bodyPr wrap="square"/>
          <a:lstStyle/>
          <a:p>
            <a:pPr rtl="1" algn="r">
              <a:buNone/>
              <a:spcAft>
                <a:spcPts val="600"/>
              </a:spcAft>
            </a:pPr>
            <a:r>
              <a:rPr sz="2200" b="1" lang="ar-MA">
                <a:solidFill>
                  <a:srgbClr val="0B2242"/>
                </a:solidFill>
                <a:latin typeface="Cairo"/>
                <a:cs typeface="Cairo"/>
              </a:rPr>
              <a:t>1- الإطار الزمني لموضوع البرنامج</a:t>
            </a:r>
          </a:p>
        </p:txBody>
      </p:sp>
      <p:graphicFrame>
        <p:nvGraphicFramePr>
          <p:cNvPr id="3" name="Table 2"/>
          <p:cNvGraphicFramePr>
            <a:graphicFrameLocks noGrp="1"/>
          </p:cNvGraphicFramePr>
          <p:nvPr/>
        </p:nvGraphicFramePr>
        <p:xfrm>
          <a:off x="548640" y="1737360"/>
          <a:ext cx="7772400" cy="1828800"/>
        </p:xfrm>
        <a:graphic>
          <a:graphicData uri="http://schemas.openxmlformats.org/drawingml/2006/table">
            <a:tbl>
              <a:tblPr firstRow="1" bandRow="1" rtl="1">
                <a:tableStyleId>{5C22544A-7EE6-4342-B048-85BDC9FD1C3A}</a:tableStyleId>
              </a:tblPr>
              <a:tblGrid>
                <a:gridCol w="1865376"/>
                <a:gridCol w="2020824"/>
                <a:gridCol w="3886200"/>
              </a:tblGrid>
              <a:tr h="457200">
                <a:tc>
                  <a:txBody>
                    <a:bodyPr/>
                    <a:lstStyle/>
                    <a:p>
                      <a:pPr rtl="1" algn="ctr"/>
                      <a:r>
                        <a:rPr sz="2000" b="1" lang="ar-MA">
                          <a:solidFill>
                            <a:srgbClr val="FFFFFF"/>
                          </a:solidFill>
                          <a:latin typeface="Cairo"/>
                          <a:cs typeface="Cairo"/>
                        </a:rPr>
                        <a:t>الفترة</a:t>
                      </a:r>
                    </a:p>
                  </a:txBody>
                  <a:tcPr>
                    <a:solidFill>
                      <a:srgbClr val="0B2242"/>
                    </a:solidFill>
                  </a:tcPr>
                </a:tc>
                <a:tc>
                  <a:txBody>
                    <a:bodyPr/>
                    <a:lstStyle/>
                    <a:p>
                      <a:pPr rtl="1" algn="ctr"/>
                      <a:r>
                        <a:rPr sz="2000" b="1" lang="ar-MA">
                          <a:solidFill>
                            <a:srgbClr val="FFFFFF"/>
                          </a:solidFill>
                          <a:latin typeface="Cairo"/>
                          <a:cs typeface="Cairo"/>
                        </a:rPr>
                        <a:t>الحدث أو التحول</a:t>
                      </a:r>
                    </a:p>
                  </a:txBody>
                  <a:tcPr>
                    <a:solidFill>
                      <a:srgbClr val="0B2242"/>
                    </a:solidFill>
                  </a:tcPr>
                </a:tc>
                <a:tc>
                  <a:txBody>
                    <a:bodyPr/>
                    <a:lstStyle/>
                    <a:p>
                      <a:pPr rtl="1" algn="ctr"/>
                      <a:r>
                        <a:rPr sz="2000" b="1" lang="ar-MA">
                          <a:solidFill>
                            <a:srgbClr val="FFFFFF"/>
                          </a:solidFill>
                          <a:latin typeface="Cairo"/>
                          <a:cs typeface="Cairo"/>
                        </a:rPr>
                        <a:t>الدلالة التاريخية</a:t>
                      </a:r>
                    </a:p>
                  </a:txBody>
                  <a:tcPr>
                    <a:solidFill>
                      <a:srgbClr val="0B2242"/>
                    </a:solidFill>
                  </a:tcPr>
                </a:tc>
              </a:tr>
              <a:tr h="457200">
                <a:tc>
                  <a:txBody>
                    <a:bodyPr/>
                    <a:lstStyle/>
                    <a:p>
                      <a:pPr rtl="1" algn="r"/>
                      <a:r>
                        <a:rPr sz="2000" b="1" lang="ar-MA">
                          <a:solidFill>
                            <a:srgbClr val="0B2242"/>
                          </a:solidFill>
                          <a:latin typeface="Cairo"/>
                          <a:cs typeface="Cairo"/>
                        </a:rPr>
                        <a:t>القرن 19م</a:t>
                      </a:r>
                    </a:p>
                  </a:txBody>
                  <a:tcPr anchor="ctr">
                    <a:solidFill>
                      <a:srgbClr val="FFFDF6"/>
                    </a:solidFill>
                  </a:tcPr>
                </a:tc>
                <a:tc>
                  <a:txBody>
                    <a:bodyPr/>
                    <a:lstStyle/>
                    <a:p>
                      <a:pPr rtl="1" algn="r"/>
                      <a:r>
                        <a:rPr sz="2000" b="0" lang="ar-MA">
                          <a:solidFill>
                            <a:srgbClr val="222222"/>
                          </a:solidFill>
                          <a:latin typeface="Cairo"/>
                          <a:cs typeface="Cairo"/>
                        </a:rPr>
                        <a:t>الثورة الصناعية</a:t>
                      </a:r>
                    </a:p>
                  </a:txBody>
                  <a:tcPr anchor="ctr">
                    <a:solidFill>
                      <a:srgbClr val="FFFDF6"/>
                    </a:solidFill>
                  </a:tcPr>
                </a:tc>
                <a:tc>
                  <a:txBody>
                    <a:bodyPr/>
                    <a:lstStyle/>
                    <a:p>
                      <a:pPr rtl="1" algn="r"/>
                      <a:r>
                        <a:rPr sz="2000" b="0" lang="ar-MA">
                          <a:solidFill>
                            <a:srgbClr val="222222"/>
                          </a:solidFill>
                          <a:latin typeface="Cairo"/>
                          <a:cs typeface="Cairo"/>
                        </a:rPr>
                        <a:t>تحول وسائل الإنتاج، ونمو المصانع، وتطور النقل والمواصلات، واتساع حركة رؤوس الأموال.</a:t>
                      </a:r>
                    </a:p>
                  </a:txBody>
                  <a:tcPr anchor="ctr">
                    <a:solidFill>
                      <a:srgbClr val="FFFDF6"/>
                    </a:solidFill>
                  </a:tcPr>
                </a:tc>
              </a:tr>
              <a:tr h="457200">
                <a:tc>
                  <a:txBody>
                    <a:bodyPr/>
                    <a:lstStyle/>
                    <a:p>
                      <a:pPr rtl="1" algn="r"/>
                      <a:r>
                        <a:rPr sz="2000" b="1" lang="ar-MA">
                          <a:solidFill>
                            <a:srgbClr val="0B2242"/>
                          </a:solidFill>
                          <a:latin typeface="Cairo"/>
                          <a:cs typeface="Cairo"/>
                        </a:rPr>
                        <a:t>أواخر القرن 19م</a:t>
                      </a:r>
                    </a:p>
                  </a:txBody>
                  <a:tcPr anchor="ctr">
                    <a:solidFill>
                      <a:srgbClr val="F6EED8"/>
                    </a:solidFill>
                  </a:tcPr>
                </a:tc>
                <a:tc>
                  <a:txBody>
                    <a:bodyPr/>
                    <a:lstStyle/>
                    <a:p>
                      <a:pPr rtl="1" algn="r"/>
                      <a:r>
                        <a:rPr sz="2000" b="0" lang="ar-MA">
                          <a:solidFill>
                            <a:srgbClr val="222222"/>
                          </a:solidFill>
                          <a:latin typeface="Cairo"/>
                          <a:cs typeface="Cairo"/>
                        </a:rPr>
                        <a:t>التوسع الإمبريالي</a:t>
                      </a:r>
                    </a:p>
                  </a:txBody>
                  <a:tcPr anchor="ctr">
                    <a:solidFill>
                      <a:srgbClr val="F6EED8"/>
                    </a:solidFill>
                  </a:tcPr>
                </a:tc>
                <a:tc>
                  <a:txBody>
                    <a:bodyPr/>
                    <a:lstStyle/>
                    <a:p>
                      <a:pPr rtl="1" algn="r"/>
                      <a:r>
                        <a:rPr sz="2000" b="0" lang="ar-MA">
                          <a:solidFill>
                            <a:srgbClr val="222222"/>
                          </a:solidFill>
                          <a:latin typeface="Cairo"/>
                          <a:cs typeface="Cairo"/>
                        </a:rPr>
                        <a:t>اشتداد التنافس بين القوى الصناعية للسيطرة على المواد الأولية والأسواق ومجالات الاستثمار.</a:t>
                      </a:r>
                    </a:p>
                  </a:txBody>
                  <a:tcPr anchor="ctr">
                    <a:solidFill>
                      <a:srgbClr val="F6EED8"/>
                    </a:solidFill>
                  </a:tcPr>
                </a:tc>
              </a:tr>
              <a:tr h="457200">
                <a:tc>
                  <a:txBody>
                    <a:bodyPr/>
                    <a:lstStyle/>
                    <a:p>
                      <a:pPr rtl="1" algn="r"/>
                      <a:r>
                        <a:rPr sz="2000" b="1" lang="ar-MA">
                          <a:solidFill>
                            <a:srgbClr val="0B2242"/>
                          </a:solidFill>
                          <a:latin typeface="Cairo"/>
                          <a:cs typeface="Cairo"/>
                        </a:rPr>
                        <a:t>1914م - 1918م</a:t>
                      </a:r>
                    </a:p>
                  </a:txBody>
                  <a:tcPr anchor="ctr">
                    <a:solidFill>
                      <a:srgbClr val="FFFDF6"/>
                    </a:solidFill>
                  </a:tcPr>
                </a:tc>
                <a:tc>
                  <a:txBody>
                    <a:bodyPr/>
                    <a:lstStyle/>
                    <a:p>
                      <a:pPr rtl="1" algn="r"/>
                      <a:r>
                        <a:rPr sz="2000" b="0" lang="ar-MA">
                          <a:solidFill>
                            <a:srgbClr val="222222"/>
                          </a:solidFill>
                          <a:latin typeface="Cairo"/>
                          <a:cs typeface="Cairo"/>
                        </a:rPr>
                        <a:t>الحرب العالمية الأولى</a:t>
                      </a:r>
                    </a:p>
                  </a:txBody>
                  <a:tcPr anchor="ctr">
                    <a:solidFill>
                      <a:srgbClr val="FFFDF6"/>
                    </a:solidFill>
                  </a:tcPr>
                </a:tc>
                <a:tc>
                  <a:txBody>
                    <a:bodyPr/>
                    <a:lstStyle/>
                    <a:p>
                      <a:pPr rtl="1" algn="r"/>
                      <a:r>
                        <a:rPr sz="2000" b="0" lang="ar-MA">
                          <a:solidFill>
                            <a:srgbClr val="222222"/>
                          </a:solidFill>
                          <a:latin typeface="Cairo"/>
                          <a:cs typeface="Cairo"/>
                        </a:rPr>
                        <a:t>انفجار التنافس الإمبريالي وسياسة التحالفات وسباق التسلح في صراع عالمي مدمر.</a:t>
                      </a:r>
                    </a:p>
                  </a:txBody>
                  <a:tcPr anchor="ctr">
                    <a:solidFill>
                      <a:srgbClr val="FFFDF6"/>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a:xfrm>
            <a:off x="548640" y="1188720"/>
            <a:ext cx="7772400" cy="502920"/>
          </a:xfrm>
        </p:spPr>
        <p:txBody>
          <a:bodyPr wrap="square"/>
          <a:lstStyle/>
          <a:p>
            <a:pPr rtl="1" algn="r">
              <a:buNone/>
              <a:spcAft>
                <a:spcPts val="600"/>
              </a:spcAft>
            </a:pPr>
            <a:r>
              <a:rPr sz="2200" b="1" lang="ar-MA">
                <a:solidFill>
                  <a:srgbClr val="0B2242"/>
                </a:solidFill>
                <a:latin typeface="Cairo"/>
                <a:cs typeface="Cairo"/>
              </a:rPr>
              <a:t>1- الإطار الزمني لموضوع البرنامج (تابع)</a:t>
            </a:r>
          </a:p>
        </p:txBody>
      </p:sp>
      <p:graphicFrame>
        <p:nvGraphicFramePr>
          <p:cNvPr id="3" name="Table 2"/>
          <p:cNvGraphicFramePr>
            <a:graphicFrameLocks noGrp="1"/>
          </p:cNvGraphicFramePr>
          <p:nvPr/>
        </p:nvGraphicFramePr>
        <p:xfrm>
          <a:off x="548640" y="1737360"/>
          <a:ext cx="7772400" cy="1828800"/>
        </p:xfrm>
        <a:graphic>
          <a:graphicData uri="http://schemas.openxmlformats.org/drawingml/2006/table">
            <a:tbl>
              <a:tblPr firstRow="1" bandRow="1" rtl="1">
                <a:tableStyleId>{5C22544A-7EE6-4342-B048-85BDC9FD1C3A}</a:tableStyleId>
              </a:tblPr>
              <a:tblGrid>
                <a:gridCol w="1865376"/>
                <a:gridCol w="2020824"/>
                <a:gridCol w="3886200"/>
              </a:tblGrid>
              <a:tr h="457200">
                <a:tc>
                  <a:txBody>
                    <a:bodyPr/>
                    <a:lstStyle/>
                    <a:p>
                      <a:pPr rtl="1" algn="ctr"/>
                      <a:r>
                        <a:rPr sz="2000" b="1" lang="ar-MA">
                          <a:solidFill>
                            <a:srgbClr val="FFFFFF"/>
                          </a:solidFill>
                          <a:latin typeface="Cairo"/>
                          <a:cs typeface="Cairo"/>
                        </a:rPr>
                        <a:t>الفترة</a:t>
                      </a:r>
                    </a:p>
                  </a:txBody>
                  <a:tcPr>
                    <a:solidFill>
                      <a:srgbClr val="0B2242"/>
                    </a:solidFill>
                  </a:tcPr>
                </a:tc>
                <a:tc>
                  <a:txBody>
                    <a:bodyPr/>
                    <a:lstStyle/>
                    <a:p>
                      <a:pPr rtl="1" algn="ctr"/>
                      <a:r>
                        <a:rPr sz="2000" b="1" lang="ar-MA">
                          <a:solidFill>
                            <a:srgbClr val="FFFFFF"/>
                          </a:solidFill>
                          <a:latin typeface="Cairo"/>
                          <a:cs typeface="Cairo"/>
                        </a:rPr>
                        <a:t>الحدث أو التحول</a:t>
                      </a:r>
                    </a:p>
                  </a:txBody>
                  <a:tcPr>
                    <a:solidFill>
                      <a:srgbClr val="0B2242"/>
                    </a:solidFill>
                  </a:tcPr>
                </a:tc>
                <a:tc>
                  <a:txBody>
                    <a:bodyPr/>
                    <a:lstStyle/>
                    <a:p>
                      <a:pPr rtl="1" algn="ctr"/>
                      <a:r>
                        <a:rPr sz="2000" b="1" lang="ar-MA">
                          <a:solidFill>
                            <a:srgbClr val="FFFFFF"/>
                          </a:solidFill>
                          <a:latin typeface="Cairo"/>
                          <a:cs typeface="Cairo"/>
                        </a:rPr>
                        <a:t>الدلالة التاريخية</a:t>
                      </a:r>
                    </a:p>
                  </a:txBody>
                  <a:tcPr>
                    <a:solidFill>
                      <a:srgbClr val="0B2242"/>
                    </a:solidFill>
                  </a:tcPr>
                </a:tc>
              </a:tr>
              <a:tr h="457200">
                <a:tc>
                  <a:txBody>
                    <a:bodyPr/>
                    <a:lstStyle/>
                    <a:p>
                      <a:pPr rtl="1" algn="r"/>
                      <a:r>
                        <a:rPr sz="2000" b="1" lang="ar-MA">
                          <a:solidFill>
                            <a:srgbClr val="0B2242"/>
                          </a:solidFill>
                          <a:latin typeface="Cairo"/>
                          <a:cs typeface="Cairo"/>
                        </a:rPr>
                        <a:t>1929م</a:t>
                      </a:r>
                    </a:p>
                  </a:txBody>
                  <a:tcPr anchor="ctr">
                    <a:solidFill>
                      <a:srgbClr val="FFFDF6"/>
                    </a:solidFill>
                  </a:tcPr>
                </a:tc>
                <a:tc>
                  <a:txBody>
                    <a:bodyPr/>
                    <a:lstStyle/>
                    <a:p>
                      <a:pPr rtl="1" algn="r"/>
                      <a:r>
                        <a:rPr sz="2000" b="0" lang="ar-MA">
                          <a:solidFill>
                            <a:srgbClr val="222222"/>
                          </a:solidFill>
                          <a:latin typeface="Cairo"/>
                          <a:cs typeface="Cairo"/>
                        </a:rPr>
                        <a:t>الأزمة الاقتصادية العالمية</a:t>
                      </a:r>
                    </a:p>
                  </a:txBody>
                  <a:tcPr anchor="ctr">
                    <a:solidFill>
                      <a:srgbClr val="FFFDF6"/>
                    </a:solidFill>
                  </a:tcPr>
                </a:tc>
                <a:tc>
                  <a:txBody>
                    <a:bodyPr/>
                    <a:lstStyle/>
                    <a:p>
                      <a:pPr rtl="1" algn="r"/>
                      <a:r>
                        <a:rPr sz="2000" b="0" lang="ar-MA">
                          <a:solidFill>
                            <a:srgbClr val="222222"/>
                          </a:solidFill>
                          <a:latin typeface="Cairo"/>
                          <a:cs typeface="Cairo"/>
                        </a:rPr>
                        <a:t>انهيار مالي واقتصادي أضعف الدول الرأسمالية وعمق التوترات الاجتماعية والسياسية.</a:t>
                      </a:r>
                    </a:p>
                  </a:txBody>
                  <a:tcPr anchor="ctr">
                    <a:solidFill>
                      <a:srgbClr val="FFFDF6"/>
                    </a:solidFill>
                  </a:tcPr>
                </a:tc>
              </a:tr>
              <a:tr h="457200">
                <a:tc>
                  <a:txBody>
                    <a:bodyPr/>
                    <a:lstStyle/>
                    <a:p>
                      <a:pPr rtl="1" algn="r"/>
                      <a:r>
                        <a:rPr sz="2000" b="1" lang="ar-MA">
                          <a:solidFill>
                            <a:srgbClr val="0B2242"/>
                          </a:solidFill>
                          <a:latin typeface="Cairo"/>
                          <a:cs typeface="Cairo"/>
                        </a:rPr>
                        <a:t>1939م - 1945م</a:t>
                      </a:r>
                    </a:p>
                  </a:txBody>
                  <a:tcPr anchor="ctr">
                    <a:solidFill>
                      <a:srgbClr val="F6EED8"/>
                    </a:solidFill>
                  </a:tcPr>
                </a:tc>
                <a:tc>
                  <a:txBody>
                    <a:bodyPr/>
                    <a:lstStyle/>
                    <a:p>
                      <a:pPr rtl="1" algn="r"/>
                      <a:r>
                        <a:rPr sz="2000" b="0" lang="ar-MA">
                          <a:solidFill>
                            <a:srgbClr val="222222"/>
                          </a:solidFill>
                          <a:latin typeface="Cairo"/>
                          <a:cs typeface="Cairo"/>
                        </a:rPr>
                        <a:t>الحرب العالمية الثانية</a:t>
                      </a:r>
                    </a:p>
                  </a:txBody>
                  <a:tcPr anchor="ctr">
                    <a:solidFill>
                      <a:srgbClr val="F6EED8"/>
                    </a:solidFill>
                  </a:tcPr>
                </a:tc>
                <a:tc>
                  <a:txBody>
                    <a:bodyPr/>
                    <a:lstStyle/>
                    <a:p>
                      <a:pPr rtl="1" algn="r"/>
                      <a:r>
                        <a:rPr sz="2000" b="0" lang="ar-MA">
                          <a:solidFill>
                            <a:srgbClr val="222222"/>
                          </a:solidFill>
                          <a:latin typeface="Cairo"/>
                          <a:cs typeface="Cairo"/>
                        </a:rPr>
                        <a:t>إعادة رسم موازين القوى وصعود الولايات المتحدة والاتحاد السوفياتي.</a:t>
                      </a:r>
                    </a:p>
                  </a:txBody>
                  <a:tcPr anchor="ctr">
                    <a:solidFill>
                      <a:srgbClr val="F6EED8"/>
                    </a:solidFill>
                  </a:tcPr>
                </a:tc>
              </a:tr>
              <a:tr h="457200">
                <a:tc>
                  <a:txBody>
                    <a:bodyPr/>
                    <a:lstStyle/>
                    <a:p>
                      <a:pPr rtl="1" algn="r"/>
                      <a:r>
                        <a:rPr sz="2000" b="1" lang="ar-MA">
                          <a:solidFill>
                            <a:srgbClr val="0B2242"/>
                          </a:solidFill>
                          <a:latin typeface="Cairo"/>
                          <a:cs typeface="Cairo"/>
                        </a:rPr>
                        <a:t>1945م - 1991م</a:t>
                      </a:r>
                    </a:p>
                  </a:txBody>
                  <a:tcPr anchor="ctr">
                    <a:solidFill>
                      <a:srgbClr val="FFFDF6"/>
                    </a:solidFill>
                  </a:tcPr>
                </a:tc>
                <a:tc>
                  <a:txBody>
                    <a:bodyPr/>
                    <a:lstStyle/>
                    <a:p>
                      <a:pPr rtl="1" algn="r"/>
                      <a:r>
                        <a:rPr sz="2000" b="0" lang="ar-MA">
                          <a:solidFill>
                            <a:srgbClr val="222222"/>
                          </a:solidFill>
                          <a:latin typeface="Cairo"/>
                          <a:cs typeface="Cairo"/>
                        </a:rPr>
                        <a:t>الثنائية القطبية وحركات التحرر</a:t>
                      </a:r>
                    </a:p>
                  </a:txBody>
                  <a:tcPr anchor="ctr">
                    <a:solidFill>
                      <a:srgbClr val="FFFDF6"/>
                    </a:solidFill>
                  </a:tcPr>
                </a:tc>
                <a:tc>
                  <a:txBody>
                    <a:bodyPr/>
                    <a:lstStyle/>
                    <a:p>
                      <a:pPr rtl="1" algn="r"/>
                      <a:r>
                        <a:rPr sz="2000" b="0" lang="ar-MA">
                          <a:solidFill>
                            <a:srgbClr val="222222"/>
                          </a:solidFill>
                          <a:latin typeface="Cairo"/>
                          <a:cs typeface="Cairo"/>
                        </a:rPr>
                        <a:t>انقسام العالم إلى معسكرين، وتنامي نضال الشعوب من أجل الاستقلال وبناء الدولة الوطنية.</a:t>
                      </a:r>
                    </a:p>
                  </a:txBody>
                  <a:tcPr anchor="ctr">
                    <a:solidFill>
                      <a:srgbClr val="FFFDF6"/>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ملاحظة منهجية: لا ينبغي النظر إلى هذه الأحداث باعتبارها وقائع منفصلة، بل حلقات مترابطة: التصنيع قوّى الرأسمالية، والرأسمالية غذّت الإمبريالية، والتنافس الإمبريالي مهّد للحروب والأزمات، ثم ولّد مقاومات وحركات تحرر.</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wrap="square"/>
          <a:lstStyle/>
          <a:p>
            <a:pPr rtl="1" algn="r">
              <a:buNone/>
              <a:spcAft>
                <a:spcPts val="600"/>
              </a:spcAft>
            </a:pPr>
            <a:r>
              <a:rPr sz="9600" b="0" lang="ar-MA">
                <a:latin typeface="Cairo"/>
                <a:cs typeface="Cairo"/>
              </a:rPr>
              <a:t>2</a:t>
            </a:r>
          </a:p>
        </p:txBody>
      </p:sp>
      <p:sp>
        <p:nvSpPr>
          <p:cNvPr id="3" name="Title 2"/>
          <p:cNvSpPr>
            <a:spLocks noGrp="1"/>
          </p:cNvSpPr>
          <p:nvPr>
            <p:ph type="title" idx="102"/>
          </p:nvPr>
        </p:nvSpPr>
        <p:spPr/>
        <p:txBody>
          <a:bodyPr wrap="square"/>
          <a:lstStyle/>
          <a:p>
            <a:pPr rtl="1" algn="r">
              <a:buNone/>
              <a:spcAft>
                <a:spcPts val="600"/>
              </a:spcAft>
            </a:pPr>
            <a:r>
              <a:rPr sz="3600" b="0" lang="ar-MA">
                <a:latin typeface="Cairo"/>
                <a:cs typeface="Cairo"/>
              </a:rPr>
              <a:t>المحور الثاني: الإطار المكاني لموضوع البرنامج</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الإطار المكاني لموضوع البرنامج</a:t>
            </a:r>
          </a:p>
        </p:txBody>
      </p:sp>
      <p:sp>
        <p:nvSpPr>
          <p:cNvPr id="3" name="Text Placeholder 2"/>
          <p:cNvSpPr>
            <a:spLocks noGrp="1"/>
          </p:cNvSpPr>
          <p:nvPr>
            <p:ph type="body" idx="104"/>
          </p:nvPr>
        </p:nvSpPr>
        <p:spPr/>
        <p:txBody>
          <a:bodyPr wrap="square"/>
          <a:lstStyle/>
          <a:p>
            <a:pPr rtl="1" algn="r">
              <a:buNone/>
              <a:spcAft>
                <a:spcPts val="600"/>
              </a:spcAft>
            </a:pPr>
            <a:r>
              <a:rPr sz="2600" b="1" lang="ar-MA">
                <a:solidFill>
                  <a:srgbClr val="0B2242"/>
                </a:solidFill>
                <a:latin typeface="Cairo"/>
                <a:cs typeface="Cairo"/>
              </a:rPr>
              <a:t>• أوروبا الغربية:</a:t>
            </a:r>
            <a:r>
              <a:rPr sz="2600" b="0" lang="ar-MA">
                <a:latin typeface="Cairo"/>
                <a:cs typeface="Cairo"/>
              </a:rPr>
              <a:t> المركز الأول للثورة الصناعية والرأسمالية (بريطانيا، فرنسا، ألمانيا…)، ومنها انطلقت الحركة الإمبريالية، وفوق أرضها اندلعت الحربان العالميتان اللتان أنهكتا قواها.</a:t>
            </a:r>
          </a:p>
          <a:p>
            <a:pPr rtl="1" algn="r">
              <a:buNone/>
              <a:spcAft>
                <a:spcPts val="600"/>
              </a:spcAft>
            </a:pPr>
            <a:r>
              <a:rPr sz="2600" b="1" lang="ar-MA">
                <a:solidFill>
                  <a:srgbClr val="0B2242"/>
                </a:solidFill>
                <a:latin typeface="Cairo"/>
                <a:cs typeface="Cairo"/>
              </a:rPr>
              <a:t>• الولايات المتحدة الأمريكية:</a:t>
            </a:r>
            <a:r>
              <a:rPr sz="2600" b="0" lang="ar-MA">
                <a:latin typeface="Cairo"/>
                <a:cs typeface="Cairo"/>
              </a:rPr>
              <a:t> تطورت خلال القرن 19م إلى قوة رأسمالية كبرى بفضل مواردها وهجرة الأدمغة والرساميل، وأسهمت في انتصار الحلفاء في الحربين، ثم أصبحت زعيمة المعسكر الغربي بعد 1945م.</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الإطار المكاني لموضوع البرنامج (تابع)</a:t>
            </a:r>
          </a:p>
        </p:txBody>
      </p:sp>
      <p:sp>
        <p:nvSpPr>
          <p:cNvPr id="3" name="Text Placeholder 2"/>
          <p:cNvSpPr>
            <a:spLocks noGrp="1"/>
          </p:cNvSpPr>
          <p:nvPr>
            <p:ph type="body" idx="104"/>
          </p:nvPr>
        </p:nvSpPr>
        <p:spPr/>
        <p:txBody>
          <a:bodyPr wrap="square"/>
          <a:lstStyle/>
          <a:p>
            <a:pPr rtl="1" algn="r">
              <a:buNone/>
              <a:spcAft>
                <a:spcPts val="600"/>
              </a:spcAft>
            </a:pPr>
            <a:r>
              <a:rPr sz="2600" b="1" lang="ar-MA">
                <a:solidFill>
                  <a:srgbClr val="0B2242"/>
                </a:solidFill>
                <a:latin typeface="Cairo"/>
                <a:cs typeface="Cairo"/>
              </a:rPr>
              <a:t>• اليابان:</a:t>
            </a:r>
            <a:r>
              <a:rPr sz="2600" b="0" lang="ar-MA">
                <a:latin typeface="Cairo"/>
                <a:cs typeface="Cairo"/>
              </a:rPr>
              <a:t> نجحت منذ «إصلاحات الميجي» (1868م) في التحديث والتصنيع، فتحولت إلى قوة صناعية وعسكرية توسعية في آسيا، وساهمت في اندلاع الحرب العالمية الثانية بمنطقة المحيط الهادئ.</a:t>
            </a:r>
          </a:p>
          <a:p>
            <a:pPr rtl="1" algn="r">
              <a:buNone/>
              <a:spcAft>
                <a:spcPts val="600"/>
              </a:spcAft>
            </a:pPr>
            <a:r>
              <a:rPr sz="2600" b="1" lang="ar-MA">
                <a:solidFill>
                  <a:srgbClr val="0B2242"/>
                </a:solidFill>
                <a:latin typeface="Cairo"/>
                <a:cs typeface="Cairo"/>
              </a:rPr>
              <a:t>• إفريقيا وآسيا وأمريكا اللاتينية:</a:t>
            </a:r>
            <a:r>
              <a:rPr sz="2600" b="0" lang="ar-MA">
                <a:latin typeface="Cairo"/>
                <a:cs typeface="Cairo"/>
              </a:rPr>
              <a:t> خضعت مساحات واسعة من إفريقيا وآسيا للاستعمار المباشر واستُنزفت مواردها، بينما عانت بلدان أمريكا اللاتينية من أشكال التبعية الاقتصادية والسياسية رغم استقلالها السياسي المبكّر.</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الإطار المكاني لموضوع البرنامج (تابع)</a:t>
            </a:r>
          </a:p>
        </p:txBody>
      </p:sp>
      <p:sp>
        <p:nvSpPr>
          <p:cNvPr id="3" name="Text Placeholder 2"/>
          <p:cNvSpPr>
            <a:spLocks noGrp="1"/>
          </p:cNvSpPr>
          <p:nvPr>
            <p:ph type="body" idx="104"/>
          </p:nvPr>
        </p:nvSpPr>
        <p:spPr/>
        <p:txBody>
          <a:bodyPr wrap="square"/>
          <a:lstStyle/>
          <a:p>
            <a:pPr rtl="1" algn="r">
              <a:buNone/>
              <a:spcAft>
                <a:spcPts val="600"/>
              </a:spcAft>
            </a:pPr>
            <a:r>
              <a:rPr sz="2600" b="1" lang="ar-MA">
                <a:solidFill>
                  <a:srgbClr val="0B2242"/>
                </a:solidFill>
                <a:latin typeface="Cairo"/>
                <a:cs typeface="Cairo"/>
              </a:rPr>
              <a:t>• المشرق العربي:</a:t>
            </a:r>
            <a:r>
              <a:rPr sz="2600" b="0" lang="ar-MA">
                <a:latin typeface="Cairo"/>
                <a:cs typeface="Cairo"/>
              </a:rPr>
              <a:t> عرف يقظةً فكرية ونهضةً إصلاحية (رواد النهضة والإصلاح الديني والسياسي)، ثم واجه الأطماع الاستعمارية والانتداب، وسعى إلى التحرر وبناء الدولة الوطنية.</a:t>
            </a:r>
          </a:p>
          <a:p>
            <a:pPr rtl="1" algn="r">
              <a:buNone/>
              <a:spcAft>
                <a:spcPts val="600"/>
              </a:spcAft>
            </a:pPr>
            <a:r>
              <a:rPr sz="2600" b="1" lang="ar-MA">
                <a:solidFill>
                  <a:srgbClr val="0B2242"/>
                </a:solidFill>
                <a:latin typeface="Cairo"/>
                <a:cs typeface="Cairo"/>
              </a:rPr>
              <a:t>• المغرب:</a:t>
            </a:r>
            <a:r>
              <a:rPr sz="2600" b="0" lang="ar-MA">
                <a:latin typeface="Cairo"/>
                <a:cs typeface="Cairo"/>
              </a:rPr>
              <a:t> واجه الضغوط الاستعمارية الأوروبية بمحاولات إصلاح داخلية، ثم فُرض عليه نظام الحماية سنة 1912م، فخاض المقاومة المسلحة والعمل الوطني إلى أن نال الاستقلال سنة 1956م، وواصل استكمال وحدته الترابية.</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1" lang="ar-MA">
                <a:solidFill>
                  <a:srgbClr val="0B2242"/>
                </a:solidFill>
                <a:latin typeface="Cairo"/>
                <a:cs typeface="Cairo"/>
              </a:rPr>
              <a:t>2- الإطار المكاني لموضوع البرنامج</a:t>
            </a:r>
          </a:p>
          <a:p>
            <a:pPr rtl="1" algn="r">
              <a:buNone/>
              <a:spcAft>
                <a:spcPts val="600"/>
              </a:spcAft>
            </a:pPr>
            <a:r>
              <a:rPr sz="2600" b="0" lang="ar-MA">
                <a:latin typeface="Cairo"/>
                <a:cs typeface="Cairo"/>
              </a:rPr>
              <a:t>• أوروبا الغربية: المركز الأول للثورة الصناعية والرأسمالية، ومنها انطلقت الحركة الإمبريالية واندلعت الحربان العالميتان.</a:t>
            </a:r>
          </a:p>
          <a:p>
            <a:pPr rtl="1" algn="r">
              <a:buNone/>
              <a:spcAft>
                <a:spcPts val="600"/>
              </a:spcAft>
            </a:pPr>
            <a:r>
              <a:rPr sz="2600" b="0" lang="ar-MA">
                <a:latin typeface="Cairo"/>
                <a:cs typeface="Cairo"/>
              </a:rPr>
              <a:t>• الولايات المتحدة الأمريكية: تطورت إلى قوة رأسمالية كبرى، وأسهمت في انتصار الحلفاء، ثم أصبحت زعيمة المعسكر الغربي بعد الحرب العالمية الثانية.</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 اليابان: نجحت في التحديث والإصلاح، وتحولت إلى قوة صناعية وتوسعية ساهمت في أحداث الحرب العالمية الثانية.</a:t>
            </a:r>
          </a:p>
          <a:p>
            <a:pPr rtl="1" algn="r">
              <a:buNone/>
              <a:spcAft>
                <a:spcPts val="600"/>
              </a:spcAft>
            </a:pPr>
            <a:r>
              <a:rPr sz="2600" b="0" lang="ar-MA">
                <a:latin typeface="Cairo"/>
                <a:cs typeface="Cairo"/>
              </a:rPr>
              <a:t>• إفريقيا وآسيا وأمريكا اللاتينية: خضعت مناطق واسعة من إفريقيا وآسيا للاستعمار المباشر، بينما عانت بلدان أمريكا اللاتينية من أشكال التبعية الاقتصادية والسياسية.</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 المشرق العربي: عرف يقظة فكرية ونهضة إصلاحية، ثم واجه الهيمنة الاستعمارية وسعى إلى التحرر وبناء الدولة الوطنية.</a:t>
            </a:r>
          </a:p>
          <a:p>
            <a:pPr rtl="1" algn="r">
              <a:buNone/>
              <a:spcAft>
                <a:spcPts val="600"/>
              </a:spcAft>
            </a:pPr>
            <a:r>
              <a:rPr sz="2600" b="0" lang="ar-MA">
                <a:latin typeface="Cairo"/>
                <a:cs typeface="Cairo"/>
              </a:rPr>
              <a:t>• المغرب: واجه الضغوط الاستعمارية بمحاولات إصلاح، ثم فرضت عليه الحماية، قبل أن يخوض المقاومة المسلحة والعمل الوطني وينال الاستقلال سنة 1956م، ويواصل استكمال وحدته الترابية.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wrap="square"/>
          <a:lstStyle/>
          <a:p>
            <a:pPr rtl="1" algn="r">
              <a:buNone/>
              <a:spcAft>
                <a:spcPts val="600"/>
              </a:spcAft>
            </a:pPr>
            <a:r>
              <a:rPr sz="9600" b="0" lang="ar-MA">
                <a:latin typeface="Cairo"/>
                <a:cs typeface="Cairo"/>
              </a:rPr>
              <a:t>3</a:t>
            </a:r>
          </a:p>
        </p:txBody>
      </p:sp>
      <p:sp>
        <p:nvSpPr>
          <p:cNvPr id="3" name="Title 2"/>
          <p:cNvSpPr>
            <a:spLocks noGrp="1"/>
          </p:cNvSpPr>
          <p:nvPr>
            <p:ph type="title" idx="102"/>
          </p:nvPr>
        </p:nvSpPr>
        <p:spPr/>
        <p:txBody>
          <a:bodyPr wrap="square"/>
          <a:lstStyle/>
          <a:p>
            <a:pPr rtl="1" algn="r">
              <a:buNone/>
              <a:spcAft>
                <a:spcPts val="600"/>
              </a:spcAft>
            </a:pPr>
            <a:r>
              <a:rPr sz="4000" b="0" lang="ar-MA">
                <a:latin typeface="Cairo"/>
                <a:cs typeface="Cairo"/>
              </a:rPr>
              <a:t>المحور الثالث: طبيعة التحولات وخصائصها</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طبيعة التحولات وخصائصها</a:t>
            </a:r>
          </a:p>
        </p:txBody>
      </p:sp>
      <p:sp>
        <p:nvSpPr>
          <p:cNvPr id="3" name="Text Placeholder 2"/>
          <p:cNvSpPr>
            <a:spLocks noGrp="1"/>
          </p:cNvSpPr>
          <p:nvPr>
            <p:ph type="body" idx="104"/>
          </p:nvPr>
        </p:nvSpPr>
        <p:spPr/>
        <p:txBody>
          <a:bodyPr wrap="square"/>
          <a:lstStyle/>
          <a:p>
            <a:pPr rtl="1" algn="r">
              <a:buNone/>
              <a:spcAft>
                <a:spcPts val="600"/>
              </a:spcAft>
            </a:pPr>
            <a:r>
              <a:rPr sz="2600" b="1" lang="ar-MA">
                <a:solidFill>
                  <a:srgbClr val="0B2242"/>
                </a:solidFill>
                <a:latin typeface="Cairo"/>
                <a:cs typeface="Cairo"/>
              </a:rPr>
              <a:t>• تحولات شمولية:</a:t>
            </a:r>
            <a:r>
              <a:rPr sz="2600" b="0" lang="ar-MA">
                <a:latin typeface="Cairo"/>
                <a:cs typeface="Cairo"/>
              </a:rPr>
              <a:t> شملت جميع الميادين: الاقتصاد والمجتمع والسياسة والفكر والعلاقات الدولية.؛ مثال: الثورة الصناعية لم تغيّر الإنتاج فقط، بل غيّرت بنية المجتمع (ظهور طبقتي البرجوازية والبروليتاريا) والفكر (نشأة الاشتراكية).</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طبيعة التحولات وخصائصها (تابع)</a:t>
            </a:r>
          </a:p>
        </p:txBody>
      </p:sp>
      <p:sp>
        <p:nvSpPr>
          <p:cNvPr id="3" name="Text Placeholder 2"/>
          <p:cNvSpPr>
            <a:spLocks noGrp="1"/>
          </p:cNvSpPr>
          <p:nvPr>
            <p:ph type="body" idx="104"/>
          </p:nvPr>
        </p:nvSpPr>
        <p:spPr/>
        <p:txBody>
          <a:bodyPr wrap="square"/>
          <a:lstStyle/>
          <a:p>
            <a:pPr rtl="1" algn="r">
              <a:buNone/>
              <a:spcAft>
                <a:spcPts val="600"/>
              </a:spcAft>
            </a:pPr>
            <a:r>
              <a:rPr sz="2600" b="1" lang="ar-MA">
                <a:solidFill>
                  <a:srgbClr val="0B2242"/>
                </a:solidFill>
                <a:latin typeface="Cairo"/>
                <a:cs typeface="Cairo"/>
              </a:rPr>
              <a:t>• تحولات مترابطة:</a:t>
            </a:r>
            <a:r>
              <a:rPr sz="2600" b="0" lang="ar-MA">
                <a:latin typeface="Cairo"/>
                <a:cs typeface="Cairo"/>
              </a:rPr>
              <a:t> أثّر كل تحول في غيره في تسلسلٍ سببي متصل.؛ مثال: التقدم الصناعي ← تراكم رأس المال ← فائض الإنتاج والرساميل ← البحث عن أسواق خارجية ← التوسع الإمبريالي.</a:t>
            </a:r>
          </a:p>
          <a:p>
            <a:pPr rtl="1" algn="r">
              <a:buNone/>
              <a:spcAft>
                <a:spcPts val="600"/>
              </a:spcAft>
            </a:pPr>
            <a:r>
              <a:rPr sz="2600" b="1" lang="ar-MA">
                <a:solidFill>
                  <a:srgbClr val="0B2242"/>
                </a:solidFill>
                <a:latin typeface="Cairo"/>
                <a:cs typeface="Cairo"/>
              </a:rPr>
              <a:t>• تحولات غير متكافئة:</a:t>
            </a:r>
            <a:r>
              <a:rPr sz="2600" b="0" lang="ar-MA">
                <a:latin typeface="Cairo"/>
                <a:cs typeface="Cairo"/>
              </a:rPr>
              <a:t> استفادت منها القوى الصناعية فتقدمت وأثْرت.؛ بينما تعرّضت مناطق واسعة من العالم للاستغلال والتبعية وفقدان السيادة.</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طبيعة التحولات وخصائصها (تابع)</a:t>
            </a:r>
          </a:p>
        </p:txBody>
      </p:sp>
      <p:sp>
        <p:nvSpPr>
          <p:cNvPr id="3" name="Text Placeholder 2"/>
          <p:cNvSpPr>
            <a:spLocks noGrp="1"/>
          </p:cNvSpPr>
          <p:nvPr>
            <p:ph type="body" idx="104"/>
          </p:nvPr>
        </p:nvSpPr>
        <p:spPr/>
        <p:txBody>
          <a:bodyPr wrap="square"/>
          <a:lstStyle/>
          <a:p>
            <a:pPr rtl="1" algn="r">
              <a:buNone/>
              <a:spcAft>
                <a:spcPts val="600"/>
              </a:spcAft>
            </a:pPr>
            <a:r>
              <a:rPr sz="2600" b="1" lang="ar-MA">
                <a:solidFill>
                  <a:srgbClr val="0B2242"/>
                </a:solidFill>
                <a:latin typeface="Cairo"/>
                <a:cs typeface="Cairo"/>
              </a:rPr>
              <a:t>• تحولات صراعية:</a:t>
            </a:r>
            <a:r>
              <a:rPr sz="2600" b="0" lang="ar-MA">
                <a:latin typeface="Cairo"/>
                <a:cs typeface="Cairo"/>
              </a:rPr>
              <a:t> أفرزت تنافسًا إمبرياليًا حادًّا وحروبًا عالمية وأزمات اقتصادية.؛ لكنها في المقابل ولّدت مقاوماتٍ وحركات تحرر وطنية في المستعمرات.</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a:xfrm>
            <a:off x="548640" y="1188720"/>
            <a:ext cx="7772400" cy="502920"/>
          </a:xfrm>
        </p:spPr>
        <p:txBody>
          <a:bodyPr wrap="square"/>
          <a:lstStyle/>
          <a:p>
            <a:pPr rtl="1" algn="r">
              <a:buNone/>
              <a:spcAft>
                <a:spcPts val="600"/>
              </a:spcAft>
            </a:pPr>
            <a:r>
              <a:rPr sz="2200" b="1" lang="ar-MA">
                <a:solidFill>
                  <a:srgbClr val="0B2242"/>
                </a:solidFill>
                <a:latin typeface="Cairo"/>
                <a:cs typeface="Cairo"/>
              </a:rPr>
              <a:t>3- طبيعة التحولات وخصائصها</a:t>
            </a:r>
          </a:p>
        </p:txBody>
      </p:sp>
      <p:graphicFrame>
        <p:nvGraphicFramePr>
          <p:cNvPr id="3" name="Table 2"/>
          <p:cNvGraphicFramePr>
            <a:graphicFrameLocks noGrp="1"/>
          </p:cNvGraphicFramePr>
          <p:nvPr/>
        </p:nvGraphicFramePr>
        <p:xfrm>
          <a:off x="548640" y="1737360"/>
          <a:ext cx="7772400" cy="1828800"/>
        </p:xfrm>
        <a:graphic>
          <a:graphicData uri="http://schemas.openxmlformats.org/drawingml/2006/table">
            <a:tbl>
              <a:tblPr firstRow="1" bandRow="1" rtl="1">
                <a:tableStyleId>{5C22544A-7EE6-4342-B048-85BDC9FD1C3A}</a:tableStyleId>
              </a:tblPr>
              <a:tblGrid>
                <a:gridCol w="2176272"/>
                <a:gridCol w="5596128"/>
              </a:tblGrid>
              <a:tr h="457200">
                <a:tc>
                  <a:txBody>
                    <a:bodyPr/>
                    <a:lstStyle/>
                    <a:p>
                      <a:pPr rtl="1" algn="ctr"/>
                      <a:r>
                        <a:rPr sz="2000" b="1" lang="ar-MA">
                          <a:solidFill>
                            <a:srgbClr val="FFFFFF"/>
                          </a:solidFill>
                          <a:latin typeface="Cairo"/>
                          <a:cs typeface="Cairo"/>
                        </a:rPr>
                        <a:t>الخاصية</a:t>
                      </a:r>
                    </a:p>
                  </a:txBody>
                  <a:tcPr>
                    <a:solidFill>
                      <a:srgbClr val="0B2242"/>
                    </a:solidFill>
                  </a:tcPr>
                </a:tc>
                <a:tc>
                  <a:txBody>
                    <a:bodyPr/>
                    <a:lstStyle/>
                    <a:p>
                      <a:pPr rtl="1" algn="ctr"/>
                      <a:r>
                        <a:rPr sz="2000" b="1" lang="ar-MA">
                          <a:solidFill>
                            <a:srgbClr val="FFFFFF"/>
                          </a:solidFill>
                          <a:latin typeface="Cairo"/>
                          <a:cs typeface="Cairo"/>
                        </a:rPr>
                        <a:t>مضمونها</a:t>
                      </a:r>
                    </a:p>
                  </a:txBody>
                  <a:tcPr>
                    <a:solidFill>
                      <a:srgbClr val="0B2242"/>
                    </a:solidFill>
                  </a:tcPr>
                </a:tc>
              </a:tr>
              <a:tr h="457200">
                <a:tc>
                  <a:txBody>
                    <a:bodyPr/>
                    <a:lstStyle/>
                    <a:p>
                      <a:pPr rtl="1" algn="r"/>
                      <a:r>
                        <a:rPr sz="2000" b="1" lang="ar-MA">
                          <a:solidFill>
                            <a:srgbClr val="0B2242"/>
                          </a:solidFill>
                          <a:latin typeface="Cairo"/>
                          <a:cs typeface="Cairo"/>
                        </a:rPr>
                        <a:t>تحولات شمولية</a:t>
                      </a:r>
                    </a:p>
                  </a:txBody>
                  <a:tcPr anchor="ctr">
                    <a:solidFill>
                      <a:srgbClr val="FFFDF6"/>
                    </a:solidFill>
                  </a:tcPr>
                </a:tc>
                <a:tc>
                  <a:txBody>
                    <a:bodyPr/>
                    <a:lstStyle/>
                    <a:p>
                      <a:pPr rtl="1" algn="r"/>
                      <a:r>
                        <a:rPr sz="2000" b="0" lang="ar-MA">
                          <a:solidFill>
                            <a:srgbClr val="222222"/>
                          </a:solidFill>
                          <a:latin typeface="Cairo"/>
                          <a:cs typeface="Cairo"/>
                        </a:rPr>
                        <a:t>شملت الاقتصاد والمجتمع والسياسة والفكر والعلاقات الدولية.</a:t>
                      </a:r>
                    </a:p>
                  </a:txBody>
                  <a:tcPr anchor="ctr">
                    <a:solidFill>
                      <a:srgbClr val="FFFDF6"/>
                    </a:solidFill>
                  </a:tcPr>
                </a:tc>
              </a:tr>
              <a:tr h="457200">
                <a:tc>
                  <a:txBody>
                    <a:bodyPr/>
                    <a:lstStyle/>
                    <a:p>
                      <a:pPr rtl="1" algn="r"/>
                      <a:r>
                        <a:rPr sz="2000" b="1" lang="ar-MA">
                          <a:solidFill>
                            <a:srgbClr val="0B2242"/>
                          </a:solidFill>
                          <a:latin typeface="Cairo"/>
                          <a:cs typeface="Cairo"/>
                        </a:rPr>
                        <a:t>تحولات مترابطة</a:t>
                      </a:r>
                    </a:p>
                  </a:txBody>
                  <a:tcPr anchor="ctr">
                    <a:solidFill>
                      <a:srgbClr val="F6EED8"/>
                    </a:solidFill>
                  </a:tcPr>
                </a:tc>
                <a:tc>
                  <a:txBody>
                    <a:bodyPr/>
                    <a:lstStyle/>
                    <a:p>
                      <a:pPr rtl="1" algn="r"/>
                      <a:r>
                        <a:rPr sz="2000" b="0" lang="ar-MA">
                          <a:solidFill>
                            <a:srgbClr val="222222"/>
                          </a:solidFill>
                          <a:latin typeface="Cairo"/>
                          <a:cs typeface="Cairo"/>
                        </a:rPr>
                        <a:t>أثر كل تحول في غيره؛ فالتقدم الصناعي أدى إلى تراكم رأس المال والتوسع الخارجي.</a:t>
                      </a:r>
                    </a:p>
                  </a:txBody>
                  <a:tcPr anchor="ctr">
                    <a:solidFill>
                      <a:srgbClr val="F6EED8"/>
                    </a:solidFill>
                  </a:tcPr>
                </a:tc>
              </a:tr>
              <a:tr h="457200">
                <a:tc>
                  <a:txBody>
                    <a:bodyPr/>
                    <a:lstStyle/>
                    <a:p>
                      <a:pPr rtl="1" algn="r"/>
                      <a:r>
                        <a:rPr sz="2000" b="1" lang="ar-MA">
                          <a:solidFill>
                            <a:srgbClr val="0B2242"/>
                          </a:solidFill>
                          <a:latin typeface="Cairo"/>
                          <a:cs typeface="Cairo"/>
                        </a:rPr>
                        <a:t>تحولات غير متكافئة</a:t>
                      </a:r>
                    </a:p>
                  </a:txBody>
                  <a:tcPr anchor="ctr">
                    <a:solidFill>
                      <a:srgbClr val="FFFDF6"/>
                    </a:solidFill>
                  </a:tcPr>
                </a:tc>
                <a:tc>
                  <a:txBody>
                    <a:bodyPr/>
                    <a:lstStyle/>
                    <a:p>
                      <a:pPr rtl="1" algn="r"/>
                      <a:r>
                        <a:rPr sz="2000" b="0" lang="ar-MA">
                          <a:solidFill>
                            <a:srgbClr val="222222"/>
                          </a:solidFill>
                          <a:latin typeface="Cairo"/>
                          <a:cs typeface="Cairo"/>
                        </a:rPr>
                        <a:t>استفادت منها القوى الصناعية، بينما تعرضت مناطق واسعة للاستغلال والتبعية.</a:t>
                      </a:r>
                    </a:p>
                  </a:txBody>
                  <a:tcPr anchor="ctr">
                    <a:solidFill>
                      <a:srgbClr val="FFFDF6"/>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a:xfrm>
            <a:off x="548640" y="1188720"/>
            <a:ext cx="7772400" cy="502920"/>
          </a:xfrm>
        </p:spPr>
        <p:txBody>
          <a:bodyPr wrap="square"/>
          <a:lstStyle/>
          <a:p>
            <a:pPr rtl="1" algn="r">
              <a:buNone/>
              <a:spcAft>
                <a:spcPts val="600"/>
              </a:spcAft>
            </a:pPr>
            <a:r>
              <a:rPr sz="2200" b="1" lang="ar-MA">
                <a:solidFill>
                  <a:srgbClr val="0B2242"/>
                </a:solidFill>
                <a:latin typeface="Cairo"/>
                <a:cs typeface="Cairo"/>
              </a:rPr>
              <a:t>3- طبيعة التحولات وخصائصها (تابع)</a:t>
            </a:r>
          </a:p>
        </p:txBody>
      </p:sp>
      <p:graphicFrame>
        <p:nvGraphicFramePr>
          <p:cNvPr id="3" name="Table 2"/>
          <p:cNvGraphicFramePr>
            <a:graphicFrameLocks noGrp="1"/>
          </p:cNvGraphicFramePr>
          <p:nvPr/>
        </p:nvGraphicFramePr>
        <p:xfrm>
          <a:off x="548640" y="1737360"/>
          <a:ext cx="7772400" cy="914400"/>
        </p:xfrm>
        <a:graphic>
          <a:graphicData uri="http://schemas.openxmlformats.org/drawingml/2006/table">
            <a:tbl>
              <a:tblPr firstRow="1" bandRow="1" rtl="1">
                <a:tableStyleId>{5C22544A-7EE6-4342-B048-85BDC9FD1C3A}</a:tableStyleId>
              </a:tblPr>
              <a:tblGrid>
                <a:gridCol w="2176272"/>
                <a:gridCol w="5596128"/>
              </a:tblGrid>
              <a:tr h="457200">
                <a:tc>
                  <a:txBody>
                    <a:bodyPr/>
                    <a:lstStyle/>
                    <a:p>
                      <a:pPr rtl="1" algn="ctr"/>
                      <a:r>
                        <a:rPr sz="2000" b="1" lang="ar-MA">
                          <a:solidFill>
                            <a:srgbClr val="FFFFFF"/>
                          </a:solidFill>
                          <a:latin typeface="Cairo"/>
                          <a:cs typeface="Cairo"/>
                        </a:rPr>
                        <a:t>الخاصية</a:t>
                      </a:r>
                    </a:p>
                  </a:txBody>
                  <a:tcPr>
                    <a:solidFill>
                      <a:srgbClr val="0B2242"/>
                    </a:solidFill>
                  </a:tcPr>
                </a:tc>
                <a:tc>
                  <a:txBody>
                    <a:bodyPr/>
                    <a:lstStyle/>
                    <a:p>
                      <a:pPr rtl="1" algn="ctr"/>
                      <a:r>
                        <a:rPr sz="2000" b="1" lang="ar-MA">
                          <a:solidFill>
                            <a:srgbClr val="FFFFFF"/>
                          </a:solidFill>
                          <a:latin typeface="Cairo"/>
                          <a:cs typeface="Cairo"/>
                        </a:rPr>
                        <a:t>مضمونها</a:t>
                      </a:r>
                    </a:p>
                  </a:txBody>
                  <a:tcPr>
                    <a:solidFill>
                      <a:srgbClr val="0B2242"/>
                    </a:solidFill>
                  </a:tcPr>
                </a:tc>
              </a:tr>
              <a:tr h="457200">
                <a:tc>
                  <a:txBody>
                    <a:bodyPr/>
                    <a:lstStyle/>
                    <a:p>
                      <a:pPr rtl="1" algn="r"/>
                      <a:r>
                        <a:rPr sz="2000" b="1" lang="ar-MA">
                          <a:solidFill>
                            <a:srgbClr val="0B2242"/>
                          </a:solidFill>
                          <a:latin typeface="Cairo"/>
                          <a:cs typeface="Cairo"/>
                        </a:rPr>
                        <a:t>تحولات صراعية</a:t>
                      </a:r>
                    </a:p>
                  </a:txBody>
                  <a:tcPr anchor="ctr">
                    <a:solidFill>
                      <a:srgbClr val="FFFDF6"/>
                    </a:solidFill>
                  </a:tcPr>
                </a:tc>
                <a:tc>
                  <a:txBody>
                    <a:bodyPr/>
                    <a:lstStyle/>
                    <a:p>
                      <a:pPr rtl="1" algn="r"/>
                      <a:r>
                        <a:rPr sz="2000" b="0" lang="ar-MA">
                          <a:solidFill>
                            <a:srgbClr val="222222"/>
                          </a:solidFill>
                          <a:latin typeface="Cairo"/>
                          <a:cs typeface="Cairo"/>
                        </a:rPr>
                        <a:t>أفرزت تنافسا إمبرياليا وحروبا عالمية وأزمات، كما ولدت مقاومات وحركات تحرر.</a:t>
                      </a:r>
                    </a:p>
                  </a:txBody>
                  <a:tcPr anchor="ctr">
                    <a:solidFill>
                      <a:srgbClr val="FFFDF6"/>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wrap="square"/>
          <a:lstStyle/>
          <a:p>
            <a:pPr rtl="1" algn="r">
              <a:buNone/>
              <a:spcAft>
                <a:spcPts val="600"/>
              </a:spcAft>
            </a:pPr>
            <a:r>
              <a:rPr sz="9600" b="0" lang="ar-MA">
                <a:latin typeface="Cairo"/>
                <a:cs typeface="Cairo"/>
              </a:rPr>
              <a:t>4</a:t>
            </a:r>
          </a:p>
        </p:txBody>
      </p:sp>
      <p:sp>
        <p:nvSpPr>
          <p:cNvPr id="3" name="Title 2"/>
          <p:cNvSpPr>
            <a:spLocks noGrp="1"/>
          </p:cNvSpPr>
          <p:nvPr>
            <p:ph type="title" idx="102"/>
          </p:nvPr>
        </p:nvSpPr>
        <p:spPr/>
        <p:txBody>
          <a:bodyPr wrap="square"/>
          <a:lstStyle/>
          <a:p>
            <a:pPr rtl="1" algn="r">
              <a:buNone/>
              <a:spcAft>
                <a:spcPts val="600"/>
              </a:spcAft>
            </a:pPr>
            <a:r>
              <a:rPr sz="3600" b="0" lang="ar-MA">
                <a:latin typeface="Cairo"/>
                <a:cs typeface="Cairo"/>
              </a:rPr>
              <a:t>المحور الرابع: الطرح الإشكالي وأسئلة البرنامج</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المنطق السببي — كيف تسلسلت التحولات؟</a:t>
            </a:r>
          </a:p>
        </p:txBody>
      </p:sp>
      <p:sp>
        <p:nvSpPr>
          <p:cNvPr id="3" name="Text Placeholder 2"/>
          <p:cNvSpPr>
            <a:spLocks noGrp="1"/>
          </p:cNvSpPr>
          <p:nvPr>
            <p:ph type="body" idx="104"/>
          </p:nvPr>
        </p:nvSpPr>
        <p:spPr/>
        <p:txBody>
          <a:bodyPr wrap="square"/>
          <a:lstStyle/>
          <a:p>
            <a:pPr rtl="1" algn="r">
              <a:buNone/>
              <a:spcAft>
                <a:spcPts val="600"/>
              </a:spcAft>
            </a:pPr>
            <a:r>
              <a:rPr sz="2600" b="0" lang="ar-MA">
                <a:latin typeface="Cairo"/>
                <a:cs typeface="Cairo"/>
              </a:rPr>
              <a:t>يمكن تلخيص القرنين 19 و20م في سلسلةٍ سببية واحدة تشرح لماذا ترابطت الأحداث وتسارعت. فقد أدّت الثورة الصناعية إلى ارتفاع هائل في الإنتاج وتراكم الرساميل، وهو ما وَلّد فائضًا في السلع والأموال بحث له أصحابه عن منافذ خارجية.</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المنطق السببي — كيف تسلسلت التحولات؟ (تابع)</a:t>
            </a:r>
          </a:p>
        </p:txBody>
      </p:sp>
      <p:sp>
        <p:nvSpPr>
          <p:cNvPr id="3" name="Text Placeholder 2"/>
          <p:cNvSpPr>
            <a:spLocks noGrp="1"/>
          </p:cNvSpPr>
          <p:nvPr>
            <p:ph type="body" idx="104"/>
          </p:nvPr>
        </p:nvSpPr>
        <p:spPr/>
        <p:txBody>
          <a:bodyPr wrap="square"/>
          <a:lstStyle/>
          <a:p>
            <a:pPr rtl="1" algn="r">
              <a:buNone/>
              <a:spcAft>
                <a:spcPts val="600"/>
              </a:spcAft>
            </a:pPr>
            <a:r>
              <a:rPr sz="2600" b="0" lang="ar-MA">
                <a:latin typeface="Cairo"/>
                <a:cs typeface="Cairo"/>
              </a:rPr>
              <a:t>من هنا وُلد التوسع الإمبريالي بحثًا عن المواد الأولية والأسواق ومجالات الاستثمار، فاشتدّ التنافس بين القوى الصناعية على تقاسم العالم. وحين بلغ هذا التنافس ذروته تحوّل إلى صراعٍ مسلح، فكانت الحرب العالمية الأولى (1914م)، ثم الأزمة الاقتصادية (1929م)، فالحرب العالمية الثانية (1939م).</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المنطق السببي — كيف تسلسلت التحولات؟ (تابع)</a:t>
            </a:r>
          </a:p>
        </p:txBody>
      </p:sp>
      <p:sp>
        <p:nvSpPr>
          <p:cNvPr id="3" name="Text Placeholder 2"/>
          <p:cNvSpPr>
            <a:spLocks noGrp="1"/>
          </p:cNvSpPr>
          <p:nvPr>
            <p:ph type="body" idx="104"/>
          </p:nvPr>
        </p:nvSpPr>
        <p:spPr/>
        <p:txBody>
          <a:bodyPr wrap="square"/>
          <a:lstStyle/>
          <a:p>
            <a:pPr rtl="1" algn="r">
              <a:buNone/>
              <a:spcAft>
                <a:spcPts val="600"/>
              </a:spcAft>
            </a:pPr>
            <a:r>
              <a:rPr sz="2600" b="0" lang="ar-MA">
                <a:latin typeface="Cairo"/>
                <a:cs typeface="Cairo"/>
              </a:rPr>
              <a:t>وقد خلّفت هذه الصراعات نتيجتين متناقضتين: إعادة تشكيل موازين القوى الدولية (صعود الولايات المتحدة والاتحاد السوفياتي)، وفي الوقت نفسه تفجّر وعيٍ تحرري لدى الشعوب المستعمَرة أفضى إلى موجة الاستقلالات بعد 1945م، ومنها استقلال المغرب سنة 1956م.</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المنطق السببي — كيف تسلسلت التحولات؟ (تابع)</a:t>
            </a:r>
          </a:p>
        </p:txBody>
      </p:sp>
      <p:sp>
        <p:nvSpPr>
          <p:cNvPr id="3" name="Text Placeholder 2"/>
          <p:cNvSpPr>
            <a:spLocks noGrp="1"/>
          </p:cNvSpPr>
          <p:nvPr>
            <p:ph type="body" idx="104"/>
          </p:nvPr>
        </p:nvSpPr>
        <p:spPr/>
        <p:txBody>
          <a:bodyPr wrap="square"/>
          <a:lstStyle/>
          <a:p>
            <a:pPr rtl="1" algn="r">
              <a:buNone/>
              <a:spcAft>
                <a:spcPts val="600"/>
              </a:spcAft>
            </a:pPr>
            <a:r>
              <a:rPr sz="2600" b="0" lang="ar-MA">
                <a:latin typeface="Cairo"/>
                <a:cs typeface="Cairo"/>
              </a:rPr>
              <a:t>خلاصة رابطة: الاقتصاد هو المحرك الخفي للسياسة والحروب في هذين القرنين: فائض الإنتاج والرساميل هو الذي دفع نحو الإمبريالية، والإمبريالية هي التي مهّدت للحروب، والحروب هي التي فتحت الباب أمام التحرر. احتفظ بهذه السلسلة فهي تفسّر ترتيب دروس المقرر.</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الطرح الإشكالي وأسئلة البرنامج</a:t>
            </a:r>
          </a:p>
        </p:txBody>
      </p:sp>
      <p:sp>
        <p:nvSpPr>
          <p:cNvPr id="3" name="Text Placeholder 2"/>
          <p:cNvSpPr>
            <a:spLocks noGrp="1"/>
          </p:cNvSpPr>
          <p:nvPr>
            <p:ph type="body" idx="104"/>
          </p:nvPr>
        </p:nvSpPr>
        <p:spPr/>
        <p:txBody>
          <a:bodyPr wrap="square"/>
          <a:lstStyle/>
          <a:p>
            <a:pPr rtl="1" algn="r">
              <a:buNone/>
              <a:spcAft>
                <a:spcPts val="600"/>
              </a:spcAft>
            </a:pPr>
            <a:r>
              <a:rPr sz="2600" b="0" lang="ar-MA">
                <a:latin typeface="Cairo"/>
                <a:cs typeface="Cairo"/>
              </a:rPr>
              <a:t>• ما مظاهر التحول الاقتصادي والاجتماعي والفكري والسياسي في العالم الرأسمالي خلال القرن التاسع عشر؟</a:t>
            </a:r>
          </a:p>
          <a:p>
            <a:pPr rtl="1" algn="r">
              <a:buNone/>
              <a:spcAft>
                <a:spcPts val="600"/>
              </a:spcAft>
            </a:pPr>
            <a:r>
              <a:rPr sz="2600" b="0" lang="ar-MA">
                <a:latin typeface="Cairo"/>
                <a:cs typeface="Cairo"/>
              </a:rPr>
              <a:t>• كيف أدى تطور الرأسمالية وتراكم الرساميل إلى اشتداد التنافس الإمبريالي وإلى اندلاع الحروب والأزمات؟</a:t>
            </a:r>
          </a:p>
          <a:p>
            <a:pPr rtl="1" algn="r">
              <a:buNone/>
              <a:spcAft>
                <a:spcPts val="600"/>
              </a:spcAft>
            </a:pPr>
            <a:r>
              <a:rPr sz="2600" b="0" lang="ar-MA">
                <a:latin typeface="Cairo"/>
                <a:cs typeface="Cairo"/>
              </a:rPr>
              <a:t>• ما أبرز التحولات التي عرفها العالم خلال القرن العشرين على مستوى موازين القوى؟</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الطرح الإشكالي وأسئلة البرنامج (تابع)</a:t>
            </a:r>
          </a:p>
        </p:txBody>
      </p:sp>
      <p:sp>
        <p:nvSpPr>
          <p:cNvPr id="3" name="Text Placeholder 2"/>
          <p:cNvSpPr>
            <a:spLocks noGrp="1"/>
          </p:cNvSpPr>
          <p:nvPr>
            <p:ph type="body" idx="104"/>
          </p:nvPr>
        </p:nvSpPr>
        <p:spPr/>
        <p:txBody>
          <a:bodyPr wrap="square"/>
          <a:lstStyle/>
          <a:p>
            <a:pPr rtl="1" algn="r">
              <a:buNone/>
              <a:spcAft>
                <a:spcPts val="600"/>
              </a:spcAft>
            </a:pPr>
            <a:r>
              <a:rPr sz="2600" b="0" lang="ar-MA">
                <a:latin typeface="Cairo"/>
                <a:cs typeface="Cairo"/>
              </a:rPr>
              <a:t>• كيف تفاعل المشرق العربي والمغرب مع الضغوط الاستعمارية والتحولات الدولية؟</a:t>
            </a:r>
          </a:p>
          <a:p>
            <a:pPr rtl="1" algn="r">
              <a:buNone/>
              <a:spcAft>
                <a:spcPts val="600"/>
              </a:spcAft>
            </a:pPr>
            <a:r>
              <a:rPr sz="2600" b="0" lang="ar-MA">
                <a:latin typeface="Cairo"/>
                <a:cs typeface="Cairo"/>
              </a:rPr>
              <a:t>• ما أشكال المقاومة والتحرر التي أفضت إلى الاستقلال وبناء الدولة الوطنية؟</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1" lang="ar-MA">
                <a:solidFill>
                  <a:srgbClr val="0B2242"/>
                </a:solidFill>
                <a:latin typeface="Cairo"/>
                <a:cs typeface="Cairo"/>
              </a:rPr>
              <a:t>4- الطرح الإشكالي وأسئلة البرنامج</a:t>
            </a:r>
          </a:p>
          <a:p>
            <a:pPr rtl="1" algn="r">
              <a:buNone/>
              <a:spcAft>
                <a:spcPts val="600"/>
              </a:spcAft>
            </a:pPr>
            <a:r>
              <a:rPr sz="2600" b="0" lang="ar-MA">
                <a:latin typeface="Cairo"/>
                <a:cs typeface="Cairo"/>
              </a:rPr>
              <a:t>• ما مظاهر التحول الاقتصادي والاجتماعي والفكري والسياسي في العالم الرأسمالي خلال القرن التاسع عشر؟</a:t>
            </a:r>
          </a:p>
          <a:p>
            <a:pPr rtl="1" algn="r">
              <a:buNone/>
              <a:spcAft>
                <a:spcPts val="600"/>
              </a:spcAft>
            </a:pPr>
            <a:r>
              <a:rPr sz="2600" b="0" lang="ar-MA">
                <a:latin typeface="Cairo"/>
                <a:cs typeface="Cairo"/>
              </a:rPr>
              <a:t>• كيف أدى تطور الرأسمالية إلى اشتداد التنافس الإمبريالي وإلى اندلاع الحروب والأزمات؟</a:t>
            </a:r>
          </a:p>
          <a:p>
            <a:pPr rtl="1" algn="r">
              <a:buNone/>
              <a:spcAft>
                <a:spcPts val="600"/>
              </a:spcAft>
            </a:pPr>
            <a:r>
              <a:rPr sz="2600" b="0" lang="ar-MA">
                <a:latin typeface="Cairo"/>
                <a:cs typeface="Cairo"/>
              </a:rPr>
              <a:t>• ما أبرز التحولات التي عرفها العالم خلال القرن العشرين؟</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 كيف تفاعل المشرق العربي والمغرب مع الضغوط الاستعمارية والتحولات الدولية؟</a:t>
            </a:r>
          </a:p>
          <a:p>
            <a:pPr rtl="1" algn="r">
              <a:buNone/>
              <a:spcAft>
                <a:spcPts val="600"/>
              </a:spcAft>
            </a:pPr>
            <a:r>
              <a:rPr sz="2600" b="0" lang="ar-MA">
                <a:latin typeface="Cairo"/>
                <a:cs typeface="Cairo"/>
              </a:rPr>
              <a:t>• ما أشكال المقاومة والتحرر التي أفضت إلى الاستقلال وبناء الدولة الوطنية؟</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wrap="square"/>
          <a:lstStyle/>
          <a:p>
            <a:pPr rtl="1" algn="r">
              <a:buNone/>
              <a:spcAft>
                <a:spcPts val="600"/>
              </a:spcAft>
            </a:pPr>
            <a:r>
              <a:rPr sz="9600" b="0" lang="ar-MA">
                <a:latin typeface="Cairo"/>
                <a:cs typeface="Cairo"/>
              </a:rPr>
              <a:t>5</a:t>
            </a:r>
          </a:p>
        </p:txBody>
      </p:sp>
      <p:sp>
        <p:nvSpPr>
          <p:cNvPr id="3" name="Title 2"/>
          <p:cNvSpPr>
            <a:spLocks noGrp="1"/>
          </p:cNvSpPr>
          <p:nvPr>
            <p:ph type="title" idx="102"/>
          </p:nvPr>
        </p:nvSpPr>
        <p:spPr/>
        <p:txBody>
          <a:bodyPr wrap="square"/>
          <a:lstStyle/>
          <a:p>
            <a:pPr rtl="1" algn="r">
              <a:buNone/>
              <a:spcAft>
                <a:spcPts val="600"/>
              </a:spcAft>
            </a:pPr>
            <a:r>
              <a:rPr sz="4000" b="0" lang="ar-MA">
                <a:latin typeface="Cairo"/>
                <a:cs typeface="Cairo"/>
              </a:rPr>
              <a:t>المحور الخامس: مفاهيم أساسية</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مفاهيم أساسية</a:t>
            </a:r>
          </a:p>
        </p:txBody>
      </p:sp>
      <p:sp>
        <p:nvSpPr>
          <p:cNvPr id="3" name="Text Placeholder 2"/>
          <p:cNvSpPr>
            <a:spLocks noGrp="1"/>
          </p:cNvSpPr>
          <p:nvPr>
            <p:ph type="body" idx="104"/>
          </p:nvPr>
        </p:nvSpPr>
        <p:spPr/>
        <p:txBody>
          <a:bodyPr wrap="square"/>
          <a:lstStyle/>
          <a:p>
            <a:pPr rtl="1" algn="r">
              <a:buNone/>
              <a:spcAft>
                <a:spcPts val="600"/>
              </a:spcAft>
            </a:pPr>
            <a:r>
              <a:rPr sz="2600" b="1" lang="ar-MA">
                <a:solidFill>
                  <a:srgbClr val="0B2242"/>
                </a:solidFill>
                <a:latin typeface="Cairo"/>
                <a:cs typeface="Cairo"/>
              </a:rPr>
              <a:t>• الثورة الصناعية:</a:t>
            </a:r>
            <a:r>
              <a:rPr sz="2600" b="0" lang="ar-MA">
                <a:latin typeface="Cairo"/>
                <a:cs typeface="Cairo"/>
              </a:rPr>
              <a:t> تحول جذري في الإنتاج بفعل الآلة والطاقة الجديدة وظهور المصنع وتطور النقل والمواصلات، انطلق من بريطانيا منتصف ق18م.</a:t>
            </a:r>
          </a:p>
          <a:p>
            <a:pPr rtl="1" algn="r">
              <a:buNone/>
              <a:spcAft>
                <a:spcPts val="600"/>
              </a:spcAft>
            </a:pPr>
            <a:r>
              <a:rPr sz="2600" b="1" lang="ar-MA">
                <a:solidFill>
                  <a:srgbClr val="0B2242"/>
                </a:solidFill>
                <a:latin typeface="Cairo"/>
                <a:cs typeface="Cairo"/>
              </a:rPr>
              <a:t>• الرأسمالية:</a:t>
            </a:r>
            <a:r>
              <a:rPr sz="2600" b="0" lang="ar-MA">
                <a:latin typeface="Cairo"/>
                <a:cs typeface="Cairo"/>
              </a:rPr>
              <a:t> نظام اقتصادي يقوم على الملكية الخاصة لوسائل الإنتاج وحرية المبادرة والمنافسة والسعي إلى تحقيق الربح وتراكمه.</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مفاهيم أساسية (تابع)</a:t>
            </a:r>
          </a:p>
        </p:txBody>
      </p:sp>
      <p:sp>
        <p:nvSpPr>
          <p:cNvPr id="3" name="Text Placeholder 2"/>
          <p:cNvSpPr>
            <a:spLocks noGrp="1"/>
          </p:cNvSpPr>
          <p:nvPr>
            <p:ph type="body" idx="104"/>
          </p:nvPr>
        </p:nvSpPr>
        <p:spPr/>
        <p:txBody>
          <a:bodyPr wrap="square"/>
          <a:lstStyle/>
          <a:p>
            <a:pPr rtl="1" algn="r">
              <a:buNone/>
              <a:spcAft>
                <a:spcPts val="600"/>
              </a:spcAft>
            </a:pPr>
            <a:r>
              <a:rPr sz="2600" b="1" lang="ar-MA">
                <a:solidFill>
                  <a:srgbClr val="0B2242"/>
                </a:solidFill>
                <a:latin typeface="Cairo"/>
                <a:cs typeface="Cairo"/>
              </a:rPr>
              <a:t>• البرجوازية:</a:t>
            </a:r>
            <a:r>
              <a:rPr sz="2600" b="0" lang="ar-MA">
                <a:latin typeface="Cairo"/>
                <a:cs typeface="Cairo"/>
              </a:rPr>
              <a:t> الطبقة التي تمتلك وسائل الإنتاج ورؤوس الأموال (أرباب المصانع والبنوك والتجارة الكبرى)، وقد صارت الطبقة المهيمنة اقتصاديًا وسياسيًا.</a:t>
            </a:r>
          </a:p>
          <a:p>
            <a:pPr rtl="1" algn="r">
              <a:buNone/>
              <a:spcAft>
                <a:spcPts val="600"/>
              </a:spcAft>
            </a:pPr>
            <a:r>
              <a:rPr sz="2600" b="1" lang="ar-MA">
                <a:solidFill>
                  <a:srgbClr val="0B2242"/>
                </a:solidFill>
                <a:latin typeface="Cairo"/>
                <a:cs typeface="Cairo"/>
              </a:rPr>
              <a:t>• البروليتاريا:</a:t>
            </a:r>
            <a:r>
              <a:rPr sz="2600" b="0" lang="ar-MA">
                <a:latin typeface="Cairo"/>
                <a:cs typeface="Cairo"/>
              </a:rPr>
              <a:t> الطبقة العاملة التي لا تملك سوى قوة عملها، عاشت أوضاعًا اجتماعية قاسية مقابل أجور زهيدة، فكانت وقود الحركات العمالية.</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مفاهيم أساسية (تابع)</a:t>
            </a:r>
          </a:p>
        </p:txBody>
      </p:sp>
      <p:sp>
        <p:nvSpPr>
          <p:cNvPr id="3" name="Text Placeholder 2"/>
          <p:cNvSpPr>
            <a:spLocks noGrp="1"/>
          </p:cNvSpPr>
          <p:nvPr>
            <p:ph type="body" idx="104"/>
          </p:nvPr>
        </p:nvSpPr>
        <p:spPr/>
        <p:txBody>
          <a:bodyPr wrap="square"/>
          <a:lstStyle/>
          <a:p>
            <a:pPr rtl="1" algn="r">
              <a:buNone/>
              <a:spcAft>
                <a:spcPts val="600"/>
              </a:spcAft>
            </a:pPr>
            <a:r>
              <a:rPr sz="2600" b="1" lang="ar-MA">
                <a:solidFill>
                  <a:srgbClr val="0B2242"/>
                </a:solidFill>
                <a:latin typeface="Cairo"/>
                <a:cs typeface="Cairo"/>
              </a:rPr>
              <a:t>• الإمبريالية:</a:t>
            </a:r>
            <a:r>
              <a:rPr sz="2600" b="0" lang="ar-MA">
                <a:latin typeface="Cairo"/>
                <a:cs typeface="Cairo"/>
              </a:rPr>
              <a:t> سياسة توسع وهيمنة تنهجها الدول الرأسمالية للسيطرة على الأسواق والمواد الأولية ومجالات النفوذ والاستثمار خارج حدودها.</a:t>
            </a:r>
          </a:p>
          <a:p>
            <a:pPr rtl="1" algn="r">
              <a:buNone/>
              <a:spcAft>
                <a:spcPts val="600"/>
              </a:spcAft>
            </a:pPr>
            <a:r>
              <a:rPr sz="2600" b="1" lang="ar-MA">
                <a:solidFill>
                  <a:srgbClr val="0B2242"/>
                </a:solidFill>
                <a:latin typeface="Cairo"/>
                <a:cs typeface="Cairo"/>
              </a:rPr>
              <a:t>• الاستعمار:</a:t>
            </a:r>
            <a:r>
              <a:rPr sz="2600" b="0" lang="ar-MA">
                <a:latin typeface="Cairo"/>
                <a:cs typeface="Cairo"/>
              </a:rPr>
              <a:t> سيطرة دولة قوية على بلد آخر واستغلال موارده وإخضاع سكانه، سواء بشكل مباشر أو غير مباشر.</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مفاهيم أساسية (تابع)</a:t>
            </a:r>
          </a:p>
        </p:txBody>
      </p:sp>
      <p:sp>
        <p:nvSpPr>
          <p:cNvPr id="3" name="Text Placeholder 2"/>
          <p:cNvSpPr>
            <a:spLocks noGrp="1"/>
          </p:cNvSpPr>
          <p:nvPr>
            <p:ph type="body" idx="104"/>
          </p:nvPr>
        </p:nvSpPr>
        <p:spPr/>
        <p:txBody>
          <a:bodyPr wrap="square"/>
          <a:lstStyle/>
          <a:p>
            <a:pPr rtl="1" algn="r">
              <a:buNone/>
              <a:spcAft>
                <a:spcPts val="600"/>
              </a:spcAft>
            </a:pPr>
            <a:r>
              <a:rPr sz="2600" b="1" lang="ar-MA">
                <a:solidFill>
                  <a:srgbClr val="0B2242"/>
                </a:solidFill>
                <a:latin typeface="Cairo"/>
                <a:cs typeface="Cairo"/>
              </a:rPr>
              <a:t>• الاشتراكية:</a:t>
            </a:r>
            <a:r>
              <a:rPr sz="2600" b="0" lang="ar-MA">
                <a:latin typeface="Cairo"/>
                <a:cs typeface="Cairo"/>
              </a:rPr>
              <a:t> تيار فكري وسياسي ينتقد الاستغلال الرأسمالي ويدعو إلى العدالة الاجتماعية والملكية الجماعية لوسائل الإنتاج، وأبرز صيغه الاشتراكية العلمية (الماركسية).</a:t>
            </a:r>
          </a:p>
          <a:p>
            <a:pPr rtl="1" algn="r">
              <a:buNone/>
              <a:spcAft>
                <a:spcPts val="600"/>
              </a:spcAft>
            </a:pPr>
            <a:r>
              <a:rPr sz="2600" b="1" lang="ar-MA">
                <a:solidFill>
                  <a:srgbClr val="0B2242"/>
                </a:solidFill>
                <a:latin typeface="Cairo"/>
                <a:cs typeface="Cairo"/>
              </a:rPr>
              <a:t>• التبعية:</a:t>
            </a:r>
            <a:r>
              <a:rPr sz="2600" b="0" lang="ar-MA">
                <a:latin typeface="Cairo"/>
                <a:cs typeface="Cairo"/>
              </a:rPr>
              <a:t> علاقة عدم تكافؤ تجعل اقتصاد بلدٍ ما خاضعًا لاقتصاد القوى الكبرى، فيصدّر المواد الأولية ويستورد المصنّعات ويرتهن قراره.</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مفاهيم أساسية (تابع)</a:t>
            </a:r>
          </a:p>
        </p:txBody>
      </p:sp>
      <p:sp>
        <p:nvSpPr>
          <p:cNvPr id="3" name="Text Placeholder 2"/>
          <p:cNvSpPr>
            <a:spLocks noGrp="1"/>
          </p:cNvSpPr>
          <p:nvPr>
            <p:ph type="body" idx="104"/>
          </p:nvPr>
        </p:nvSpPr>
        <p:spPr/>
        <p:txBody>
          <a:bodyPr wrap="square"/>
          <a:lstStyle/>
          <a:p>
            <a:pPr rtl="1" algn="r">
              <a:buNone/>
              <a:spcAft>
                <a:spcPts val="600"/>
              </a:spcAft>
            </a:pPr>
            <a:r>
              <a:rPr sz="2600" b="1" lang="ar-MA">
                <a:solidFill>
                  <a:srgbClr val="0B2242"/>
                </a:solidFill>
                <a:latin typeface="Cairo"/>
                <a:cs typeface="Cairo"/>
              </a:rPr>
              <a:t>• النهضة العربية:</a:t>
            </a:r>
            <a:r>
              <a:rPr sz="2600" b="0" lang="ar-MA">
                <a:latin typeface="Cairo"/>
                <a:cs typeface="Cairo"/>
              </a:rPr>
              <a:t> حركة فكرية وإصلاحية عرفها المشرق العربي في ق19م، سعت إلى إحياء الثقافة العربية ومواجهة التخلف والهيمنة الأجنبية.</a:t>
            </a:r>
          </a:p>
          <a:p>
            <a:pPr rtl="1" algn="r">
              <a:buNone/>
              <a:spcAft>
                <a:spcPts val="600"/>
              </a:spcAft>
            </a:pPr>
            <a:r>
              <a:rPr sz="2600" b="1" lang="ar-MA">
                <a:solidFill>
                  <a:srgbClr val="0B2242"/>
                </a:solidFill>
                <a:latin typeface="Cairo"/>
                <a:cs typeface="Cairo"/>
              </a:rPr>
              <a:t>• الحماية:</a:t>
            </a:r>
            <a:r>
              <a:rPr sz="2600" b="0" lang="ar-MA">
                <a:latin typeface="Cairo"/>
                <a:cs typeface="Cairo"/>
              </a:rPr>
              <a:t> نظام استعماري غير مباشر يبقي مؤسسات الدولة شكليًا مع نقل السلطة الفعلية إلى الدولة الحامية، وقد فُرض على المغرب سنة 1912م.</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مفاهيم أساسية (تابع)</a:t>
            </a:r>
          </a:p>
        </p:txBody>
      </p:sp>
      <p:sp>
        <p:nvSpPr>
          <p:cNvPr id="3" name="Text Placeholder 2"/>
          <p:cNvSpPr>
            <a:spLocks noGrp="1"/>
          </p:cNvSpPr>
          <p:nvPr>
            <p:ph type="body" idx="104"/>
          </p:nvPr>
        </p:nvSpPr>
        <p:spPr/>
        <p:txBody>
          <a:bodyPr wrap="square"/>
          <a:lstStyle/>
          <a:p>
            <a:pPr rtl="1" algn="r">
              <a:buNone/>
              <a:spcAft>
                <a:spcPts val="600"/>
              </a:spcAft>
            </a:pPr>
            <a:r>
              <a:rPr sz="2600" b="1" lang="ar-MA">
                <a:solidFill>
                  <a:srgbClr val="0B2242"/>
                </a:solidFill>
                <a:latin typeface="Cairo"/>
                <a:cs typeface="Cairo"/>
              </a:rPr>
              <a:t>• الثنائية القطبية:</a:t>
            </a:r>
            <a:r>
              <a:rPr sz="2600" b="0" lang="ar-MA">
                <a:latin typeface="Cairo"/>
                <a:cs typeface="Cairo"/>
              </a:rPr>
              <a:t> انقسام العالم بعد سنة 1945م إلى معسكر غربي رأسمالي بزعامة الولايات المتحدة وآخر شرقي اشتراكي بزعامة الاتحاد السوفياتي.</a:t>
            </a:r>
          </a:p>
          <a:p>
            <a:pPr rtl="1" algn="r">
              <a:buNone/>
              <a:spcAft>
                <a:spcPts val="600"/>
              </a:spcAft>
            </a:pPr>
            <a:r>
              <a:rPr sz="2600" b="1" lang="ar-MA">
                <a:solidFill>
                  <a:srgbClr val="0B2242"/>
                </a:solidFill>
                <a:latin typeface="Cairo"/>
                <a:cs typeface="Cairo"/>
              </a:rPr>
              <a:t>• حركات التحرر:</a:t>
            </a:r>
            <a:r>
              <a:rPr sz="2600" b="0" lang="ar-MA">
                <a:latin typeface="Cairo"/>
                <a:cs typeface="Cairo"/>
              </a:rPr>
              <a:t> نضالات سياسية ومسلحة خاضتها الشعوب المستعمَرة من أجل نيل الاستقلال واسترجاع السيادة الوطنية بعد الحرب العالمية الثانية.</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a:xfrm>
            <a:off x="548640" y="1188720"/>
            <a:ext cx="7772400" cy="502920"/>
          </a:xfrm>
        </p:spPr>
        <p:txBody>
          <a:bodyPr wrap="square"/>
          <a:lstStyle/>
          <a:p>
            <a:pPr rtl="1" algn="r">
              <a:buNone/>
              <a:spcAft>
                <a:spcPts val="600"/>
              </a:spcAft>
            </a:pPr>
            <a:r>
              <a:rPr sz="2200" b="1" lang="ar-MA">
                <a:solidFill>
                  <a:srgbClr val="0B2242"/>
                </a:solidFill>
                <a:latin typeface="Cairo"/>
                <a:cs typeface="Cairo"/>
              </a:rPr>
              <a:t>5- مفاهيم أساسية</a:t>
            </a:r>
          </a:p>
        </p:txBody>
      </p:sp>
      <p:graphicFrame>
        <p:nvGraphicFramePr>
          <p:cNvPr id="3" name="Table 2"/>
          <p:cNvGraphicFramePr>
            <a:graphicFrameLocks noGrp="1"/>
          </p:cNvGraphicFramePr>
          <p:nvPr/>
        </p:nvGraphicFramePr>
        <p:xfrm>
          <a:off x="548640" y="1737360"/>
          <a:ext cx="7772400" cy="1828800"/>
        </p:xfrm>
        <a:graphic>
          <a:graphicData uri="http://schemas.openxmlformats.org/drawingml/2006/table">
            <a:tbl>
              <a:tblPr firstRow="1" bandRow="1" rtl="1">
                <a:tableStyleId>{5C22544A-7EE6-4342-B048-85BDC9FD1C3A}</a:tableStyleId>
              </a:tblPr>
              <a:tblGrid>
                <a:gridCol w="2176272"/>
                <a:gridCol w="5596128"/>
              </a:tblGrid>
              <a:tr h="457200">
                <a:tc>
                  <a:txBody>
                    <a:bodyPr/>
                    <a:lstStyle/>
                    <a:p>
                      <a:pPr rtl="1" algn="ctr"/>
                      <a:r>
                        <a:rPr sz="2000" b="1" lang="ar-MA">
                          <a:solidFill>
                            <a:srgbClr val="FFFFFF"/>
                          </a:solidFill>
                          <a:latin typeface="Cairo"/>
                          <a:cs typeface="Cairo"/>
                        </a:rPr>
                        <a:t>المفهوم</a:t>
                      </a:r>
                    </a:p>
                  </a:txBody>
                  <a:tcPr>
                    <a:solidFill>
                      <a:srgbClr val="0B2242"/>
                    </a:solidFill>
                  </a:tcPr>
                </a:tc>
                <a:tc>
                  <a:txBody>
                    <a:bodyPr/>
                    <a:lstStyle/>
                    <a:p>
                      <a:pPr rtl="1" algn="ctr"/>
                      <a:r>
                        <a:rPr sz="2000" b="1" lang="ar-MA">
                          <a:solidFill>
                            <a:srgbClr val="FFFFFF"/>
                          </a:solidFill>
                          <a:latin typeface="Cairo"/>
                          <a:cs typeface="Cairo"/>
                        </a:rPr>
                        <a:t>التعريف</a:t>
                      </a:r>
                    </a:p>
                  </a:txBody>
                  <a:tcPr>
                    <a:solidFill>
                      <a:srgbClr val="0B2242"/>
                    </a:solidFill>
                  </a:tcPr>
                </a:tc>
              </a:tr>
              <a:tr h="457200">
                <a:tc>
                  <a:txBody>
                    <a:bodyPr/>
                    <a:lstStyle/>
                    <a:p>
                      <a:pPr rtl="1" algn="r"/>
                      <a:r>
                        <a:rPr sz="2000" b="1" lang="ar-MA">
                          <a:solidFill>
                            <a:srgbClr val="0B2242"/>
                          </a:solidFill>
                          <a:latin typeface="Cairo"/>
                          <a:cs typeface="Cairo"/>
                        </a:rPr>
                        <a:t>الثورة الصناعية</a:t>
                      </a:r>
                    </a:p>
                  </a:txBody>
                  <a:tcPr anchor="ctr">
                    <a:solidFill>
                      <a:srgbClr val="FFFDF6"/>
                    </a:solidFill>
                  </a:tcPr>
                </a:tc>
                <a:tc>
                  <a:txBody>
                    <a:bodyPr/>
                    <a:lstStyle/>
                    <a:p>
                      <a:pPr rtl="1" algn="r"/>
                      <a:r>
                        <a:rPr sz="2000" b="0" lang="ar-MA">
                          <a:solidFill>
                            <a:srgbClr val="222222"/>
                          </a:solidFill>
                          <a:latin typeface="Cairo"/>
                          <a:cs typeface="Cairo"/>
                        </a:rPr>
                        <a:t>تحول جذري في الإنتاج بفعل الآلة والطاقة وظهور المصنع وتطور النقل.</a:t>
                      </a:r>
                    </a:p>
                  </a:txBody>
                  <a:tcPr anchor="ctr">
                    <a:solidFill>
                      <a:srgbClr val="FFFDF6"/>
                    </a:solidFill>
                  </a:tcPr>
                </a:tc>
              </a:tr>
              <a:tr h="457200">
                <a:tc>
                  <a:txBody>
                    <a:bodyPr/>
                    <a:lstStyle/>
                    <a:p>
                      <a:pPr rtl="1" algn="r"/>
                      <a:r>
                        <a:rPr sz="2000" b="1" lang="ar-MA">
                          <a:solidFill>
                            <a:srgbClr val="0B2242"/>
                          </a:solidFill>
                          <a:latin typeface="Cairo"/>
                          <a:cs typeface="Cairo"/>
                        </a:rPr>
                        <a:t>الرأسمالية</a:t>
                      </a:r>
                    </a:p>
                  </a:txBody>
                  <a:tcPr anchor="ctr">
                    <a:solidFill>
                      <a:srgbClr val="F6EED8"/>
                    </a:solidFill>
                  </a:tcPr>
                </a:tc>
                <a:tc>
                  <a:txBody>
                    <a:bodyPr/>
                    <a:lstStyle/>
                    <a:p>
                      <a:pPr rtl="1" algn="r"/>
                      <a:r>
                        <a:rPr sz="2000" b="0" lang="ar-MA">
                          <a:solidFill>
                            <a:srgbClr val="222222"/>
                          </a:solidFill>
                          <a:latin typeface="Cairo"/>
                          <a:cs typeface="Cairo"/>
                        </a:rPr>
                        <a:t>نظام اقتصادي يقوم على الملكية الخاصة لوسائل الإنتاج وحرية المبادرة والسعي إلى الربح.</a:t>
                      </a:r>
                    </a:p>
                  </a:txBody>
                  <a:tcPr anchor="ctr">
                    <a:solidFill>
                      <a:srgbClr val="F6EED8"/>
                    </a:solidFill>
                  </a:tcPr>
                </a:tc>
              </a:tr>
              <a:tr h="457200">
                <a:tc>
                  <a:txBody>
                    <a:bodyPr/>
                    <a:lstStyle/>
                    <a:p>
                      <a:pPr rtl="1" algn="r"/>
                      <a:r>
                        <a:rPr sz="2000" b="1" lang="ar-MA">
                          <a:solidFill>
                            <a:srgbClr val="0B2242"/>
                          </a:solidFill>
                          <a:latin typeface="Cairo"/>
                          <a:cs typeface="Cairo"/>
                        </a:rPr>
                        <a:t>الإمبريالية</a:t>
                      </a:r>
                    </a:p>
                  </a:txBody>
                  <a:tcPr anchor="ctr">
                    <a:solidFill>
                      <a:srgbClr val="FFFDF6"/>
                    </a:solidFill>
                  </a:tcPr>
                </a:tc>
                <a:tc>
                  <a:txBody>
                    <a:bodyPr/>
                    <a:lstStyle/>
                    <a:p>
                      <a:pPr rtl="1" algn="r"/>
                      <a:r>
                        <a:rPr sz="2000" b="0" lang="ar-MA">
                          <a:solidFill>
                            <a:srgbClr val="222222"/>
                          </a:solidFill>
                          <a:latin typeface="Cairo"/>
                          <a:cs typeface="Cairo"/>
                        </a:rPr>
                        <a:t>سياسة توسع وهيمنة للسيطرة على الأسواق والمواد الأولية ومجالات النفوذ.</a:t>
                      </a:r>
                    </a:p>
                  </a:txBody>
                  <a:tcPr anchor="ctr">
                    <a:solidFill>
                      <a:srgbClr val="FFFDF6"/>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a:xfrm>
            <a:off x="548640" y="1188720"/>
            <a:ext cx="7772400" cy="502920"/>
          </a:xfrm>
        </p:spPr>
        <p:txBody>
          <a:bodyPr wrap="square"/>
          <a:lstStyle/>
          <a:p>
            <a:pPr rtl="1" algn="r">
              <a:buNone/>
              <a:spcAft>
                <a:spcPts val="600"/>
              </a:spcAft>
            </a:pPr>
            <a:r>
              <a:rPr sz="2200" b="1" lang="ar-MA">
                <a:solidFill>
                  <a:srgbClr val="0B2242"/>
                </a:solidFill>
                <a:latin typeface="Cairo"/>
                <a:cs typeface="Cairo"/>
              </a:rPr>
              <a:t>5- مفاهيم أساسية (تابع)</a:t>
            </a:r>
          </a:p>
        </p:txBody>
      </p:sp>
      <p:graphicFrame>
        <p:nvGraphicFramePr>
          <p:cNvPr id="3" name="Table 2"/>
          <p:cNvGraphicFramePr>
            <a:graphicFrameLocks noGrp="1"/>
          </p:cNvGraphicFramePr>
          <p:nvPr/>
        </p:nvGraphicFramePr>
        <p:xfrm>
          <a:off x="548640" y="1737360"/>
          <a:ext cx="7772400" cy="1828800"/>
        </p:xfrm>
        <a:graphic>
          <a:graphicData uri="http://schemas.openxmlformats.org/drawingml/2006/table">
            <a:tbl>
              <a:tblPr firstRow="1" bandRow="1" rtl="1">
                <a:tableStyleId>{5C22544A-7EE6-4342-B048-85BDC9FD1C3A}</a:tableStyleId>
              </a:tblPr>
              <a:tblGrid>
                <a:gridCol w="2176272"/>
                <a:gridCol w="5596128"/>
              </a:tblGrid>
              <a:tr h="457200">
                <a:tc>
                  <a:txBody>
                    <a:bodyPr/>
                    <a:lstStyle/>
                    <a:p>
                      <a:pPr rtl="1" algn="ctr"/>
                      <a:r>
                        <a:rPr sz="2200" b="1" lang="ar-MA">
                          <a:solidFill>
                            <a:srgbClr val="FFFFFF"/>
                          </a:solidFill>
                          <a:latin typeface="Cairo"/>
                          <a:cs typeface="Cairo"/>
                        </a:rPr>
                        <a:t>المفهوم</a:t>
                      </a:r>
                    </a:p>
                  </a:txBody>
                  <a:tcPr>
                    <a:solidFill>
                      <a:srgbClr val="0B2242"/>
                    </a:solidFill>
                  </a:tcPr>
                </a:tc>
                <a:tc>
                  <a:txBody>
                    <a:bodyPr/>
                    <a:lstStyle/>
                    <a:p>
                      <a:pPr rtl="1" algn="ctr"/>
                      <a:r>
                        <a:rPr sz="2200" b="1" lang="ar-MA">
                          <a:solidFill>
                            <a:srgbClr val="FFFFFF"/>
                          </a:solidFill>
                          <a:latin typeface="Cairo"/>
                          <a:cs typeface="Cairo"/>
                        </a:rPr>
                        <a:t>التعريف</a:t>
                      </a:r>
                    </a:p>
                  </a:txBody>
                  <a:tcPr>
                    <a:solidFill>
                      <a:srgbClr val="0B2242"/>
                    </a:solidFill>
                  </a:tcPr>
                </a:tc>
              </a:tr>
              <a:tr h="457200">
                <a:tc>
                  <a:txBody>
                    <a:bodyPr/>
                    <a:lstStyle/>
                    <a:p>
                      <a:pPr rtl="1" algn="r"/>
                      <a:r>
                        <a:rPr sz="2200" b="1" lang="ar-MA">
                          <a:solidFill>
                            <a:srgbClr val="0B2242"/>
                          </a:solidFill>
                          <a:latin typeface="Cairo"/>
                          <a:cs typeface="Cairo"/>
                        </a:rPr>
                        <a:t>الاستعمار</a:t>
                      </a:r>
                    </a:p>
                  </a:txBody>
                  <a:tcPr anchor="ctr">
                    <a:solidFill>
                      <a:srgbClr val="FFFDF6"/>
                    </a:solidFill>
                  </a:tcPr>
                </a:tc>
                <a:tc>
                  <a:txBody>
                    <a:bodyPr/>
                    <a:lstStyle/>
                    <a:p>
                      <a:pPr rtl="1" algn="r"/>
                      <a:r>
                        <a:rPr sz="2200" b="0" lang="ar-MA">
                          <a:solidFill>
                            <a:srgbClr val="222222"/>
                          </a:solidFill>
                          <a:latin typeface="Cairo"/>
                          <a:cs typeface="Cairo"/>
                        </a:rPr>
                        <a:t>سيطرة دولة قوية على بلد آخر واستغلال موارده وإخضاع سكانه.</a:t>
                      </a:r>
                    </a:p>
                  </a:txBody>
                  <a:tcPr anchor="ctr">
                    <a:solidFill>
                      <a:srgbClr val="FFFDF6"/>
                    </a:solidFill>
                  </a:tcPr>
                </a:tc>
              </a:tr>
              <a:tr h="457200">
                <a:tc>
                  <a:txBody>
                    <a:bodyPr/>
                    <a:lstStyle/>
                    <a:p>
                      <a:pPr rtl="1" algn="r"/>
                      <a:r>
                        <a:rPr sz="2200" b="1" lang="ar-MA">
                          <a:solidFill>
                            <a:srgbClr val="0B2242"/>
                          </a:solidFill>
                          <a:latin typeface="Cairo"/>
                          <a:cs typeface="Cairo"/>
                        </a:rPr>
                        <a:t>الثنائية القطبية</a:t>
                      </a:r>
                    </a:p>
                  </a:txBody>
                  <a:tcPr anchor="ctr">
                    <a:solidFill>
                      <a:srgbClr val="F6EED8"/>
                    </a:solidFill>
                  </a:tcPr>
                </a:tc>
                <a:tc>
                  <a:txBody>
                    <a:bodyPr/>
                    <a:lstStyle/>
                    <a:p>
                      <a:pPr rtl="1" algn="r"/>
                      <a:r>
                        <a:rPr sz="2200" b="0" lang="ar-MA">
                          <a:solidFill>
                            <a:srgbClr val="222222"/>
                          </a:solidFill>
                          <a:latin typeface="Cairo"/>
                          <a:cs typeface="Cairo"/>
                        </a:rPr>
                        <a:t>انقسام العالم بعد سنة 1945م إلى معسكر غربي رأسمالي وآخر شرقي اشتراكي.</a:t>
                      </a:r>
                    </a:p>
                  </a:txBody>
                  <a:tcPr anchor="ctr">
                    <a:solidFill>
                      <a:srgbClr val="F6EED8"/>
                    </a:solidFill>
                  </a:tcPr>
                </a:tc>
              </a:tr>
              <a:tr h="457200">
                <a:tc>
                  <a:txBody>
                    <a:bodyPr/>
                    <a:lstStyle/>
                    <a:p>
                      <a:pPr rtl="1" algn="r"/>
                      <a:r>
                        <a:rPr sz="2200" b="1" lang="ar-MA">
                          <a:solidFill>
                            <a:srgbClr val="0B2242"/>
                          </a:solidFill>
                          <a:latin typeface="Cairo"/>
                          <a:cs typeface="Cairo"/>
                        </a:rPr>
                        <a:t>حركات التحرر</a:t>
                      </a:r>
                    </a:p>
                  </a:txBody>
                  <a:tcPr anchor="ctr">
                    <a:solidFill>
                      <a:srgbClr val="FFFDF6"/>
                    </a:solidFill>
                  </a:tcPr>
                </a:tc>
                <a:tc>
                  <a:txBody>
                    <a:bodyPr/>
                    <a:lstStyle/>
                    <a:p>
                      <a:pPr rtl="1" algn="r"/>
                      <a:r>
                        <a:rPr sz="2200" b="0" lang="ar-MA">
                          <a:solidFill>
                            <a:srgbClr val="222222"/>
                          </a:solidFill>
                          <a:latin typeface="Cairo"/>
                          <a:cs typeface="Cairo"/>
                        </a:rPr>
                        <a:t>نضالات سياسية ومسلحة من أجل الاستقلال والسيادة الوطنية.</a:t>
                      </a:r>
                    </a:p>
                  </a:txBody>
                  <a:tcPr anchor="ctr">
                    <a:solidFill>
                      <a:srgbClr val="FFFDF6"/>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تطبيق منهجي</a:t>
            </a:r>
          </a:p>
        </p:txBody>
      </p:sp>
      <p:sp>
        <p:nvSpPr>
          <p:cNvPr id="3" name="Text Placeholder 2"/>
          <p:cNvSpPr>
            <a:spLocks noGrp="1"/>
          </p:cNvSpPr>
          <p:nvPr>
            <p:ph type="body" idx="104"/>
          </p:nvPr>
        </p:nvSpPr>
        <p:spPr/>
        <p:txBody>
          <a:bodyPr wrap="square"/>
          <a:lstStyle/>
          <a:p>
            <a:pPr rtl="1" algn="r">
              <a:buNone/>
              <a:spcAft>
                <a:spcPts val="600"/>
              </a:spcAft>
            </a:pPr>
            <a:r>
              <a:rPr sz="2600" b="0" lang="ar-MA">
                <a:latin typeface="Cairo"/>
                <a:cs typeface="Cairo"/>
              </a:rPr>
              <a:t>أنجز خطًّا زمنيًا بسيطًا تُرتّب فيه المحطات الآتية حسب تسلسلها، مبيّنًا العلاقة السببية بين كل محطة والتي تليها: الثورة الصناعية · التوسع الإمبريالي · الحرب العالمية الأولى · أزمة 1929م · الحرب العالمية الثانية · حركات التحرر واستقلال المغرب. ثم اكتب فقرة تركيبية (5–6 أسطر) توضّح فيها كيف مهّد كل حدثٍ لما بعده.</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خاتمة</a:t>
            </a:r>
          </a:p>
        </p:txBody>
      </p:sp>
      <p:sp>
        <p:nvSpPr>
          <p:cNvPr id="3" name="Text Placeholder 2"/>
          <p:cNvSpPr>
            <a:spLocks noGrp="1"/>
          </p:cNvSpPr>
          <p:nvPr>
            <p:ph type="body" idx="104"/>
          </p:nvPr>
        </p:nvSpPr>
        <p:spPr/>
        <p:txBody>
          <a:bodyPr wrap="square"/>
          <a:lstStyle/>
          <a:p>
            <a:pPr rtl="1" algn="r">
              <a:buNone/>
              <a:spcAft>
                <a:spcPts val="600"/>
              </a:spcAft>
            </a:pPr>
            <a:r>
              <a:rPr sz="2600" b="0" lang="ar-MA">
                <a:latin typeface="Cairo"/>
                <a:cs typeface="Cairo"/>
              </a:rPr>
              <a:t>عرف العالم الرأسمالي خلال القرنين 19 و20م سلسلةً من التحولات المتداخلة، بدأت بالثورة الصناعية ونمو الرأسمالية، ثم انتقلت إلى التوسع الإمبريالي والتنافس الدولي، فالحربين العالميتين والأزمة الاقتصادية الكبرى.</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خاتمة (تابع)</a:t>
            </a:r>
          </a:p>
        </p:txBody>
      </p:sp>
      <p:sp>
        <p:nvSpPr>
          <p:cNvPr id="3" name="Text Placeholder 2"/>
          <p:cNvSpPr>
            <a:spLocks noGrp="1"/>
          </p:cNvSpPr>
          <p:nvPr>
            <p:ph type="body" idx="104"/>
          </p:nvPr>
        </p:nvSpPr>
        <p:spPr/>
        <p:txBody>
          <a:bodyPr wrap="square"/>
          <a:lstStyle/>
          <a:p>
            <a:pPr rtl="1" algn="r">
              <a:buNone/>
              <a:spcAft>
                <a:spcPts val="600"/>
              </a:spcAft>
            </a:pPr>
            <a:r>
              <a:rPr sz="2600" b="0" lang="ar-MA">
                <a:latin typeface="Cairo"/>
                <a:cs typeface="Cairo"/>
              </a:rPr>
              <a:t>وقد أعادت هذه التحولات تشكيل موازين القوى لصالح الولايات المتحدة والاتحاد السوفياتي، وفرضت الهيمنة الاستعمارية على مناطق واسعة، لكنها في المقابل أذكت حركات الإصلاح والمقاومة والتحرر، ومنها نضال المغرب والمشرق العربي من أجل الاستقلال وبناء الدولة الوطنية. وبهذا يتبيّن أن دروس المقرر ليست إلا تفصيلًا لهذه اللوحة الكبرى التي رسمها هذا التقديم العام.</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400" b="1" lang="ar-MA">
                <a:solidFill>
                  <a:srgbClr val="0B2242"/>
                </a:solidFill>
                <a:latin typeface="Cairo"/>
                <a:cs typeface="Cairo"/>
              </a:rPr>
              <a:t>خاتمة:</a:t>
            </a:r>
          </a:p>
          <a:p>
            <a:pPr rtl="1" algn="r">
              <a:buNone/>
              <a:spcAft>
                <a:spcPts val="600"/>
              </a:spcAft>
            </a:pPr>
            <a:r>
              <a:rPr sz="2400" b="0" lang="ar-MA">
                <a:latin typeface="Cairo"/>
                <a:cs typeface="Cairo"/>
              </a:rPr>
              <a:t>عرف العالم الرأسمالي خلال القرنين 19 و20م سلسلة من التحولات المتداخلة بدأت بالثورة الصناعية ونمو الرأسمالية، ثم انتقلت إلى التوسع الإمبريالي والتنافس الدولي والحربين العالميتين والأزمة الاقتصادية. وقد أعادت هذه التحولات تشكيل موازين القوى، وفرضت الهيمنة الاستعمارية على مناطق واسعة، لكنها أثارت في المقابل حركات الإصلاح والمقاومة والتحرر، ومنها نضال المغرب والمشرق العربي من أجل الاستقلال وبناء الدولة الوطنية.</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2"/>
          </p:nvPr>
        </p:nvSpPr>
        <p:spPr/>
        <p:txBody>
          <a:bodyPr wrap="square"/>
          <a:lstStyle/>
          <a:p>
            <a:pPr rtl="1" algn="r">
              <a:buNone/>
              <a:spcAft>
                <a:spcPts val="600"/>
              </a:spcAft>
            </a:pPr>
            <a:r>
              <a:rPr sz="4000" b="0" lang="ar-MA">
                <a:latin typeface="Cairo"/>
                <a:cs typeface="Cairo"/>
              </a:rPr>
              <a:t>شكراً لانتباهكم</a:t>
            </a:r>
          </a:p>
        </p:txBody>
      </p:sp>
    </p:spTree>
  </p:cSld>
  <p:clrMapOvr>
    <a:masterClrMapping/>
  </p:clrMapOvr>
</p:sld>
</file>

<file path=ppt/theme/theme1.xml><?xml version="1.0" encoding="utf-8"?>
<a:theme xmlns:a="http://schemas.openxmlformats.org/drawingml/2006/main" name="Bouamoud Navy Gold">
  <a:themeElements>
    <a:clrScheme name="Bouamoud Navy Gold">
      <a:dk1>
        <a:srgbClr val="1B1B1B"/>
      </a:dk1>
      <a:lt1>
        <a:srgbClr val="FFFFFF"/>
      </a:lt1>
      <a:dk2>
        <a:srgbClr val="0B2242"/>
      </a:dk2>
      <a:lt2>
        <a:srgbClr val="F7F3EA"/>
      </a:lt2>
      <a:accent1>
        <a:srgbClr val="C9A24A"/>
      </a:accent1>
      <a:accent2>
        <a:srgbClr val="0B2242"/>
      </a:accent2>
      <a:accent3>
        <a:srgbClr val="1A6FA8"/>
      </a:accent3>
      <a:accent4>
        <a:srgbClr val="E8720C"/>
      </a:accent4>
      <a:accent5>
        <a:srgbClr val="8A6D2B"/>
      </a:accent5>
      <a:accent6>
        <a:srgbClr val="5B6B82"/>
      </a:accent6>
      <a:hlink>
        <a:srgbClr val="1A6FA8"/>
      </a:hlink>
      <a:folHlink>
        <a:srgbClr val="8A6D2B"/>
      </a:folHlink>
    </a:clrScheme>
    <a:fontScheme name="Bouamoud Navy Gold">
      <a:majorFont>
        <a:latin typeface="Cair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ir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قالب دروس الاجتماعيات</dc:title>
  <dc:subject>PptxGenJS Presentation</dc:subject>
  <dc:creator>أحمد بوعمود</dc:creator>
  <cp:lastModifiedBy>أحمد بوعمود</cp:lastModifiedBy>
  <cp:revision>1</cp:revision>
  <dcterms:created xsi:type="dcterms:W3CDTF">2026-10-16T14:35:24Z</dcterms:created>
  <dcterms:modified xsi:type="dcterms:W3CDTF">2026-10-16T14:35:24Z</dcterms:modified>
</cp:coreProperties>
</file>