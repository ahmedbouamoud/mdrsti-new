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5"/>
    <p:sldId id="258" r:id="rId4"/>
    <p:sldId id="259" r:id="rId3"/>
    <p:sldId id="260" r:id="rId2"/>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نموذج" id="{d326dffa-4528-c323-d390-c46a4a8ff4ad}">
          <p14:sldIdLst>
            <p14:sldId id="256"/>
            <p14:sldId id="257"/>
            <p14:sldId id="258"/>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غلاف الدرس">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badge.png">    </p:cNvPr>
          <p:cNvPicPr>
            <a:picLocks noChangeAspect="1"/>
          </p:cNvPicPr>
          <p:nvPr/>
        </p:nvPicPr>
        <p:blipFill>
          <a:blip r:embed="rId1"/>
          <a:stretch>
            <a:fillRect/>
          </a:stretch>
        </p:blipFill>
        <p:spPr>
          <a:xfrm>
            <a:off x="411480" y="548640"/>
            <a:ext cx="3840480" cy="3840480"/>
          </a:xfrm>
          <a:prstGeom prst="rect">
            <a:avLst/>
          </a:prstGeom>
        </p:spPr>
      </p:pic>
      <p:sp>
        <p:nvSpPr>
          <p:cNvPr id="3" name="Shape 0"/>
          <p:cNvSpPr/>
          <p:nvPr/>
        </p:nvSpPr>
        <p:spPr>
          <a:xfrm>
            <a:off x="4572000" y="2788920"/>
            <a:ext cx="4160520" cy="27432"/>
          </a:xfrm>
          <a:prstGeom prst="rect">
            <a:avLst/>
          </a:prstGeom>
          <a:solidFill>
            <a:srgbClr val="C9A24A"/>
          </a:solidFill>
          <a:ln/>
        </p:spPr>
      </p:sp>
      <p:sp>
        <p:nvSpPr>
          <p:cNvPr id="4" name="Text 1"/>
          <p:cNvSpPr/>
          <p:nvPr/>
        </p:nvSpPr>
        <p:spPr>
          <a:xfrm>
            <a:off x="4480560" y="4526280"/>
            <a:ext cx="4297680" cy="365760"/>
          </a:xfrm>
          <a:prstGeom prst="rect">
            <a:avLst/>
          </a:prstGeom>
          <a:noFill/>
          <a:ln/>
        </p:spPr>
        <p:txBody>
          <a:bodyPr wrap="square" rtlCol="0" anchor="ctr"/>
          <a:lstStyle/>
          <a:p>
            <a:pPr algn="r" indent="0" marL="0">
              <a:buNone/>
            </a:pPr>
            <a:r>
              <a:rPr lang="en-US" sz="1300" dirty="0">
                <a:solidFill>
                  <a:srgbClr val="C9A24A"/>
                </a:solidFill>
              </a:rPr>
              <a:t>ذ. أحمد بوعمود — مؤسسة الحنان الخاصة | ⁦2026-2027⁩</a:t>
            </a:r>
            <a:endParaRPr lang="en-US" sz="1300" dirty="0"/>
          </a:p>
        </p:txBody>
      </p:sp>
      <p:sp>
        <p:nvSpPr>
          <p:cNvPr id="5" name="Text 2"/>
          <p:cNvSpPr/>
          <p:nvPr>
            <p:ph idx="103" type="body" hasCustomPrompt="1"/>
          </p:nvPr>
        </p:nvSpPr>
        <p:spPr>
          <a:xfrm>
            <a:off x="4572000" y="685800"/>
            <a:ext cx="4160520" cy="502920"/>
          </a:xfrm>
          <a:prstGeom prst="rect">
            <a:avLst/>
          </a:prstGeom>
          <a:noFill/>
          <a:ln/>
        </p:spPr>
        <p:txBody>
          <a:bodyPr wrap="square" rtlCol="0"/>
          <a:lstStyle>
            <a:lvl1pPr rtl="1" algn="r" indent="0" marL="0">
              <a:buNone/>
              <a:defRPr lang="en-US" sz="2000" b="1" dirty="0">
                <a:solidFill>
                  <a:srgbClr val="C9A24A"/>
                </a:solidFill>
              </a:defRPr>
            </a:lvl1pPr>
          </a:lstStyle>
          <a:p>
            <a:pPr algn="r" indent="0" marL="0">
              <a:buNone/>
            </a:pPr>
            <a:r>
              <a:rPr lang="en-US" sz="2000" b="1" dirty="0">
                <a:solidFill>
                  <a:srgbClr val="C9A24A"/>
                </a:solidFill>
              </a:rPr>
              <a:t>المستوى | المكوّن</a:t>
            </a:r>
            <a:endParaRPr lang="en-US" sz="2000" dirty="0"/>
          </a:p>
        </p:txBody>
      </p:sp>
      <p:sp>
        <p:nvSpPr>
          <p:cNvPr id="6" name="Text 2"/>
          <p:cNvSpPr/>
          <p:nvPr>
            <p:ph idx="104" type="title" hasCustomPrompt="1"/>
          </p:nvPr>
        </p:nvSpPr>
        <p:spPr>
          <a:xfrm>
            <a:off x="4572000" y="1188720"/>
            <a:ext cx="4160520" cy="1554480"/>
          </a:xfrm>
          <a:prstGeom prst="rect">
            <a:avLst/>
          </a:prstGeom>
          <a:noFill/>
          <a:ln/>
        </p:spPr>
        <p:txBody>
          <a:bodyPr wrap="square" rtlCol="0"/>
          <a:lstStyle>
            <a:lvl1pPr rtl="1" algn="r" indent="0" marL="0">
              <a:buNone/>
              <a:defRPr lang="en-US" sz="4000" b="1" dirty="0">
                <a:solidFill>
                  <a:srgbClr val="FFFFFF"/>
                </a:solidFill>
              </a:defRPr>
            </a:lvl1pPr>
          </a:lstStyle>
          <a:p>
            <a:pPr algn="r" indent="0" marL="0">
              <a:buNone/>
            </a:pPr>
            <a:r>
              <a:rPr lang="en-US" sz="4000" b="1" dirty="0">
                <a:solidFill>
                  <a:srgbClr val="FFFFFF"/>
                </a:solidFill>
              </a:rPr>
              <a:t>عنوان الدرس</a:t>
            </a:r>
            <a:endParaRPr lang="en-US" sz="4000" dirty="0"/>
          </a:p>
        </p:txBody>
      </p:sp>
      <p:sp>
        <p:nvSpPr>
          <p:cNvPr id="7" name="Text 2"/>
          <p:cNvSpPr/>
          <p:nvPr>
            <p:ph idx="105" type="body" hasCustomPrompt="1"/>
          </p:nvPr>
        </p:nvSpPr>
        <p:spPr>
          <a:xfrm>
            <a:off x="4572000" y="2926080"/>
            <a:ext cx="4160520" cy="1188720"/>
          </a:xfrm>
          <a:prstGeom prst="rect">
            <a:avLst/>
          </a:prstGeom>
          <a:noFill/>
          <a:ln/>
        </p:spPr>
        <p:txBody>
          <a:bodyPr wrap="square" rtlCol="0"/>
          <a:lstStyle>
            <a:lvl1pPr rtl="1" algn="r" indent="0" marL="0">
              <a:buNone/>
              <a:defRPr lang="en-US" sz="2000" dirty="0">
                <a:solidFill>
                  <a:srgbClr val="DCE3EE"/>
                </a:solidFill>
              </a:defRPr>
            </a:lvl1pPr>
          </a:lstStyle>
          <a:p>
            <a:pPr algn="r" indent="0" marL="0">
              <a:buNone/>
            </a:pPr>
            <a:r>
              <a:rPr lang="en-US" sz="2000" dirty="0">
                <a:solidFill>
                  <a:srgbClr val="DCE3EE"/>
                </a:solidFill>
              </a:rPr>
              <a:t>الوحدة أو الإشكالية</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محور">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icon.png">    </p:cNvPr>
          <p:cNvPicPr>
            <a:picLocks noChangeAspect="1"/>
          </p:cNvPicPr>
          <p:nvPr/>
        </p:nvPicPr>
        <p:blipFill>
          <a:blip r:embed="rId1"/>
          <a:stretch>
            <a:fillRect/>
          </a:stretch>
        </p:blipFill>
        <p:spPr>
          <a:xfrm>
            <a:off x="411480" y="4160520"/>
            <a:ext cx="685800" cy="685800"/>
          </a:xfrm>
          <a:prstGeom prst="rect">
            <a:avLst/>
          </a:prstGeom>
        </p:spPr>
      </p:pic>
      <p:sp>
        <p:nvSpPr>
          <p:cNvPr id="3" name="Text 0"/>
          <p:cNvSpPr/>
          <p:nvPr>
            <p:ph idx="101" type="body" hasCustomPrompt="1"/>
          </p:nvPr>
        </p:nvSpPr>
        <p:spPr>
          <a:xfrm>
            <a:off x="6035040" y="914400"/>
            <a:ext cx="2697480" cy="1463040"/>
          </a:xfrm>
          <a:prstGeom prst="rect">
            <a:avLst/>
          </a:prstGeom>
          <a:noFill/>
          <a:ln/>
        </p:spPr>
        <p:txBody>
          <a:bodyPr wrap="square" rtlCol="0"/>
          <a:lstStyle>
            <a:lvl1pPr rtl="1" algn="r" indent="0" marL="0">
              <a:buNone/>
              <a:defRPr lang="en-US" sz="9600" b="1" dirty="0">
                <a:solidFill>
                  <a:srgbClr val="C9A24A"/>
                </a:solidFill>
              </a:defRPr>
            </a:lvl1pPr>
          </a:lstStyle>
          <a:p>
            <a:pPr algn="r" indent="0" marL="0">
              <a:buNone/>
            </a:pPr>
            <a:r>
              <a:rPr lang="en-US" sz="9600" b="1" dirty="0">
                <a:solidFill>
                  <a:srgbClr val="C9A24A"/>
                </a:solidFill>
              </a:rPr>
              <a:t>1</a:t>
            </a:r>
            <a:endParaRPr lang="en-US" sz="9600" dirty="0"/>
          </a:p>
        </p:txBody>
      </p:sp>
      <p:sp>
        <p:nvSpPr>
          <p:cNvPr id="4" name="Text 0"/>
          <p:cNvSpPr/>
          <p:nvPr>
            <p:ph idx="102" type="title" hasCustomPrompt="1"/>
          </p:nvPr>
        </p:nvSpPr>
        <p:spPr>
          <a:xfrm>
            <a:off x="914400" y="2423160"/>
            <a:ext cx="7818120" cy="1463040"/>
          </a:xfrm>
          <a:prstGeom prst="rect">
            <a:avLst/>
          </a:prstGeom>
          <a:noFill/>
          <a:ln/>
        </p:spPr>
        <p:txBody>
          <a:bodyPr wrap="square" rtlCol="0"/>
          <a:lstStyle>
            <a:lvl1pPr rtl="1" algn="r" indent="0" marL="0">
              <a:buNone/>
              <a:defRPr lang="en-US" sz="4000" b="1" dirty="0">
                <a:solidFill>
                  <a:srgbClr val="FFFFFF"/>
                </a:solidFill>
              </a:defRPr>
            </a:lvl1pPr>
          </a:lstStyle>
          <a:p>
            <a:pPr algn="r" indent="0" marL="0">
              <a:buNone/>
            </a:pPr>
            <a:r>
              <a:rPr lang="en-US" sz="4000" b="1" dirty="0">
                <a:solidFill>
                  <a:srgbClr val="FFFFFF"/>
                </a:solidFill>
              </a:rPr>
              <a:t>عنوان المحور</a:t>
            </a: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شرح">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B2242"/>
          </a:solidFill>
          <a:ln/>
        </p:spPr>
      </p:sp>
      <p:pic>
        <p:nvPicPr>
          <p:cNvPr id="3" name="Image 0" descr="/tmp/claude-0/-home-claude/19570fe6-a11a-544f-81e5-5e225fe6dd19/scratchpad/ppt/icon.png">    </p:cNvPr>
          <p:cNvPicPr>
            <a:picLocks noChangeAspect="1"/>
          </p:cNvPicPr>
          <p:nvPr/>
        </p:nvPicPr>
        <p:blipFill>
          <a:blip r:embed="rId1"/>
          <a:stretch>
            <a:fillRect/>
          </a:stretch>
        </p:blipFill>
        <p:spPr>
          <a:xfrm>
            <a:off x="274320" y="109728"/>
            <a:ext cx="731520" cy="731520"/>
          </a:xfrm>
          <a:prstGeom prst="rect">
            <a:avLst/>
          </a:prstGeom>
        </p:spPr>
      </p:pic>
      <p:sp>
        <p:nvSpPr>
          <p:cNvPr id="4" name="Text 1"/>
          <p:cNvSpPr/>
          <p:nvPr/>
        </p:nvSpPr>
        <p:spPr>
          <a:xfrm>
            <a:off x="365760" y="4754880"/>
            <a:ext cx="5943600" cy="274320"/>
          </a:xfrm>
          <a:prstGeom prst="rect">
            <a:avLst/>
          </a:prstGeom>
          <a:noFill/>
          <a:ln/>
        </p:spPr>
        <p:txBody>
          <a:bodyPr wrap="square" rtlCol="0" anchor="ctr"/>
          <a:lstStyle/>
          <a:p>
            <a:pPr algn="l" indent="0" marL="0">
              <a:buNone/>
            </a:pPr>
            <a:r>
              <a:rPr lang="en-US" sz="1100" dirty="0">
                <a:solidFill>
                  <a:srgbClr val="5B6B82"/>
                </a:solidFill>
              </a:rPr>
              <a:t>ذ. أحمد بوعمود — مؤسسة الحنان الخاصة | ⁦2026-2027⁩</a:t>
            </a:r>
            <a:endParaRPr lang="en-US" sz="1100" dirty="0"/>
          </a:p>
        </p:txBody>
      </p:sp>
      <p:sp>
        <p:nvSpPr>
          <p:cNvPr id="5" name="Text 2"/>
          <p:cNvSpPr/>
          <p:nvPr>
            <p:ph idx="103" type="title" hasCustomPrompt="1"/>
          </p:nvPr>
        </p:nvSpPr>
        <p:spPr>
          <a:xfrm>
            <a:off x="1188720" y="109728"/>
            <a:ext cx="7589520" cy="731520"/>
          </a:xfrm>
          <a:prstGeom prst="rect">
            <a:avLst/>
          </a:prstGeom>
          <a:noFill/>
          <a:ln/>
        </p:spPr>
        <p:txBody>
          <a:bodyPr wrap="square" rtlCol="0"/>
          <a:lstStyle>
            <a:lvl1pPr rtl="1" algn="r" indent="0" marL="0">
              <a:buNone/>
              <a:defRPr lang="en-US" sz="3200" b="1" dirty="0">
                <a:solidFill>
                  <a:srgbClr val="FFFFFF"/>
                </a:solidFill>
              </a:defRPr>
            </a:lvl1pPr>
          </a:lstStyle>
          <a:p>
            <a:pPr algn="r" indent="0" marL="0">
              <a:buNone/>
            </a:pPr>
            <a:r>
              <a:rPr lang="en-US" sz="3200" b="1" dirty="0">
                <a:solidFill>
                  <a:srgbClr val="FFFFFF"/>
                </a:solidFill>
              </a:rPr>
              <a:t>عنوان الشريحة</a:t>
            </a:r>
            <a:endParaRPr lang="en-US" sz="3200" dirty="0"/>
          </a:p>
        </p:txBody>
      </p:sp>
      <p:sp>
        <p:nvSpPr>
          <p:cNvPr id="6" name="Text 2"/>
          <p:cNvSpPr/>
          <p:nvPr>
            <p:ph idx="104" type="body" hasCustomPrompt="1"/>
          </p:nvPr>
        </p:nvSpPr>
        <p:spPr>
          <a:xfrm>
            <a:off x="457200" y="1188720"/>
            <a:ext cx="8229600" cy="3474720"/>
          </a:xfrm>
          <a:prstGeom prst="rect">
            <a:avLst/>
          </a:prstGeom>
          <a:noFill/>
          <a:ln/>
        </p:spPr>
        <p:txBody>
          <a:bodyPr wrap="square" rtlCol="0"/>
          <a:lstStyle>
            <a:lvl1pPr rtl="1" algn="r" indent="0" marL="0">
              <a:spcAft>
                <a:spcPts val="800"/>
              </a:spcAft>
              <a:buNone/>
              <a:defRPr lang="en-US" sz="2600" dirty="0">
                <a:solidFill>
                  <a:srgbClr val="1B1B1B"/>
                </a:solidFill>
              </a:defRPr>
            </a:lvl1pPr>
          </a:lstStyle>
          <a:p>
            <a:pPr algn="r" indent="0" marL="0">
              <a:spcAft>
                <a:spcPts val="800"/>
              </a:spcAft>
              <a:buNone/>
            </a:pPr>
            <a:r>
              <a:rPr lang="en-US" sz="2600" dirty="0">
                <a:solidFill>
                  <a:srgbClr val="1B1B1B"/>
                </a:solidFill>
              </a:rPr>
              <a:t>نص الشرح</a:t>
            </a:r>
            <a:endParaRPr lang="en-US" sz="2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82"/>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أكتب في دفتري">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C9A24A"/>
          </a:solidFill>
          <a:ln/>
        </p:spPr>
      </p:sp>
      <p:sp>
        <p:nvSpPr>
          <p:cNvPr id="3" name="Shape 1"/>
          <p:cNvSpPr/>
          <p:nvPr/>
        </p:nvSpPr>
        <p:spPr>
          <a:xfrm>
            <a:off x="8458200" y="960120"/>
            <a:ext cx="0" cy="4183380"/>
          </a:xfrm>
          <a:prstGeom prst="line">
            <a:avLst/>
          </a:prstGeom>
          <a:noFill/>
          <a:ln w="19050">
            <a:solidFill>
              <a:srgbClr val="E8A0A0"/>
            </a:solidFill>
            <a:prstDash val="solid"/>
          </a:ln>
        </p:spPr>
      </p:sp>
      <p:sp>
        <p:nvSpPr>
          <p:cNvPr id="4" name="Shape 2"/>
          <p:cNvSpPr/>
          <p:nvPr/>
        </p:nvSpPr>
        <p:spPr>
          <a:xfrm>
            <a:off x="548640" y="1572768"/>
            <a:ext cx="8046720" cy="0"/>
          </a:xfrm>
          <a:prstGeom prst="line">
            <a:avLst/>
          </a:prstGeom>
          <a:noFill/>
          <a:ln w="12700">
            <a:solidFill>
              <a:srgbClr val="C9D6E8"/>
            </a:solidFill>
            <a:prstDash val="solid"/>
          </a:ln>
        </p:spPr>
      </p:sp>
      <p:sp>
        <p:nvSpPr>
          <p:cNvPr id="5" name="Shape 3"/>
          <p:cNvSpPr/>
          <p:nvPr/>
        </p:nvSpPr>
        <p:spPr>
          <a:xfrm>
            <a:off x="548640" y="1993392"/>
            <a:ext cx="8046720" cy="0"/>
          </a:xfrm>
          <a:prstGeom prst="line">
            <a:avLst/>
          </a:prstGeom>
          <a:noFill/>
          <a:ln w="12700">
            <a:solidFill>
              <a:srgbClr val="C9D6E8"/>
            </a:solidFill>
            <a:prstDash val="solid"/>
          </a:ln>
        </p:spPr>
      </p:sp>
      <p:sp>
        <p:nvSpPr>
          <p:cNvPr id="6" name="Shape 4"/>
          <p:cNvSpPr/>
          <p:nvPr/>
        </p:nvSpPr>
        <p:spPr>
          <a:xfrm>
            <a:off x="548640" y="2414016"/>
            <a:ext cx="8046720" cy="0"/>
          </a:xfrm>
          <a:prstGeom prst="line">
            <a:avLst/>
          </a:prstGeom>
          <a:noFill/>
          <a:ln w="12700">
            <a:solidFill>
              <a:srgbClr val="C9D6E8"/>
            </a:solidFill>
            <a:prstDash val="solid"/>
          </a:ln>
        </p:spPr>
      </p:sp>
      <p:sp>
        <p:nvSpPr>
          <p:cNvPr id="7" name="Shape 5"/>
          <p:cNvSpPr/>
          <p:nvPr/>
        </p:nvSpPr>
        <p:spPr>
          <a:xfrm>
            <a:off x="548640" y="2834640"/>
            <a:ext cx="8046720" cy="0"/>
          </a:xfrm>
          <a:prstGeom prst="line">
            <a:avLst/>
          </a:prstGeom>
          <a:noFill/>
          <a:ln w="12700">
            <a:solidFill>
              <a:srgbClr val="C9D6E8"/>
            </a:solidFill>
            <a:prstDash val="solid"/>
          </a:ln>
        </p:spPr>
      </p:sp>
      <p:sp>
        <p:nvSpPr>
          <p:cNvPr id="8" name="Shape 6"/>
          <p:cNvSpPr/>
          <p:nvPr/>
        </p:nvSpPr>
        <p:spPr>
          <a:xfrm>
            <a:off x="548640" y="3255264"/>
            <a:ext cx="8046720" cy="0"/>
          </a:xfrm>
          <a:prstGeom prst="line">
            <a:avLst/>
          </a:prstGeom>
          <a:noFill/>
          <a:ln w="12700">
            <a:solidFill>
              <a:srgbClr val="C9D6E8"/>
            </a:solidFill>
            <a:prstDash val="solid"/>
          </a:ln>
        </p:spPr>
      </p:sp>
      <p:sp>
        <p:nvSpPr>
          <p:cNvPr id="9" name="Shape 7"/>
          <p:cNvSpPr/>
          <p:nvPr/>
        </p:nvSpPr>
        <p:spPr>
          <a:xfrm>
            <a:off x="548640" y="3675888"/>
            <a:ext cx="8046720" cy="0"/>
          </a:xfrm>
          <a:prstGeom prst="line">
            <a:avLst/>
          </a:prstGeom>
          <a:noFill/>
          <a:ln w="12700">
            <a:solidFill>
              <a:srgbClr val="C9D6E8"/>
            </a:solidFill>
            <a:prstDash val="solid"/>
          </a:ln>
        </p:spPr>
      </p:sp>
      <p:sp>
        <p:nvSpPr>
          <p:cNvPr id="10" name="Shape 8"/>
          <p:cNvSpPr/>
          <p:nvPr/>
        </p:nvSpPr>
        <p:spPr>
          <a:xfrm>
            <a:off x="548640" y="4096512"/>
            <a:ext cx="8046720" cy="0"/>
          </a:xfrm>
          <a:prstGeom prst="line">
            <a:avLst/>
          </a:prstGeom>
          <a:noFill/>
          <a:ln w="12700">
            <a:solidFill>
              <a:srgbClr val="C9D6E8"/>
            </a:solidFill>
            <a:prstDash val="solid"/>
          </a:ln>
        </p:spPr>
      </p:sp>
      <p:sp>
        <p:nvSpPr>
          <p:cNvPr id="11" name="Shape 9"/>
          <p:cNvSpPr/>
          <p:nvPr/>
        </p:nvSpPr>
        <p:spPr>
          <a:xfrm>
            <a:off x="548640" y="4517136"/>
            <a:ext cx="8046720" cy="0"/>
          </a:xfrm>
          <a:prstGeom prst="line">
            <a:avLst/>
          </a:prstGeom>
          <a:noFill/>
          <a:ln w="12700">
            <a:solidFill>
              <a:srgbClr val="C9D6E8"/>
            </a:solidFill>
            <a:prstDash val="solid"/>
          </a:ln>
        </p:spPr>
      </p:sp>
      <p:pic>
        <p:nvPicPr>
          <p:cNvPr id="12" name="Image 0" descr="/tmp/claude-0/-home-claude/19570fe6-a11a-544f-81e5-5e225fe6dd19/scratchpad/ppt/icon.png">    </p:cNvPr>
          <p:cNvPicPr>
            <a:picLocks noChangeAspect="1"/>
          </p:cNvPicPr>
          <p:nvPr/>
        </p:nvPicPr>
        <p:blipFill>
          <a:blip r:embed="rId1"/>
          <a:stretch>
            <a:fillRect/>
          </a:stretch>
        </p:blipFill>
        <p:spPr>
          <a:xfrm>
            <a:off x="274320" y="109728"/>
            <a:ext cx="731520" cy="731520"/>
          </a:xfrm>
          <a:prstGeom prst="rect">
            <a:avLst/>
          </a:prstGeom>
        </p:spPr>
      </p:pic>
      <p:sp>
        <p:nvSpPr>
          <p:cNvPr id="13" name="Text 10"/>
          <p:cNvSpPr/>
          <p:nvPr/>
        </p:nvSpPr>
        <p:spPr>
          <a:xfrm>
            <a:off x="3200400" y="109728"/>
            <a:ext cx="5577840" cy="731520"/>
          </a:xfrm>
          <a:prstGeom prst="rect">
            <a:avLst/>
          </a:prstGeom>
          <a:noFill/>
          <a:ln/>
        </p:spPr>
        <p:txBody>
          <a:bodyPr wrap="square" lIns="0" tIns="0" rIns="0" bIns="0" rtlCol="0" anchor="ctr"/>
          <a:lstStyle/>
          <a:p>
            <a:pPr algn="r" indent="0" marL="0">
              <a:buNone/>
            </a:pPr>
            <a:r>
              <a:rPr lang="en-US" sz="3400" b="1" dirty="0">
                <a:solidFill>
                  <a:srgbClr val="0B2242"/>
                </a:solidFill>
              </a:rPr>
              <a:t>✍  أكتب في دفتري</a:t>
            </a:r>
            <a:endParaRPr lang="en-US" sz="3400" dirty="0"/>
          </a:p>
        </p:txBody>
      </p:sp>
      <p:sp>
        <p:nvSpPr>
          <p:cNvPr id="14" name="Text 11"/>
          <p:cNvSpPr/>
          <p:nvPr/>
        </p:nvSpPr>
        <p:spPr>
          <a:xfrm>
            <a:off x="365760" y="4754880"/>
            <a:ext cx="5943600" cy="274320"/>
          </a:xfrm>
          <a:prstGeom prst="rect">
            <a:avLst/>
          </a:prstGeom>
          <a:noFill/>
          <a:ln/>
        </p:spPr>
        <p:txBody>
          <a:bodyPr wrap="square" rtlCol="0" anchor="ctr"/>
          <a:lstStyle/>
          <a:p>
            <a:pPr algn="l" indent="0" marL="0">
              <a:buNone/>
            </a:pPr>
            <a:r>
              <a:rPr lang="en-US" sz="1100" dirty="0">
                <a:solidFill>
                  <a:srgbClr val="5B6B82"/>
                </a:solidFill>
              </a:rPr>
              <a:t>ذ. أحمد بوعمود — مؤسسة الحنان الخاصة | ⁦2026-2027⁩</a:t>
            </a:r>
            <a:endParaRPr lang="en-US" sz="1100" dirty="0"/>
          </a:p>
        </p:txBody>
      </p:sp>
      <p:sp>
        <p:nvSpPr>
          <p:cNvPr id="15" name="Text 12"/>
          <p:cNvSpPr/>
          <p:nvPr>
            <p:ph idx="113" type="body" hasCustomPrompt="1"/>
          </p:nvPr>
        </p:nvSpPr>
        <p:spPr>
          <a:xfrm>
            <a:off x="548640" y="1188720"/>
            <a:ext cx="7772400" cy="3520440"/>
          </a:xfrm>
          <a:prstGeom prst="rect">
            <a:avLst/>
          </a:prstGeom>
          <a:noFill/>
          <a:ln/>
        </p:spPr>
        <p:txBody>
          <a:bodyPr wrap="square" rtlCol="0"/>
          <a:lstStyle>
            <a:lvl1pPr rtl="1" algn="r" indent="0" marL="0">
              <a:lnSpc>
                <a:spcPct val="115000"/>
              </a:lnSpc>
              <a:buNone/>
              <a:defRPr lang="en-US" sz="2600" dirty="0">
                <a:solidFill>
                  <a:srgbClr val="0B2242"/>
                </a:solidFill>
              </a:defRPr>
            </a:lvl1pPr>
          </a:lstStyle>
          <a:p>
            <a:pPr algn="r" indent="0" marL="0">
              <a:lnSpc>
                <a:spcPct val="115000"/>
              </a:lnSpc>
              <a:buNone/>
            </a:pPr>
            <a:r>
              <a:rPr lang="en-US" sz="2600" dirty="0">
                <a:solidFill>
                  <a:srgbClr val="0B2242"/>
                </a:solidFill>
              </a:rPr>
              <a:t>الفقرة المنقولة من الدرس كما هي</a:t>
            </a:r>
            <a:endParaRPr lang="en-US" sz="26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ختام">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logo-light.png">    </p:cNvPr>
          <p:cNvPicPr>
            <a:picLocks noChangeAspect="1"/>
          </p:cNvPicPr>
          <p:nvPr/>
        </p:nvPicPr>
        <p:blipFill>
          <a:blip r:embed="rId1"/>
          <a:stretch>
            <a:fillRect/>
          </a:stretch>
        </p:blipFill>
        <p:spPr>
          <a:xfrm>
            <a:off x="3337560" y="411480"/>
            <a:ext cx="2468880" cy="2468880"/>
          </a:xfrm>
          <a:prstGeom prst="rect">
            <a:avLst/>
          </a:prstGeom>
        </p:spPr>
      </p:pic>
      <p:sp>
        <p:nvSpPr>
          <p:cNvPr id="3" name="Text 0"/>
          <p:cNvSpPr/>
          <p:nvPr/>
        </p:nvSpPr>
        <p:spPr>
          <a:xfrm>
            <a:off x="914400" y="4434840"/>
            <a:ext cx="7315200" cy="365760"/>
          </a:xfrm>
          <a:prstGeom prst="rect">
            <a:avLst/>
          </a:prstGeom>
          <a:noFill/>
          <a:ln/>
        </p:spPr>
        <p:txBody>
          <a:bodyPr wrap="square" rtlCol="0" anchor="ctr"/>
          <a:lstStyle/>
          <a:p>
            <a:pPr algn="ctr" indent="0" marL="0">
              <a:buNone/>
            </a:pPr>
            <a:r>
              <a:rPr lang="en-US" sz="1400" dirty="0">
                <a:solidFill>
                  <a:srgbClr val="C9A24A"/>
                </a:solidFill>
              </a:rPr>
              <a:t>ذ. أحمد بوعمود — مؤسسة الحنان الخاصة | ⁦2026-2027⁩</a:t>
            </a:r>
            <a:endParaRPr lang="en-US" sz="1400" dirty="0"/>
          </a:p>
        </p:txBody>
      </p:sp>
      <p:sp>
        <p:nvSpPr>
          <p:cNvPr id="4" name="Text 1"/>
          <p:cNvSpPr/>
          <p:nvPr>
            <p:ph idx="102" type="title" hasCustomPrompt="1"/>
          </p:nvPr>
        </p:nvSpPr>
        <p:spPr>
          <a:xfrm>
            <a:off x="914400" y="3017520"/>
            <a:ext cx="7315200" cy="914400"/>
          </a:xfrm>
          <a:prstGeom prst="rect">
            <a:avLst/>
          </a:prstGeom>
          <a:noFill/>
          <a:ln/>
        </p:spPr>
        <p:txBody>
          <a:bodyPr wrap="square" rtlCol="0"/>
          <a:lstStyle>
            <a:lvl1pPr rtl="1" algn="ctr" indent="0" marL="0">
              <a:buNone/>
              <a:defRPr lang="en-US" sz="4000" b="1" dirty="0">
                <a:solidFill>
                  <a:srgbClr val="FFFFFF"/>
                </a:solidFill>
              </a:defRPr>
            </a:lvl1pPr>
          </a:lstStyle>
          <a:p>
            <a:pPr algn="ctr" indent="0" marL="0">
              <a:buNone/>
            </a:pPr>
            <a:r>
              <a:rPr lang="en-US" sz="4000" b="1" dirty="0">
                <a:solidFill>
                  <a:srgbClr val="FFFFFF"/>
                </a:solidFill>
              </a:rPr>
              <a:t>شكراً لانتباهكم</a:t>
            </a: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8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wrap="square"/>
          <a:lstStyle/>
          <a:p>
            <a:pPr rtl="1" algn="r">
              <a:buNone/>
              <a:spcAft>
                <a:spcPts val="600"/>
              </a:spcAft>
            </a:pPr>
            <a:r>
              <a:rPr sz="2000" b="0" lang="ar-MA">
                <a:latin typeface="Cairo"/>
                <a:cs typeface="Cairo"/>
              </a:rPr>
              <a:t>الأولى باكالوريا | الجغرافيا</a:t>
            </a:r>
          </a:p>
        </p:txBody>
      </p:sp>
      <p:sp>
        <p:nvSpPr>
          <p:cNvPr id="3" name="Title 2"/>
          <p:cNvSpPr>
            <a:spLocks noGrp="1"/>
          </p:cNvSpPr>
          <p:nvPr>
            <p:ph type="title" idx="104"/>
          </p:nvPr>
        </p:nvSpPr>
        <p:spPr/>
        <p:txBody>
          <a:bodyPr wrap="square"/>
          <a:lstStyle/>
          <a:p>
            <a:pPr rtl="1" algn="r">
              <a:buNone/>
              <a:spcAft>
                <a:spcPts val="600"/>
              </a:spcAft>
            </a:pPr>
            <a:r>
              <a:rPr sz="2600" b="0" lang="ar-MA">
                <a:latin typeface="Cairo"/>
                <a:cs typeface="Cairo"/>
              </a:rPr>
              <a:t>مفهوم التنمية: المقاربات والتقسيمات الكبرى للعالم</a:t>
            </a:r>
          </a:p>
        </p:txBody>
      </p:sp>
      <p:sp>
        <p:nvSpPr>
          <p:cNvPr id="4" name="Text Placeholder 3"/>
          <p:cNvSpPr>
            <a:spLocks noGrp="1"/>
          </p:cNvSpPr>
          <p:nvPr>
            <p:ph type="body" idx="105"/>
          </p:nvPr>
        </p:nvSpPr>
        <p:spPr/>
        <p:txBody>
          <a:bodyPr wrap="square"/>
          <a:lstStyle/>
          <a:p>
            <a:pPr rtl="1" algn="r">
              <a:buNone/>
              <a:spcAft>
                <a:spcPts val="600"/>
              </a:spcAft>
            </a:pPr>
            <a:r>
              <a:rPr sz="1800" b="0" lang="ar-MA">
                <a:latin typeface="Cairo"/>
                <a:cs typeface="Cairo"/>
              </a:rPr>
              <a:t>الإشكالية: ما مفهوم التنمية وما مقارباتها واستراتيجياتها؟ وكيف تتفاوت مستوياتها عالميًا؟ وبمَ يُفسَّر هذا التفاوت؟</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مدخل</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أن ننتج أكثر… لا يعني أن نعيش أفضل</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التنمية مفهوم معقّد تعدّدت المقاربات في سبيل الإلمام به</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أسئلة الدرس</a:t>
            </a:r>
          </a:p>
        </p:txBody>
      </p:sp>
      <p:sp>
        <p:nvSpPr>
          <p:cNvPr id="3" name="Oval 2"/>
          <p:cNvSpPr/>
          <p:nvPr/>
        </p:nvSpPr>
        <p:spPr>
          <a:xfrm>
            <a:off x="8229600" y="1308735"/>
            <a:ext cx="457200" cy="45720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1</a:t>
            </a:r>
          </a:p>
        </p:txBody>
      </p:sp>
      <p:sp>
        <p:nvSpPr>
          <p:cNvPr id="4" name="Rounded Rectangle 3"/>
          <p:cNvSpPr/>
          <p:nvPr/>
        </p:nvSpPr>
        <p:spPr>
          <a:xfrm>
            <a:off x="411480" y="1152144"/>
            <a:ext cx="7680960" cy="770381"/>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152144"/>
            <a:ext cx="7406640" cy="770381"/>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ما مفهوم التنمية؟ وما مقارباتها؟</a:t>
            </a:r>
          </a:p>
        </p:txBody>
      </p:sp>
      <p:sp>
        <p:nvSpPr>
          <p:cNvPr id="6" name="Oval 5"/>
          <p:cNvSpPr/>
          <p:nvPr/>
        </p:nvSpPr>
        <p:spPr>
          <a:xfrm>
            <a:off x="8229600" y="2188845"/>
            <a:ext cx="457200" cy="457200"/>
          </a:xfrm>
          <a:prstGeom prst="ellipse">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2</a:t>
            </a:r>
          </a:p>
        </p:txBody>
      </p:sp>
      <p:sp>
        <p:nvSpPr>
          <p:cNvPr id="7" name="Rounded Rectangle 6"/>
          <p:cNvSpPr/>
          <p:nvPr/>
        </p:nvSpPr>
        <p:spPr>
          <a:xfrm>
            <a:off x="411480" y="2032253"/>
            <a:ext cx="7680960" cy="770381"/>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2032253"/>
            <a:ext cx="7406640" cy="770381"/>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ما استراتيجياتها؟</a:t>
            </a:r>
          </a:p>
        </p:txBody>
      </p:sp>
      <p:sp>
        <p:nvSpPr>
          <p:cNvPr id="9" name="Oval 8"/>
          <p:cNvSpPr/>
          <p:nvPr/>
        </p:nvSpPr>
        <p:spPr>
          <a:xfrm>
            <a:off x="8229600" y="3068955"/>
            <a:ext cx="457200" cy="457200"/>
          </a:xfrm>
          <a:prstGeom prst="ellipse">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3</a:t>
            </a:r>
          </a:p>
        </p:txBody>
      </p:sp>
      <p:sp>
        <p:nvSpPr>
          <p:cNvPr id="10" name="Rounded Rectangle 9"/>
          <p:cNvSpPr/>
          <p:nvPr/>
        </p:nvSpPr>
        <p:spPr>
          <a:xfrm>
            <a:off x="411480" y="2912364"/>
            <a:ext cx="7680960" cy="770381"/>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2912364"/>
            <a:ext cx="7406640" cy="770381"/>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كيف تتفاوت مستويات التنمية عالميًا؟</a:t>
            </a:r>
          </a:p>
        </p:txBody>
      </p:sp>
      <p:sp>
        <p:nvSpPr>
          <p:cNvPr id="12" name="Oval 11"/>
          <p:cNvSpPr/>
          <p:nvPr/>
        </p:nvSpPr>
        <p:spPr>
          <a:xfrm>
            <a:off x="8229600" y="3949064"/>
            <a:ext cx="457200" cy="457200"/>
          </a:xfrm>
          <a:prstGeom prst="ellipse">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4</a:t>
            </a:r>
          </a:p>
        </p:txBody>
      </p:sp>
      <p:sp>
        <p:nvSpPr>
          <p:cNvPr id="13" name="Rounded Rectangle 12"/>
          <p:cNvSpPr/>
          <p:nvPr/>
        </p:nvSpPr>
        <p:spPr>
          <a:xfrm>
            <a:off x="411480" y="3792473"/>
            <a:ext cx="7680960" cy="770381"/>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8640" y="3792473"/>
            <a:ext cx="7406640" cy="770381"/>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ما النظريات المفسّرة لهذا التفاوت؟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هندسة التقدم: فهم التنمية العالمية</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1.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مقدمة</a:t>
            </a:r>
          </a:p>
          <a:p>
            <a:pPr rtl="1" algn="r">
              <a:buNone/>
              <a:spcAft>
                <a:spcPts val="600"/>
              </a:spcAft>
            </a:pPr>
            <a:r>
              <a:rPr sz="2600" b="0" lang="ar-MA">
                <a:latin typeface="Cairo"/>
                <a:cs typeface="Cairo"/>
              </a:rPr>
              <a:t>التنمية مفهوم معقد تعددت المقاربات في سبيل الإلمام به.</a:t>
            </a:r>
          </a:p>
          <a:p>
            <a:pPr rtl="1" algn="r">
              <a:buNone/>
              <a:spcAft>
                <a:spcPts val="600"/>
              </a:spcAft>
            </a:pPr>
            <a:r>
              <a:rPr sz="2600" b="0" lang="ar-MA">
                <a:latin typeface="Cairo"/>
                <a:cs typeface="Cairo"/>
              </a:rPr>
              <a:t>• فما هو مفهوم التنمية؟ وما هي مقارباتها؟</a:t>
            </a:r>
          </a:p>
          <a:p>
            <a:pPr rtl="1" algn="r">
              <a:buNone/>
              <a:spcAft>
                <a:spcPts val="600"/>
              </a:spcAft>
            </a:pPr>
            <a:r>
              <a:rPr sz="2600" b="0" lang="ar-MA">
                <a:latin typeface="Cairo"/>
                <a:cs typeface="Cairo"/>
              </a:rPr>
              <a:t>• وما هي إستراتيجياتها؟</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وكيف تتفاوت مستويات التنمية على المستوى العالمي؟</a:t>
            </a:r>
          </a:p>
          <a:p>
            <a:pPr rtl="1" algn="r">
              <a:buNone/>
              <a:spcAft>
                <a:spcPts val="600"/>
              </a:spcAft>
            </a:pPr>
            <a:r>
              <a:rPr sz="2600" b="0" lang="ar-MA">
                <a:latin typeface="Cairo"/>
                <a:cs typeface="Cairo"/>
              </a:rPr>
              <a:t>• وما هي النظريات المفسرة لتفاوت التنمية؟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1</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الأول: مفهوم التنمية ومؤشرها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النمو ≠ التنمية</a:t>
            </a:r>
          </a:p>
        </p:txBody>
      </p:sp>
      <p:sp>
        <p:nvSpPr>
          <p:cNvPr id="3" name="Rounded Rectangle 2"/>
          <p:cNvSpPr/>
          <p:nvPr/>
        </p:nvSpPr>
        <p:spPr>
          <a:xfrm>
            <a:off x="5212080" y="1097280"/>
            <a:ext cx="3520440" cy="1075943"/>
          </a:xfrm>
          <a:prstGeom prst="roundRect">
            <a:avLst>
              <a:gd name="adj" fmla="val 15000"/>
            </a:avLst>
          </a:prstGeom>
          <a:solidFill>
            <a:srgbClr val="FFFFFF"/>
          </a:solidFill>
          <a:ln w="15875">
            <a:solidFill>
              <a:srgbClr val="1F6F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406640" y="1097280"/>
            <a:ext cx="1325880" cy="1075943"/>
          </a:xfrm>
          <a:prstGeom prst="roundRect">
            <a:avLst>
              <a:gd name="adj" fmla="val 1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406640" y="1097280"/>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النمو</a:t>
            </a:r>
          </a:p>
        </p:txBody>
      </p:sp>
      <p:sp>
        <p:nvSpPr>
          <p:cNvPr id="6" name="TextBox 5"/>
          <p:cNvSpPr txBox="1"/>
          <p:nvPr/>
        </p:nvSpPr>
        <p:spPr>
          <a:xfrm>
            <a:off x="5303520" y="1097280"/>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زيادة كمية في الإنتاج</a:t>
            </a:r>
          </a:p>
        </p:txBody>
      </p:sp>
      <p:sp>
        <p:nvSpPr>
          <p:cNvPr id="7" name="Rounded Rectangle 6"/>
          <p:cNvSpPr/>
          <p:nvPr/>
        </p:nvSpPr>
        <p:spPr>
          <a:xfrm>
            <a:off x="411480" y="1097280"/>
            <a:ext cx="3520440" cy="1075943"/>
          </a:xfrm>
          <a:prstGeom prst="roundRect">
            <a:avLst>
              <a:gd name="adj" fmla="val 15000"/>
            </a:avLst>
          </a:prstGeom>
          <a:solidFill>
            <a:srgbClr val="FFFFFF"/>
          </a:solidFill>
          <a:ln w="15875">
            <a:solidFill>
              <a:srgbClr val="8C2F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606039" y="1097280"/>
            <a:ext cx="1325880" cy="1075943"/>
          </a:xfrm>
          <a:prstGeom prst="roundRect">
            <a:avLst>
              <a:gd name="adj" fmla="val 1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606039" y="1097280"/>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التنمية</a:t>
            </a:r>
          </a:p>
        </p:txBody>
      </p:sp>
      <p:sp>
        <p:nvSpPr>
          <p:cNvPr id="10" name="TextBox 9"/>
          <p:cNvSpPr txBox="1"/>
          <p:nvPr/>
        </p:nvSpPr>
        <p:spPr>
          <a:xfrm>
            <a:off x="502920" y="1097280"/>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تطور نوعي في الحياة</a:t>
            </a:r>
          </a:p>
        </p:txBody>
      </p:sp>
      <p:sp>
        <p:nvSpPr>
          <p:cNvPr id="11" name="Oval 10"/>
          <p:cNvSpPr/>
          <p:nvPr/>
        </p:nvSpPr>
        <p:spPr>
          <a:xfrm>
            <a:off x="4288536" y="1351787"/>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
        <p:nvSpPr>
          <p:cNvPr id="12" name="Rounded Rectangle 11"/>
          <p:cNvSpPr/>
          <p:nvPr/>
        </p:nvSpPr>
        <p:spPr>
          <a:xfrm>
            <a:off x="5212080" y="2319527"/>
            <a:ext cx="3520440" cy="1075943"/>
          </a:xfrm>
          <a:prstGeom prst="roundRect">
            <a:avLst>
              <a:gd name="adj" fmla="val 15000"/>
            </a:avLst>
          </a:prstGeom>
          <a:solidFill>
            <a:srgbClr val="FFFFFF"/>
          </a:solidFill>
          <a:ln w="15875">
            <a:solidFill>
              <a:srgbClr val="4F7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7406640" y="2319527"/>
            <a:ext cx="1325880" cy="1075943"/>
          </a:xfrm>
          <a:prstGeom prst="roundRect">
            <a:avLst>
              <a:gd name="adj" fmla="val 1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06640" y="2319527"/>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الإنسان</a:t>
            </a:r>
          </a:p>
        </p:txBody>
      </p:sp>
      <p:sp>
        <p:nvSpPr>
          <p:cNvPr id="15" name="TextBox 14"/>
          <p:cNvSpPr txBox="1"/>
          <p:nvPr/>
        </p:nvSpPr>
        <p:spPr>
          <a:xfrm>
            <a:off x="5303520" y="2319527"/>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وسيلة للإنتاج</a:t>
            </a:r>
          </a:p>
        </p:txBody>
      </p:sp>
      <p:sp>
        <p:nvSpPr>
          <p:cNvPr id="16" name="Rounded Rectangle 15"/>
          <p:cNvSpPr/>
          <p:nvPr/>
        </p:nvSpPr>
        <p:spPr>
          <a:xfrm>
            <a:off x="411480" y="2319527"/>
            <a:ext cx="3520440" cy="1075943"/>
          </a:xfrm>
          <a:prstGeom prst="roundRect">
            <a:avLst>
              <a:gd name="adj" fmla="val 15000"/>
            </a:avLst>
          </a:prstGeom>
          <a:solidFill>
            <a:srgbClr val="FFFFFF"/>
          </a:solidFill>
          <a:ln w="15875">
            <a:solidFill>
              <a:srgbClr val="B06A1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2606039" y="2319527"/>
            <a:ext cx="1325880" cy="1075943"/>
          </a:xfrm>
          <a:prstGeom prst="roundRect">
            <a:avLst>
              <a:gd name="adj" fmla="val 1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606039" y="2319527"/>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الإنسان</a:t>
            </a:r>
          </a:p>
        </p:txBody>
      </p:sp>
      <p:sp>
        <p:nvSpPr>
          <p:cNvPr id="19" name="TextBox 18"/>
          <p:cNvSpPr txBox="1"/>
          <p:nvPr/>
        </p:nvSpPr>
        <p:spPr>
          <a:xfrm>
            <a:off x="502920" y="2319527"/>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غاية التنمية وهدفها</a:t>
            </a:r>
          </a:p>
        </p:txBody>
      </p:sp>
      <p:sp>
        <p:nvSpPr>
          <p:cNvPr id="20" name="Oval 19"/>
          <p:cNvSpPr/>
          <p:nvPr/>
        </p:nvSpPr>
        <p:spPr>
          <a:xfrm>
            <a:off x="4288536" y="2574035"/>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
        <p:nvSpPr>
          <p:cNvPr id="21" name="Rounded Rectangle 20"/>
          <p:cNvSpPr/>
          <p:nvPr/>
        </p:nvSpPr>
        <p:spPr>
          <a:xfrm>
            <a:off x="5212080" y="3541775"/>
            <a:ext cx="3520440" cy="1075943"/>
          </a:xfrm>
          <a:prstGeom prst="roundRect">
            <a:avLst>
              <a:gd name="adj" fmla="val 15000"/>
            </a:avLst>
          </a:prstGeom>
          <a:solidFill>
            <a:srgbClr val="FFFFFF"/>
          </a:solidFill>
          <a:ln w="15875">
            <a:solidFill>
              <a:srgbClr val="4A4F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406640" y="3541775"/>
            <a:ext cx="1325880" cy="1075943"/>
          </a:xfrm>
          <a:prstGeom prst="roundRect">
            <a:avLst>
              <a:gd name="adj" fmla="val 15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06640" y="3541775"/>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المقياس</a:t>
            </a:r>
          </a:p>
        </p:txBody>
      </p:sp>
      <p:sp>
        <p:nvSpPr>
          <p:cNvPr id="24" name="TextBox 23"/>
          <p:cNvSpPr txBox="1"/>
          <p:nvPr/>
        </p:nvSpPr>
        <p:spPr>
          <a:xfrm>
            <a:off x="5303520" y="3541775"/>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PIB والدخل الفردي</a:t>
            </a:r>
          </a:p>
        </p:txBody>
      </p:sp>
      <p:sp>
        <p:nvSpPr>
          <p:cNvPr id="25" name="Rounded Rectangle 24"/>
          <p:cNvSpPr/>
          <p:nvPr/>
        </p:nvSpPr>
        <p:spPr>
          <a:xfrm>
            <a:off x="411480" y="3541775"/>
            <a:ext cx="3520440" cy="1075943"/>
          </a:xfrm>
          <a:prstGeom prst="roundRect">
            <a:avLst>
              <a:gd name="adj" fmla="val 15000"/>
            </a:avLst>
          </a:prstGeom>
          <a:solidFill>
            <a:srgbClr val="FFFFFF"/>
          </a:solidFill>
          <a:ln w="15875">
            <a:solidFill>
              <a:srgbClr val="0B22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2606039" y="3541775"/>
            <a:ext cx="1325880" cy="1075943"/>
          </a:xfrm>
          <a:prstGeom prst="roundRect">
            <a:avLst>
              <a:gd name="adj" fmla="val 15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2606039" y="3541775"/>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المقياس</a:t>
            </a:r>
          </a:p>
        </p:txBody>
      </p:sp>
      <p:sp>
        <p:nvSpPr>
          <p:cNvPr id="28" name="TextBox 27"/>
          <p:cNvSpPr txBox="1"/>
          <p:nvPr/>
        </p:nvSpPr>
        <p:spPr>
          <a:xfrm>
            <a:off x="502920" y="3541775"/>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مؤشر التنمية البشرية IDH</a:t>
            </a:r>
          </a:p>
        </p:txBody>
      </p:sp>
      <p:sp>
        <p:nvSpPr>
          <p:cNvPr id="29" name="Oval 28"/>
          <p:cNvSpPr/>
          <p:nvPr/>
        </p:nvSpPr>
        <p:spPr>
          <a:xfrm>
            <a:off x="4288536" y="3796283"/>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2800" b="0" lang="ar-MA">
                <a:latin typeface="Cairo"/>
                <a:cs typeface="Cairo"/>
              </a:rPr>
              <a:t>التحول المفاهيمي: من «النمو» إلى «التنمية»</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2.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مؤشر التنمية البشرية: ثلاثة معايير</a:t>
            </a:r>
          </a:p>
        </p:txBody>
      </p:sp>
      <p:sp>
        <p:nvSpPr>
          <p:cNvPr id="3" name="Rounded Rectangle 2"/>
          <p:cNvSpPr/>
          <p:nvPr/>
        </p:nvSpPr>
        <p:spPr>
          <a:xfrm>
            <a:off x="6068568"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622792" y="1097280"/>
            <a:ext cx="109728" cy="3520439"/>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05728" y="1508760"/>
            <a:ext cx="2298192" cy="594360"/>
          </a:xfrm>
          <a:prstGeom prst="rect">
            <a:avLst/>
          </a:prstGeom>
          <a:noFill/>
        </p:spPr>
        <p:txBody>
          <a:bodyPr wrap="square" lIns="45720" rIns="45720" tIns="18288" bIns="18288" anchor="t">
            <a:spAutoFit/>
          </a:bodyPr>
          <a:lstStyle/>
          <a:p>
            <a:pPr rtl="1" algn="r">
              <a:lnSpc>
                <a:spcPct val="95000"/>
              </a:lnSpc>
            </a:pPr>
            <a:r>
              <a:rPr sz="2800" b="1" lang="ar-MA">
                <a:solidFill>
                  <a:srgbClr val="1F6F78"/>
                </a:solidFill>
                <a:latin typeface="Cairo"/>
                <a:cs typeface="Cairo"/>
              </a:rPr>
              <a:t>اقتصادي</a:t>
            </a:r>
          </a:p>
        </p:txBody>
      </p:sp>
      <p:sp>
        <p:nvSpPr>
          <p:cNvPr id="6" name="TextBox 5"/>
          <p:cNvSpPr txBox="1"/>
          <p:nvPr/>
        </p:nvSpPr>
        <p:spPr>
          <a:xfrm>
            <a:off x="6205728" y="21031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a:t>
            </a:r>
          </a:p>
        </p:txBody>
      </p:sp>
      <p:sp>
        <p:nvSpPr>
          <p:cNvPr id="7" name="TextBox 6"/>
          <p:cNvSpPr txBox="1"/>
          <p:nvPr/>
        </p:nvSpPr>
        <p:spPr>
          <a:xfrm>
            <a:off x="6205728" y="2459735"/>
            <a:ext cx="2298192" cy="21122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الدخل الفردي بتعادل القدرة الشرائية</a:t>
            </a:r>
          </a:p>
        </p:txBody>
      </p:sp>
      <p:sp>
        <p:nvSpPr>
          <p:cNvPr id="8" name="Rounded Rectangle 7"/>
          <p:cNvSpPr/>
          <p:nvPr/>
        </p:nvSpPr>
        <p:spPr>
          <a:xfrm>
            <a:off x="3240023"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794248" y="1097280"/>
            <a:ext cx="109728" cy="3520439"/>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77183" y="1508760"/>
            <a:ext cx="2298192" cy="594360"/>
          </a:xfrm>
          <a:prstGeom prst="rect">
            <a:avLst/>
          </a:prstGeom>
          <a:noFill/>
        </p:spPr>
        <p:txBody>
          <a:bodyPr wrap="square" lIns="45720" rIns="45720" tIns="18288" bIns="18288" anchor="t">
            <a:spAutoFit/>
          </a:bodyPr>
          <a:lstStyle/>
          <a:p>
            <a:pPr rtl="1" algn="r">
              <a:lnSpc>
                <a:spcPct val="95000"/>
              </a:lnSpc>
            </a:pPr>
            <a:r>
              <a:rPr sz="2800" b="1" lang="ar-MA">
                <a:solidFill>
                  <a:srgbClr val="8C2F39"/>
                </a:solidFill>
                <a:latin typeface="Cairo"/>
                <a:cs typeface="Cairo"/>
              </a:rPr>
              <a:t>صحي</a:t>
            </a:r>
          </a:p>
        </p:txBody>
      </p:sp>
      <p:sp>
        <p:nvSpPr>
          <p:cNvPr id="11" name="TextBox 10"/>
          <p:cNvSpPr txBox="1"/>
          <p:nvPr/>
        </p:nvSpPr>
        <p:spPr>
          <a:xfrm>
            <a:off x="3377183" y="21031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a:t>
            </a:r>
          </a:p>
        </p:txBody>
      </p:sp>
      <p:sp>
        <p:nvSpPr>
          <p:cNvPr id="12" name="TextBox 11"/>
          <p:cNvSpPr txBox="1"/>
          <p:nvPr/>
        </p:nvSpPr>
        <p:spPr>
          <a:xfrm>
            <a:off x="3377183" y="2459735"/>
            <a:ext cx="2298192" cy="21122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أمد الحياة ووفيات الأطفال</a:t>
            </a:r>
          </a:p>
        </p:txBody>
      </p:sp>
      <p:sp>
        <p:nvSpPr>
          <p:cNvPr id="13" name="Rounded Rectangle 12"/>
          <p:cNvSpPr/>
          <p:nvPr/>
        </p:nvSpPr>
        <p:spPr>
          <a:xfrm>
            <a:off x="411479"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965703" y="1097280"/>
            <a:ext cx="109728" cy="3520439"/>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8639" y="1508760"/>
            <a:ext cx="2298192" cy="594360"/>
          </a:xfrm>
          <a:prstGeom prst="rect">
            <a:avLst/>
          </a:prstGeom>
          <a:noFill/>
        </p:spPr>
        <p:txBody>
          <a:bodyPr wrap="square" lIns="45720" rIns="45720" tIns="18288" bIns="18288" anchor="t">
            <a:spAutoFit/>
          </a:bodyPr>
          <a:lstStyle/>
          <a:p>
            <a:pPr rtl="1" algn="r">
              <a:lnSpc>
                <a:spcPct val="95000"/>
              </a:lnSpc>
            </a:pPr>
            <a:r>
              <a:rPr sz="2800" b="1" lang="ar-MA">
                <a:solidFill>
                  <a:srgbClr val="4F7A3A"/>
                </a:solidFill>
                <a:latin typeface="Cairo"/>
                <a:cs typeface="Cairo"/>
              </a:rPr>
              <a:t>تعليمي</a:t>
            </a:r>
          </a:p>
        </p:txBody>
      </p:sp>
      <p:sp>
        <p:nvSpPr>
          <p:cNvPr id="16" name="TextBox 15"/>
          <p:cNvSpPr txBox="1"/>
          <p:nvPr/>
        </p:nvSpPr>
        <p:spPr>
          <a:xfrm>
            <a:off x="548639" y="21031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a:t>
            </a:r>
          </a:p>
        </p:txBody>
      </p:sp>
      <p:sp>
        <p:nvSpPr>
          <p:cNvPr id="17" name="TextBox 16"/>
          <p:cNvSpPr txBox="1"/>
          <p:nvPr/>
        </p:nvSpPr>
        <p:spPr>
          <a:xfrm>
            <a:off x="548639" y="2459735"/>
            <a:ext cx="2298192" cy="21122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الأمية والتمدرس لدى الصغار والكبار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ركائز مؤشر التنمية البشرية (IDH)</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3.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كيف اتسع مفهوم التنمية؟</a:t>
            </a:r>
          </a:p>
        </p:txBody>
      </p:sp>
      <p:sp>
        <p:nvSpPr>
          <p:cNvPr id="3" name="Rectangle 2"/>
          <p:cNvSpPr/>
          <p:nvPr/>
        </p:nvSpPr>
        <p:spPr>
          <a:xfrm>
            <a:off x="502920" y="2482596"/>
            <a:ext cx="8138160" cy="64008"/>
          </a:xfrm>
          <a:prstGeom prst="rect">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697980" y="1234440"/>
            <a:ext cx="1988820" cy="731520"/>
          </a:xfrm>
          <a:prstGeom prst="roundRect">
            <a:avLst>
              <a:gd name="adj" fmla="val 3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697980" y="1234440"/>
            <a:ext cx="198882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50–60</a:t>
            </a:r>
          </a:p>
        </p:txBody>
      </p:sp>
      <p:sp>
        <p:nvSpPr>
          <p:cNvPr id="6" name="Rectangle 5"/>
          <p:cNvSpPr/>
          <p:nvPr/>
        </p:nvSpPr>
        <p:spPr>
          <a:xfrm>
            <a:off x="7678674" y="1965960"/>
            <a:ext cx="27432" cy="548640"/>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55523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600950" y="2423160"/>
            <a:ext cx="182880" cy="18288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70548" y="2743200"/>
            <a:ext cx="204368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البعد الاقتصادي</a:t>
            </a:r>
          </a:p>
        </p:txBody>
      </p:sp>
      <p:sp>
        <p:nvSpPr>
          <p:cNvPr id="10" name="TextBox 9"/>
          <p:cNvSpPr txBox="1"/>
          <p:nvPr/>
        </p:nvSpPr>
        <p:spPr>
          <a:xfrm>
            <a:off x="6670548" y="3703320"/>
            <a:ext cx="204368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التصنيع وزيادة الإنتاج</a:t>
            </a:r>
          </a:p>
        </p:txBody>
      </p:sp>
      <p:sp>
        <p:nvSpPr>
          <p:cNvPr id="11" name="Rounded Rectangle 10"/>
          <p:cNvSpPr/>
          <p:nvPr/>
        </p:nvSpPr>
        <p:spPr>
          <a:xfrm>
            <a:off x="4617720" y="1234440"/>
            <a:ext cx="1988820" cy="731520"/>
          </a:xfrm>
          <a:prstGeom prst="roundRect">
            <a:avLst>
              <a:gd name="adj" fmla="val 3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17720" y="1234440"/>
            <a:ext cx="198882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السبعينيات</a:t>
            </a:r>
          </a:p>
        </p:txBody>
      </p:sp>
      <p:sp>
        <p:nvSpPr>
          <p:cNvPr id="13" name="Rectangle 12"/>
          <p:cNvSpPr/>
          <p:nvPr/>
        </p:nvSpPr>
        <p:spPr>
          <a:xfrm>
            <a:off x="5598414" y="1965960"/>
            <a:ext cx="27432" cy="54864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47497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520690" y="2423160"/>
            <a:ext cx="182880" cy="182880"/>
          </a:xfrm>
          <a:prstGeom prst="ellipse">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90288" y="2743200"/>
            <a:ext cx="204368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البعد الاجتماعي</a:t>
            </a:r>
          </a:p>
        </p:txBody>
      </p:sp>
      <p:sp>
        <p:nvSpPr>
          <p:cNvPr id="17" name="TextBox 16"/>
          <p:cNvSpPr txBox="1"/>
          <p:nvPr/>
        </p:nvSpPr>
        <p:spPr>
          <a:xfrm>
            <a:off x="4590288" y="3703320"/>
            <a:ext cx="204368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محاربة الفقر والحاجات الأساسية</a:t>
            </a:r>
          </a:p>
        </p:txBody>
      </p:sp>
      <p:sp>
        <p:nvSpPr>
          <p:cNvPr id="18" name="Rounded Rectangle 17"/>
          <p:cNvSpPr/>
          <p:nvPr/>
        </p:nvSpPr>
        <p:spPr>
          <a:xfrm>
            <a:off x="2537459" y="1234440"/>
            <a:ext cx="1988820" cy="731520"/>
          </a:xfrm>
          <a:prstGeom prst="roundRect">
            <a:avLst>
              <a:gd name="adj" fmla="val 3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537459" y="1234440"/>
            <a:ext cx="198882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1990</a:t>
            </a:r>
          </a:p>
        </p:txBody>
      </p:sp>
      <p:sp>
        <p:nvSpPr>
          <p:cNvPr id="20" name="Rectangle 19"/>
          <p:cNvSpPr/>
          <p:nvPr/>
        </p:nvSpPr>
        <p:spPr>
          <a:xfrm>
            <a:off x="3518153" y="1965960"/>
            <a:ext cx="27432" cy="548640"/>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339471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3440429" y="2423160"/>
            <a:ext cx="182880" cy="182880"/>
          </a:xfrm>
          <a:prstGeom prst="ellipse">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510027" y="2743200"/>
            <a:ext cx="204368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التنمية البشرية</a:t>
            </a:r>
          </a:p>
        </p:txBody>
      </p:sp>
      <p:sp>
        <p:nvSpPr>
          <p:cNvPr id="24" name="TextBox 23"/>
          <p:cNvSpPr txBox="1"/>
          <p:nvPr/>
        </p:nvSpPr>
        <p:spPr>
          <a:xfrm>
            <a:off x="2510027" y="3703320"/>
            <a:ext cx="204368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اعتماد مؤشر IDH</a:t>
            </a:r>
          </a:p>
        </p:txBody>
      </p:sp>
      <p:sp>
        <p:nvSpPr>
          <p:cNvPr id="25" name="Rounded Rectangle 24"/>
          <p:cNvSpPr/>
          <p:nvPr/>
        </p:nvSpPr>
        <p:spPr>
          <a:xfrm>
            <a:off x="457199" y="1234440"/>
            <a:ext cx="1988820" cy="731520"/>
          </a:xfrm>
          <a:prstGeom prst="roundRect">
            <a:avLst>
              <a:gd name="adj" fmla="val 3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57199" y="1234440"/>
            <a:ext cx="198882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1992</a:t>
            </a:r>
          </a:p>
        </p:txBody>
      </p:sp>
      <p:sp>
        <p:nvSpPr>
          <p:cNvPr id="27" name="Rectangle 26"/>
          <p:cNvSpPr/>
          <p:nvPr/>
        </p:nvSpPr>
        <p:spPr>
          <a:xfrm>
            <a:off x="1437893" y="1965960"/>
            <a:ext cx="27432" cy="548640"/>
          </a:xfrm>
          <a:prstGeom prst="rect">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14449"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360169" y="2423160"/>
            <a:ext cx="182880" cy="182880"/>
          </a:xfrm>
          <a:prstGeom prst="ellipse">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29767" y="2743200"/>
            <a:ext cx="204368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التنمية المستدامة</a:t>
            </a:r>
          </a:p>
        </p:txBody>
      </p:sp>
      <p:sp>
        <p:nvSpPr>
          <p:cNvPr id="31" name="TextBox 30"/>
          <p:cNvSpPr txBox="1"/>
          <p:nvPr/>
        </p:nvSpPr>
        <p:spPr>
          <a:xfrm>
            <a:off x="429767" y="3703320"/>
            <a:ext cx="204368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قمة الأرض بريو دي جانيرو</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التنمية المستدامة: حق الأجيال القادمة</a:t>
            </a:r>
          </a:p>
        </p:txBody>
      </p:sp>
      <p:sp>
        <p:nvSpPr>
          <p:cNvPr id="3" name="Rounded Rectangle 2"/>
          <p:cNvSpPr/>
          <p:nvPr/>
        </p:nvSpPr>
        <p:spPr>
          <a:xfrm>
            <a:off x="4663440" y="1097280"/>
            <a:ext cx="4069080" cy="1668779"/>
          </a:xfrm>
          <a:prstGeom prst="roundRect">
            <a:avLst>
              <a:gd name="adj" fmla="val 12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069580"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1F6F78"/>
                </a:solidFill>
                <a:latin typeface="Cairo"/>
                <a:cs typeface="Cairo"/>
              </a:rPr>
              <a:t>1</a:t>
            </a:r>
          </a:p>
        </p:txBody>
      </p:sp>
      <p:sp>
        <p:nvSpPr>
          <p:cNvPr id="5" name="TextBox 4"/>
          <p:cNvSpPr txBox="1"/>
          <p:nvPr/>
        </p:nvSpPr>
        <p:spPr>
          <a:xfrm>
            <a:off x="4846320" y="123443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تعريفها</a:t>
            </a:r>
          </a:p>
        </p:txBody>
      </p:sp>
      <p:sp>
        <p:nvSpPr>
          <p:cNvPr id="6" name="TextBox 5"/>
          <p:cNvSpPr txBox="1"/>
          <p:nvPr/>
        </p:nvSpPr>
        <p:spPr>
          <a:xfrm>
            <a:off x="4846320"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تلبية حاجات الحاضر دون المساس بحق الأجيال المقبلة</a:t>
            </a:r>
          </a:p>
        </p:txBody>
      </p:sp>
      <p:sp>
        <p:nvSpPr>
          <p:cNvPr id="7" name="Rounded Rectangle 6"/>
          <p:cNvSpPr/>
          <p:nvPr/>
        </p:nvSpPr>
        <p:spPr>
          <a:xfrm>
            <a:off x="411479" y="1097280"/>
            <a:ext cx="4069080" cy="1668779"/>
          </a:xfrm>
          <a:prstGeom prst="roundRect">
            <a:avLst>
              <a:gd name="adj" fmla="val 12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3817619"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8C2F39"/>
                </a:solidFill>
                <a:latin typeface="Cairo"/>
                <a:cs typeface="Cairo"/>
              </a:rPr>
              <a:t>2</a:t>
            </a:r>
          </a:p>
        </p:txBody>
      </p:sp>
      <p:sp>
        <p:nvSpPr>
          <p:cNvPr id="9" name="TextBox 8"/>
          <p:cNvSpPr txBox="1"/>
          <p:nvPr/>
        </p:nvSpPr>
        <p:spPr>
          <a:xfrm>
            <a:off x="594359" y="123443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اقتصاديًا</a:t>
            </a:r>
          </a:p>
        </p:txBody>
      </p:sp>
      <p:sp>
        <p:nvSpPr>
          <p:cNvPr id="10" name="TextBox 9"/>
          <p:cNvSpPr txBox="1"/>
          <p:nvPr/>
        </p:nvSpPr>
        <p:spPr>
          <a:xfrm>
            <a:off x="594359"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خلق الثروة بشكل مسؤول</a:t>
            </a:r>
          </a:p>
        </p:txBody>
      </p:sp>
      <p:sp>
        <p:nvSpPr>
          <p:cNvPr id="11" name="Rounded Rectangle 10"/>
          <p:cNvSpPr/>
          <p:nvPr/>
        </p:nvSpPr>
        <p:spPr>
          <a:xfrm>
            <a:off x="4663440" y="2948939"/>
            <a:ext cx="4069080" cy="1668779"/>
          </a:xfrm>
          <a:prstGeom prst="roundRect">
            <a:avLst>
              <a:gd name="adj" fmla="val 12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069580"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4F7A3A"/>
                </a:solidFill>
                <a:latin typeface="Cairo"/>
                <a:cs typeface="Cairo"/>
              </a:rPr>
              <a:t>3</a:t>
            </a:r>
          </a:p>
        </p:txBody>
      </p:sp>
      <p:sp>
        <p:nvSpPr>
          <p:cNvPr id="13" name="TextBox 12"/>
          <p:cNvSpPr txBox="1"/>
          <p:nvPr/>
        </p:nvSpPr>
        <p:spPr>
          <a:xfrm>
            <a:off x="4846320" y="308609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اجتماعيًا</a:t>
            </a:r>
          </a:p>
        </p:txBody>
      </p:sp>
      <p:sp>
        <p:nvSpPr>
          <p:cNvPr id="14" name="TextBox 13"/>
          <p:cNvSpPr txBox="1"/>
          <p:nvPr/>
        </p:nvSpPr>
        <p:spPr>
          <a:xfrm>
            <a:off x="4846320"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توزيع الثروة وإنصاف الفقراء</a:t>
            </a:r>
          </a:p>
        </p:txBody>
      </p:sp>
      <p:sp>
        <p:nvSpPr>
          <p:cNvPr id="15" name="Rounded Rectangle 14"/>
          <p:cNvSpPr/>
          <p:nvPr/>
        </p:nvSpPr>
        <p:spPr>
          <a:xfrm>
            <a:off x="411479" y="2948939"/>
            <a:ext cx="4069080" cy="1668779"/>
          </a:xfrm>
          <a:prstGeom prst="roundRect">
            <a:avLst>
              <a:gd name="adj" fmla="val 12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817619"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B06A1E"/>
                </a:solidFill>
                <a:latin typeface="Cairo"/>
                <a:cs typeface="Cairo"/>
              </a:rPr>
              <a:t>4</a:t>
            </a:r>
          </a:p>
        </p:txBody>
      </p:sp>
      <p:sp>
        <p:nvSpPr>
          <p:cNvPr id="17" name="TextBox 16"/>
          <p:cNvSpPr txBox="1"/>
          <p:nvPr/>
        </p:nvSpPr>
        <p:spPr>
          <a:xfrm>
            <a:off x="594359" y="308609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بيئيًا</a:t>
            </a:r>
          </a:p>
        </p:txBody>
      </p:sp>
      <p:sp>
        <p:nvSpPr>
          <p:cNvPr id="18" name="TextBox 17"/>
          <p:cNvSpPr txBox="1"/>
          <p:nvPr/>
        </p:nvSpPr>
        <p:spPr>
          <a:xfrm>
            <a:off x="594359"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صون الموارد وتجنب التلوث</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1- التنمية: مفهومها ومقارباتها</a:t>
            </a:r>
          </a:p>
          <a:p>
            <a:pPr rtl="1" algn="r">
              <a:buNone/>
              <a:spcAft>
                <a:spcPts val="600"/>
              </a:spcAft>
            </a:pPr>
            <a:r>
              <a:rPr sz="2600" b="1" lang="ar-MA">
                <a:solidFill>
                  <a:srgbClr val="0B2242"/>
                </a:solidFill>
                <a:latin typeface="Cairo"/>
                <a:cs typeface="Cairo"/>
              </a:rPr>
              <a:t>1- مفهوم التنمية</a:t>
            </a:r>
          </a:p>
          <a:p>
            <a:pPr rtl="1" algn="r">
              <a:buNone/>
              <a:spcAft>
                <a:spcPts val="600"/>
              </a:spcAft>
            </a:pPr>
            <a:r>
              <a:rPr sz="2600" b="0" lang="ar-MA">
                <a:latin typeface="Cairo"/>
                <a:cs typeface="Cairo"/>
              </a:rPr>
              <a:t>التنمية البشرية هي تحسين مستدام لشروط حياة ساكنة ما على جميع المستويات وهي تختلف عن التنمية الاقتصادية (النمو) التي تركز على الجانب الاقتصادي وتعتبر الإنسان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وسيلة للإنتاج فقط.</a:t>
            </a:r>
          </a:p>
          <a:p>
            <a:pPr rtl="1" algn="r">
              <a:buNone/>
              <a:spcAft>
                <a:spcPts val="600"/>
              </a:spcAft>
            </a:pPr>
            <a:r>
              <a:rPr sz="2600" b="0" lang="ar-MA">
                <a:latin typeface="Cairo"/>
                <a:cs typeface="Cairo"/>
              </a:rPr>
              <a:t>باعتبار التنمية البشرية تركز على الإنسان وتعتبره هدفا في حد ذاته، فإن خبراء الأمم المتحدة وضعوا مقياسا للتنمية البشرية يركز على مستويات رفاهية الساكنة (مؤشر التنمية البشرية IDH) ويعتمد ثلاث معايير:</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المعيار الاقتصادي: ويركز على المستوى الاقتصادي ببلد ما من خلال مستوى الدخل الفردي مع مراعاة القدرة الشرائية للسكان.</a:t>
            </a:r>
          </a:p>
          <a:p>
            <a:pPr rtl="1" algn="r">
              <a:buNone/>
              <a:spcAft>
                <a:spcPts val="600"/>
              </a:spcAft>
            </a:pPr>
            <a:r>
              <a:rPr sz="2600" b="0" lang="ar-MA">
                <a:latin typeface="Cairo"/>
                <a:cs typeface="Cairo"/>
              </a:rPr>
              <a:t>• المعيار الصحي: ويرتكز على أمد الحياة ونسبة وفيات الأطفال.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المعيار التعليمي: ويعتمد نسبة الأمية ونسبة التمدرس لدى الصغار والكبار.</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2</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الثاني: استراتيجيات التنمية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استراتيجيتان متعارضتان</a:t>
            </a:r>
          </a:p>
        </p:txBody>
      </p:sp>
      <p:sp>
        <p:nvSpPr>
          <p:cNvPr id="3" name="Rounded Rectangle 2"/>
          <p:cNvSpPr/>
          <p:nvPr/>
        </p:nvSpPr>
        <p:spPr>
          <a:xfrm>
            <a:off x="5212080" y="1097280"/>
            <a:ext cx="3520440" cy="1075943"/>
          </a:xfrm>
          <a:prstGeom prst="roundRect">
            <a:avLst>
              <a:gd name="adj" fmla="val 15000"/>
            </a:avLst>
          </a:prstGeom>
          <a:solidFill>
            <a:srgbClr val="FFFFFF"/>
          </a:solidFill>
          <a:ln w="15875">
            <a:solidFill>
              <a:srgbClr val="1F6F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406640" y="1097280"/>
            <a:ext cx="1325880" cy="1075943"/>
          </a:xfrm>
          <a:prstGeom prst="roundRect">
            <a:avLst>
              <a:gd name="adj" fmla="val 1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406640" y="1097280"/>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اشتراكية</a:t>
            </a:r>
          </a:p>
        </p:txBody>
      </p:sp>
      <p:sp>
        <p:nvSpPr>
          <p:cNvPr id="6" name="TextBox 5"/>
          <p:cNvSpPr txBox="1"/>
          <p:nvPr/>
        </p:nvSpPr>
        <p:spPr>
          <a:xfrm>
            <a:off x="5303520" y="1097280"/>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الصين (ماو) والجزائر (بومدين)</a:t>
            </a:r>
          </a:p>
        </p:txBody>
      </p:sp>
      <p:sp>
        <p:nvSpPr>
          <p:cNvPr id="7" name="Rounded Rectangle 6"/>
          <p:cNvSpPr/>
          <p:nvPr/>
        </p:nvSpPr>
        <p:spPr>
          <a:xfrm>
            <a:off x="411480" y="1097280"/>
            <a:ext cx="3520440" cy="1075943"/>
          </a:xfrm>
          <a:prstGeom prst="roundRect">
            <a:avLst>
              <a:gd name="adj" fmla="val 15000"/>
            </a:avLst>
          </a:prstGeom>
          <a:solidFill>
            <a:srgbClr val="FFFFFF"/>
          </a:solidFill>
          <a:ln w="15875">
            <a:solidFill>
              <a:srgbClr val="8C2F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606039" y="1097280"/>
            <a:ext cx="1325880" cy="1075943"/>
          </a:xfrm>
          <a:prstGeom prst="roundRect">
            <a:avLst>
              <a:gd name="adj" fmla="val 1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606039" y="1097280"/>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رأسمالية</a:t>
            </a:r>
          </a:p>
        </p:txBody>
      </p:sp>
      <p:sp>
        <p:nvSpPr>
          <p:cNvPr id="10" name="TextBox 9"/>
          <p:cNvSpPr txBox="1"/>
          <p:nvPr/>
        </p:nvSpPr>
        <p:spPr>
          <a:xfrm>
            <a:off x="502920" y="1097280"/>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التنينات: سنغافورة، هونغ كونغ، كوريا ج.</a:t>
            </a:r>
          </a:p>
        </p:txBody>
      </p:sp>
      <p:sp>
        <p:nvSpPr>
          <p:cNvPr id="11" name="Oval 10"/>
          <p:cNvSpPr/>
          <p:nvPr/>
        </p:nvSpPr>
        <p:spPr>
          <a:xfrm>
            <a:off x="4288536" y="1351787"/>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
        <p:nvSpPr>
          <p:cNvPr id="12" name="Rounded Rectangle 11"/>
          <p:cNvSpPr/>
          <p:nvPr/>
        </p:nvSpPr>
        <p:spPr>
          <a:xfrm>
            <a:off x="5212080" y="2319527"/>
            <a:ext cx="3520440" cy="1075943"/>
          </a:xfrm>
          <a:prstGeom prst="roundRect">
            <a:avLst>
              <a:gd name="adj" fmla="val 15000"/>
            </a:avLst>
          </a:prstGeom>
          <a:solidFill>
            <a:srgbClr val="FFFFFF"/>
          </a:solidFill>
          <a:ln w="15875">
            <a:solidFill>
              <a:srgbClr val="4F7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7406640" y="2319527"/>
            <a:ext cx="1325880" cy="1075943"/>
          </a:xfrm>
          <a:prstGeom prst="roundRect">
            <a:avLst>
              <a:gd name="adj" fmla="val 1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06640" y="2319527"/>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التوجه</a:t>
            </a:r>
          </a:p>
        </p:txBody>
      </p:sp>
      <p:sp>
        <p:nvSpPr>
          <p:cNvPr id="15" name="TextBox 14"/>
          <p:cNvSpPr txBox="1"/>
          <p:nvPr/>
        </p:nvSpPr>
        <p:spPr>
          <a:xfrm>
            <a:off x="5303520" y="2319527"/>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انغلاق على الذات وسوق داخلية</a:t>
            </a:r>
          </a:p>
        </p:txBody>
      </p:sp>
      <p:sp>
        <p:nvSpPr>
          <p:cNvPr id="16" name="Rounded Rectangle 15"/>
          <p:cNvSpPr/>
          <p:nvPr/>
        </p:nvSpPr>
        <p:spPr>
          <a:xfrm>
            <a:off x="411480" y="2319527"/>
            <a:ext cx="3520440" cy="1075943"/>
          </a:xfrm>
          <a:prstGeom prst="roundRect">
            <a:avLst>
              <a:gd name="adj" fmla="val 15000"/>
            </a:avLst>
          </a:prstGeom>
          <a:solidFill>
            <a:srgbClr val="FFFFFF"/>
          </a:solidFill>
          <a:ln w="15875">
            <a:solidFill>
              <a:srgbClr val="B06A1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2606039" y="2319527"/>
            <a:ext cx="1325880" cy="1075943"/>
          </a:xfrm>
          <a:prstGeom prst="roundRect">
            <a:avLst>
              <a:gd name="adj" fmla="val 1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606039" y="2319527"/>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التوجه</a:t>
            </a:r>
          </a:p>
        </p:txBody>
      </p:sp>
      <p:sp>
        <p:nvSpPr>
          <p:cNvPr id="19" name="TextBox 18"/>
          <p:cNvSpPr txBox="1"/>
          <p:nvPr/>
        </p:nvSpPr>
        <p:spPr>
          <a:xfrm>
            <a:off x="502920" y="2319527"/>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انفتاح على السوق العالمية</a:t>
            </a:r>
          </a:p>
        </p:txBody>
      </p:sp>
      <p:sp>
        <p:nvSpPr>
          <p:cNvPr id="20" name="Oval 19"/>
          <p:cNvSpPr/>
          <p:nvPr/>
        </p:nvSpPr>
        <p:spPr>
          <a:xfrm>
            <a:off x="4288536" y="2574035"/>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
        <p:nvSpPr>
          <p:cNvPr id="21" name="Rounded Rectangle 20"/>
          <p:cNvSpPr/>
          <p:nvPr/>
        </p:nvSpPr>
        <p:spPr>
          <a:xfrm>
            <a:off x="5212080" y="3541775"/>
            <a:ext cx="3520440" cy="1075943"/>
          </a:xfrm>
          <a:prstGeom prst="roundRect">
            <a:avLst>
              <a:gd name="adj" fmla="val 15000"/>
            </a:avLst>
          </a:prstGeom>
          <a:solidFill>
            <a:srgbClr val="FFFFFF"/>
          </a:solidFill>
          <a:ln w="15875">
            <a:solidFill>
              <a:srgbClr val="4A4F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406640" y="3541775"/>
            <a:ext cx="1325880" cy="1075943"/>
          </a:xfrm>
          <a:prstGeom prst="roundRect">
            <a:avLst>
              <a:gd name="adj" fmla="val 15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06640" y="3541775"/>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الصناعة</a:t>
            </a:r>
          </a:p>
        </p:txBody>
      </p:sp>
      <p:sp>
        <p:nvSpPr>
          <p:cNvPr id="24" name="TextBox 23"/>
          <p:cNvSpPr txBox="1"/>
          <p:nvPr/>
        </p:nvSpPr>
        <p:spPr>
          <a:xfrm>
            <a:off x="5303520" y="3541775"/>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صناعة ثقيلة واكتفاء ذاتي</a:t>
            </a:r>
          </a:p>
        </p:txBody>
      </p:sp>
      <p:sp>
        <p:nvSpPr>
          <p:cNvPr id="25" name="Rounded Rectangle 24"/>
          <p:cNvSpPr/>
          <p:nvPr/>
        </p:nvSpPr>
        <p:spPr>
          <a:xfrm>
            <a:off x="411480" y="3541775"/>
            <a:ext cx="3520440" cy="1075943"/>
          </a:xfrm>
          <a:prstGeom prst="roundRect">
            <a:avLst>
              <a:gd name="adj" fmla="val 15000"/>
            </a:avLst>
          </a:prstGeom>
          <a:solidFill>
            <a:srgbClr val="FFFFFF"/>
          </a:solidFill>
          <a:ln w="15875">
            <a:solidFill>
              <a:srgbClr val="0B22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2606039" y="3541775"/>
            <a:ext cx="1325880" cy="1075943"/>
          </a:xfrm>
          <a:prstGeom prst="roundRect">
            <a:avLst>
              <a:gd name="adj" fmla="val 15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2606039" y="3541775"/>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الصناعة</a:t>
            </a:r>
          </a:p>
        </p:txBody>
      </p:sp>
      <p:sp>
        <p:nvSpPr>
          <p:cNvPr id="28" name="TextBox 27"/>
          <p:cNvSpPr txBox="1"/>
          <p:nvPr/>
        </p:nvSpPr>
        <p:spPr>
          <a:xfrm>
            <a:off x="502920" y="3541775"/>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صناعات استهلاكية وتصدير</a:t>
            </a:r>
          </a:p>
        </p:txBody>
      </p:sp>
      <p:sp>
        <p:nvSpPr>
          <p:cNvPr id="29" name="Oval 28"/>
          <p:cNvSpPr/>
          <p:nvPr/>
        </p:nvSpPr>
        <p:spPr>
          <a:xfrm>
            <a:off x="4288536" y="3796283"/>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استراتيجيات التنمية: مسارات متعارضة</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6.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2- إستراتيجيات التنمية</a:t>
            </a:r>
          </a:p>
          <a:p>
            <a:pPr rtl="1" algn="r">
              <a:buNone/>
              <a:spcAft>
                <a:spcPts val="600"/>
              </a:spcAft>
            </a:pPr>
            <a:r>
              <a:rPr sz="2600" b="0" lang="ar-MA">
                <a:latin typeface="Cairo"/>
                <a:cs typeface="Cairo"/>
              </a:rPr>
              <a:t>يمكن التمييز بين إستراتيجيتين تنمويتين:</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الإستراتيجية الاشتراكية: وهي إستراتيجية اعتمدتها الصين في عهد ماو والجزائر في عهد بومدين، واعتمدت هذه التجربة على الانغلاق على الذات والاهتمام بالسوق الداخلية لتحقيق الاكتفاء الذاتي وكذلك التركيز على الصناعة الثقيلة.</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الإستراتيجية الرأسمالية: وتمثلها الدول التنينات (سنغافورة - هونغ كونغ - كوريا الجنوبية)، وقد اعتمدت هذه الدول على الصناعات الاستهلاكية والانفتاح على السوق العالمية واستطاعت تحقيق نجاح اقتصادي مكنها من بلوغ التنمية.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3</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الثالث: مقاربات قياس التنمية</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سبع مقاربات… لقراءة واحدة</a:t>
            </a:r>
          </a:p>
        </p:txBody>
      </p:sp>
      <p:cxnSp>
        <p:nvCxnSpPr>
          <p:cNvPr id="3" name="Connector 2"/>
          <p:cNvCxnSpPr/>
          <p:nvPr/>
        </p:nvCxnSpPr>
        <p:spPr>
          <a:xfrm flipV="1">
            <a:off x="4572000" y="1531620"/>
            <a:ext cx="0" cy="1325880"/>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flipV="1">
            <a:off x="1919156" y="2194559"/>
            <a:ext cx="2652844" cy="662941"/>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919156" y="2857500"/>
            <a:ext cx="2652844" cy="662939"/>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4571999" y="2857500"/>
            <a:ext cx="1" cy="1325880"/>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2857500"/>
            <a:ext cx="2652843" cy="662940"/>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572000" y="2194560"/>
            <a:ext cx="2652843" cy="662940"/>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771900" y="2057400"/>
            <a:ext cx="1600200" cy="160020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794760" y="2308860"/>
            <a:ext cx="1554480" cy="1097280"/>
          </a:xfrm>
          <a:prstGeom prst="rect">
            <a:avLst/>
          </a:prstGeom>
          <a:noFill/>
        </p:spPr>
        <p:txBody>
          <a:bodyPr wrap="square" lIns="45720" rIns="45720" tIns="18288" bIns="18288" anchor="ctr">
            <a:spAutoFit/>
          </a:bodyPr>
          <a:lstStyle/>
          <a:p>
            <a:pPr rtl="1" algn="ctr">
              <a:lnSpc>
                <a:spcPct val="95000"/>
              </a:lnSpc>
            </a:pPr>
            <a:r>
              <a:rPr sz="2100" b="1" lang="ar-MA">
                <a:solidFill>
                  <a:srgbClr val="FFFFFF"/>
                </a:solidFill>
                <a:latin typeface="Cairo"/>
                <a:cs typeface="Cairo"/>
              </a:rPr>
              <a:t>التنمية</a:t>
            </a:r>
          </a:p>
        </p:txBody>
      </p:sp>
      <p:sp>
        <p:nvSpPr>
          <p:cNvPr id="11" name="Rounded Rectangle 10"/>
          <p:cNvSpPr/>
          <p:nvPr/>
        </p:nvSpPr>
        <p:spPr>
          <a:xfrm>
            <a:off x="3383280" y="1028700"/>
            <a:ext cx="2377440" cy="1005840"/>
          </a:xfrm>
          <a:prstGeom prst="roundRect">
            <a:avLst>
              <a:gd name="adj" fmla="val 30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429000" y="104698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اقتصادية</a:t>
            </a:r>
          </a:p>
        </p:txBody>
      </p:sp>
      <p:sp>
        <p:nvSpPr>
          <p:cNvPr id="13" name="TextBox 12"/>
          <p:cNvSpPr txBox="1"/>
          <p:nvPr/>
        </p:nvSpPr>
        <p:spPr>
          <a:xfrm>
            <a:off x="3429000" y="1485900"/>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PIB، الدخل الفردي</a:t>
            </a:r>
          </a:p>
        </p:txBody>
      </p:sp>
      <p:sp>
        <p:nvSpPr>
          <p:cNvPr id="14" name="Rounded Rectangle 13"/>
          <p:cNvSpPr/>
          <p:nvPr/>
        </p:nvSpPr>
        <p:spPr>
          <a:xfrm>
            <a:off x="730436" y="1691639"/>
            <a:ext cx="2377440" cy="1005840"/>
          </a:xfrm>
          <a:prstGeom prst="roundRect">
            <a:avLst>
              <a:gd name="adj" fmla="val 30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6156" y="1709927"/>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اجتماعية</a:t>
            </a:r>
          </a:p>
        </p:txBody>
      </p:sp>
      <p:sp>
        <p:nvSpPr>
          <p:cNvPr id="16" name="TextBox 15"/>
          <p:cNvSpPr txBox="1"/>
          <p:nvPr/>
        </p:nvSpPr>
        <p:spPr>
          <a:xfrm>
            <a:off x="776156" y="2148839"/>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الفقر، البطالة، السكن</a:t>
            </a:r>
          </a:p>
        </p:txBody>
      </p:sp>
      <p:sp>
        <p:nvSpPr>
          <p:cNvPr id="17" name="Rounded Rectangle 16"/>
          <p:cNvSpPr/>
          <p:nvPr/>
        </p:nvSpPr>
        <p:spPr>
          <a:xfrm>
            <a:off x="730436" y="3017520"/>
            <a:ext cx="2377440" cy="1005840"/>
          </a:xfrm>
          <a:prstGeom prst="roundRect">
            <a:avLst>
              <a:gd name="adj" fmla="val 30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76156" y="303580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ديمغرافية</a:t>
            </a:r>
          </a:p>
        </p:txBody>
      </p:sp>
      <p:sp>
        <p:nvSpPr>
          <p:cNvPr id="19" name="TextBox 18"/>
          <p:cNvSpPr txBox="1"/>
          <p:nvPr/>
        </p:nvSpPr>
        <p:spPr>
          <a:xfrm>
            <a:off x="776156" y="3474720"/>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أمد الحياة، الخصوبة</a:t>
            </a:r>
          </a:p>
        </p:txBody>
      </p:sp>
      <p:sp>
        <p:nvSpPr>
          <p:cNvPr id="20" name="Rounded Rectangle 19"/>
          <p:cNvSpPr/>
          <p:nvPr/>
        </p:nvSpPr>
        <p:spPr>
          <a:xfrm>
            <a:off x="3383279" y="3680460"/>
            <a:ext cx="2377440" cy="1005840"/>
          </a:xfrm>
          <a:prstGeom prst="roundRect">
            <a:avLst>
              <a:gd name="adj" fmla="val 30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428999" y="369874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سياسية</a:t>
            </a:r>
          </a:p>
        </p:txBody>
      </p:sp>
      <p:sp>
        <p:nvSpPr>
          <p:cNvPr id="22" name="TextBox 21"/>
          <p:cNvSpPr txBox="1"/>
          <p:nvPr/>
        </p:nvSpPr>
        <p:spPr>
          <a:xfrm>
            <a:off x="3428999" y="4137660"/>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الديمقراطية، الحكامة</a:t>
            </a:r>
          </a:p>
        </p:txBody>
      </p:sp>
      <p:sp>
        <p:nvSpPr>
          <p:cNvPr id="23" name="Rounded Rectangle 22"/>
          <p:cNvSpPr/>
          <p:nvPr/>
        </p:nvSpPr>
        <p:spPr>
          <a:xfrm>
            <a:off x="6036123" y="3017520"/>
            <a:ext cx="2377440" cy="1005840"/>
          </a:xfrm>
          <a:prstGeom prst="roundRect">
            <a:avLst>
              <a:gd name="adj" fmla="val 30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081843" y="303580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ثقافية-تعليمية</a:t>
            </a:r>
          </a:p>
        </p:txBody>
      </p:sp>
      <p:sp>
        <p:nvSpPr>
          <p:cNvPr id="25" name="TextBox 24"/>
          <p:cNvSpPr txBox="1"/>
          <p:nvPr/>
        </p:nvSpPr>
        <p:spPr>
          <a:xfrm>
            <a:off x="6081843" y="3474720"/>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الأمية، جودة التعليم</a:t>
            </a:r>
          </a:p>
        </p:txBody>
      </p:sp>
      <p:sp>
        <p:nvSpPr>
          <p:cNvPr id="26" name="Rounded Rectangle 25"/>
          <p:cNvSpPr/>
          <p:nvPr/>
        </p:nvSpPr>
        <p:spPr>
          <a:xfrm>
            <a:off x="6036123" y="1691639"/>
            <a:ext cx="2377440" cy="1005840"/>
          </a:xfrm>
          <a:prstGeom prst="roundRect">
            <a:avLst>
              <a:gd name="adj" fmla="val 3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081843" y="170992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بيئية</a:t>
            </a:r>
          </a:p>
        </p:txBody>
      </p:sp>
      <p:sp>
        <p:nvSpPr>
          <p:cNvPr id="28" name="TextBox 27"/>
          <p:cNvSpPr txBox="1"/>
          <p:nvPr/>
        </p:nvSpPr>
        <p:spPr>
          <a:xfrm>
            <a:off x="6081843" y="2148839"/>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التنمية المستدامة</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المقاربة الشاملة</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المقاربة السوسيو-اقتصادية</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تدمج المؤشرات الاقتصادية والاجتماعية والثقافية… فتقترب أكثر من مفهوم التنمية البشرية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المقاربات متعددة الأبعاد</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5.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3- المقاربات المعتمدة لتحقيق التنمية</a:t>
            </a:r>
          </a:p>
          <a:p>
            <a:pPr rtl="1" algn="r">
              <a:buNone/>
              <a:spcAft>
                <a:spcPts val="600"/>
              </a:spcAft>
            </a:pPr>
            <a:r>
              <a:rPr sz="2600" b="0" lang="ar-MA">
                <a:latin typeface="Cairo"/>
                <a:cs typeface="Cairo"/>
              </a:rPr>
              <a:t>• مقاربة اقتصادية: وتعتمد مؤشرات اقتصادية مثل الناتج الداخلي الخام والدخل الفردي ونوعية وبنية الاقتصاد.</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مقاربة اجتماعية: وتعتمد المؤشرات الاجتماعية مثل نسبة الفقر والأمية والبطالة ونسبة التأطير الطبي والبطالة والسكن.</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مقاربة ديمغرافية: وتعتمد مؤشرات ديمغرافية مثل أمد الحياة، الوفيات، الولادات، ونسبة الخصوبة طبيعة الهرم السكاني...</a:t>
            </a:r>
          </a:p>
          <a:p>
            <a:pPr rtl="1" algn="r">
              <a:buNone/>
              <a:spcAft>
                <a:spcPts val="600"/>
              </a:spcAft>
            </a:pPr>
            <a:r>
              <a:rPr sz="2600" b="0" lang="ar-MA">
                <a:latin typeface="Cairo"/>
                <a:cs typeface="Cairo"/>
              </a:rPr>
              <a:t>• مقاربة سياسية: وتعتمد مستوى الديمقراطية وحقوق الإنسان والحكامة الجيدة..</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مقاربة ثقافية-تعليمية: وتعتمد على مؤشرات ثقافية كنسبة الأمية ونسبة التمدرس، ونوعية وجودة التعليم.</a:t>
            </a:r>
          </a:p>
          <a:p>
            <a:pPr rtl="1" algn="r">
              <a:buNone/>
              <a:spcAft>
                <a:spcPts val="600"/>
              </a:spcAft>
            </a:pPr>
            <a:r>
              <a:rPr sz="2600" b="0" lang="ar-MA">
                <a:latin typeface="Cairo"/>
                <a:cs typeface="Cairo"/>
              </a:rPr>
              <a:t>• مقاربة بيئية: وتعتمد التنمية المستدامة القائمة على مراعاة البعد البيئي في المخططات.</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مقاربة سوسيو-اقتصادية: وهي تقوم على دمج المؤشرات الاقتصادية والاجتماعية والثقافية وغيرها في إطار دراسة شمولية تقترب أكثر من مفهوم التنمية البشرية.</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4</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الرابع: التقسيمات الكبرى للعالم</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ثلاث زوايا لتقسيم العالم</a:t>
            </a:r>
          </a:p>
        </p:txBody>
      </p:sp>
      <p:sp>
        <p:nvSpPr>
          <p:cNvPr id="3" name="Rounded Rectangle 2"/>
          <p:cNvSpPr/>
          <p:nvPr/>
        </p:nvSpPr>
        <p:spPr>
          <a:xfrm>
            <a:off x="6068568"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622792" y="1097280"/>
            <a:ext cx="109728" cy="3520439"/>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05728"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1F6F78"/>
                </a:solidFill>
                <a:latin typeface="Cairo"/>
                <a:cs typeface="Cairo"/>
              </a:rPr>
              <a:t>حسب الدخل</a:t>
            </a:r>
          </a:p>
        </p:txBody>
      </p:sp>
      <p:sp>
        <p:nvSpPr>
          <p:cNvPr id="6" name="TextBox 5"/>
          <p:cNvSpPr txBox="1"/>
          <p:nvPr/>
        </p:nvSpPr>
        <p:spPr>
          <a:xfrm>
            <a:off x="6205728" y="25603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البنك الدولي</a:t>
            </a:r>
          </a:p>
        </p:txBody>
      </p:sp>
      <p:sp>
        <p:nvSpPr>
          <p:cNvPr id="7" name="TextBox 6"/>
          <p:cNvSpPr txBox="1"/>
          <p:nvPr/>
        </p:nvSpPr>
        <p:spPr>
          <a:xfrm>
            <a:off x="6205728" y="2916935"/>
            <a:ext cx="2298192" cy="16550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مرتفع، متوسط، منخفض</a:t>
            </a:r>
          </a:p>
        </p:txBody>
      </p:sp>
      <p:sp>
        <p:nvSpPr>
          <p:cNvPr id="8" name="Rounded Rectangle 7"/>
          <p:cNvSpPr/>
          <p:nvPr/>
        </p:nvSpPr>
        <p:spPr>
          <a:xfrm>
            <a:off x="3240023"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794248" y="1097280"/>
            <a:ext cx="109728" cy="3520439"/>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77183"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8C2F39"/>
                </a:solidFill>
                <a:latin typeface="Cairo"/>
                <a:cs typeface="Cairo"/>
              </a:rPr>
              <a:t>حسب IDH</a:t>
            </a:r>
          </a:p>
        </p:txBody>
      </p:sp>
      <p:sp>
        <p:nvSpPr>
          <p:cNvPr id="11" name="TextBox 10"/>
          <p:cNvSpPr txBox="1"/>
          <p:nvPr/>
        </p:nvSpPr>
        <p:spPr>
          <a:xfrm>
            <a:off x="3377183" y="25603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الأمم المتحدة</a:t>
            </a:r>
          </a:p>
        </p:txBody>
      </p:sp>
      <p:sp>
        <p:nvSpPr>
          <p:cNvPr id="12" name="TextBox 11"/>
          <p:cNvSpPr txBox="1"/>
          <p:nvPr/>
        </p:nvSpPr>
        <p:spPr>
          <a:xfrm>
            <a:off x="3377183" y="2916935"/>
            <a:ext cx="2298192" cy="16550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مرتفعة جدًا، مرتفعة، متوسطة، منخفضة</a:t>
            </a:r>
          </a:p>
        </p:txBody>
      </p:sp>
      <p:sp>
        <p:nvSpPr>
          <p:cNvPr id="13" name="Rounded Rectangle 12"/>
          <p:cNvSpPr/>
          <p:nvPr/>
        </p:nvSpPr>
        <p:spPr>
          <a:xfrm>
            <a:off x="411479"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965703" y="1097280"/>
            <a:ext cx="109728" cy="3520439"/>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8639"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4F7A3A"/>
                </a:solidFill>
                <a:latin typeface="Cairo"/>
                <a:cs typeface="Cairo"/>
              </a:rPr>
              <a:t>شمال / جنوب</a:t>
            </a:r>
          </a:p>
        </p:txBody>
      </p:sp>
      <p:sp>
        <p:nvSpPr>
          <p:cNvPr id="16" name="TextBox 15"/>
          <p:cNvSpPr txBox="1"/>
          <p:nvPr/>
        </p:nvSpPr>
        <p:spPr>
          <a:xfrm>
            <a:off x="548639" y="25603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خط براندت</a:t>
            </a:r>
          </a:p>
        </p:txBody>
      </p:sp>
      <p:sp>
        <p:nvSpPr>
          <p:cNvPr id="17" name="TextBox 16"/>
          <p:cNvSpPr txBox="1"/>
          <p:nvPr/>
        </p:nvSpPr>
        <p:spPr>
          <a:xfrm>
            <a:off x="548639" y="2916935"/>
            <a:ext cx="2298192" cy="16550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مركز متطور وأطراف نامية</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تصنيفات مؤشر التنمية البشرية</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4.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مفارقة الثروة والسكان</a:t>
            </a:r>
          </a:p>
        </p:txBody>
      </p:sp>
      <p:sp>
        <p:nvSpPr>
          <p:cNvPr id="3" name="Rounded Rectangle 2"/>
          <p:cNvSpPr/>
          <p:nvPr/>
        </p:nvSpPr>
        <p:spPr>
          <a:xfrm>
            <a:off x="5212080" y="1097280"/>
            <a:ext cx="3520440" cy="1687067"/>
          </a:xfrm>
          <a:prstGeom prst="roundRect">
            <a:avLst>
              <a:gd name="adj" fmla="val 15000"/>
            </a:avLst>
          </a:prstGeom>
          <a:solidFill>
            <a:srgbClr val="FFFFFF"/>
          </a:solidFill>
          <a:ln w="15875">
            <a:solidFill>
              <a:srgbClr val="1F6F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406640" y="1097280"/>
            <a:ext cx="1325880" cy="1687067"/>
          </a:xfrm>
          <a:prstGeom prst="roundRect">
            <a:avLst>
              <a:gd name="adj" fmla="val 1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406640" y="1097280"/>
            <a:ext cx="1325880" cy="1687067"/>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الشمال</a:t>
            </a:r>
          </a:p>
        </p:txBody>
      </p:sp>
      <p:sp>
        <p:nvSpPr>
          <p:cNvPr id="6" name="TextBox 5"/>
          <p:cNvSpPr txBox="1"/>
          <p:nvPr/>
        </p:nvSpPr>
        <p:spPr>
          <a:xfrm>
            <a:off x="5303520" y="1097280"/>
            <a:ext cx="2057400" cy="1687067"/>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20% من السكان</a:t>
            </a:r>
          </a:p>
        </p:txBody>
      </p:sp>
      <p:sp>
        <p:nvSpPr>
          <p:cNvPr id="7" name="Rounded Rectangle 6"/>
          <p:cNvSpPr/>
          <p:nvPr/>
        </p:nvSpPr>
        <p:spPr>
          <a:xfrm>
            <a:off x="411480" y="1097280"/>
            <a:ext cx="3520440" cy="1687067"/>
          </a:xfrm>
          <a:prstGeom prst="roundRect">
            <a:avLst>
              <a:gd name="adj" fmla="val 15000"/>
            </a:avLst>
          </a:prstGeom>
          <a:solidFill>
            <a:srgbClr val="FFFFFF"/>
          </a:solidFill>
          <a:ln w="15875">
            <a:solidFill>
              <a:srgbClr val="8C2F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606039" y="1097280"/>
            <a:ext cx="1325880" cy="1687067"/>
          </a:xfrm>
          <a:prstGeom prst="roundRect">
            <a:avLst>
              <a:gd name="adj" fmla="val 1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606039" y="1097280"/>
            <a:ext cx="1325880" cy="1687067"/>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الجنوب</a:t>
            </a:r>
          </a:p>
        </p:txBody>
      </p:sp>
      <p:sp>
        <p:nvSpPr>
          <p:cNvPr id="10" name="TextBox 9"/>
          <p:cNvSpPr txBox="1"/>
          <p:nvPr/>
        </p:nvSpPr>
        <p:spPr>
          <a:xfrm>
            <a:off x="502920" y="1097280"/>
            <a:ext cx="2057400" cy="1687067"/>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80% من السكان</a:t>
            </a:r>
          </a:p>
        </p:txBody>
      </p:sp>
      <p:sp>
        <p:nvSpPr>
          <p:cNvPr id="11" name="Oval 10"/>
          <p:cNvSpPr/>
          <p:nvPr/>
        </p:nvSpPr>
        <p:spPr>
          <a:xfrm>
            <a:off x="4288536" y="1657349"/>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
        <p:nvSpPr>
          <p:cNvPr id="12" name="Rounded Rectangle 11"/>
          <p:cNvSpPr/>
          <p:nvPr/>
        </p:nvSpPr>
        <p:spPr>
          <a:xfrm>
            <a:off x="5212080" y="2930652"/>
            <a:ext cx="3520440" cy="1687067"/>
          </a:xfrm>
          <a:prstGeom prst="roundRect">
            <a:avLst>
              <a:gd name="adj" fmla="val 15000"/>
            </a:avLst>
          </a:prstGeom>
          <a:solidFill>
            <a:srgbClr val="FFFFFF"/>
          </a:solidFill>
          <a:ln w="15875">
            <a:solidFill>
              <a:srgbClr val="4F7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7406640" y="2930652"/>
            <a:ext cx="1325880" cy="1687067"/>
          </a:xfrm>
          <a:prstGeom prst="roundRect">
            <a:avLst>
              <a:gd name="adj" fmla="val 1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06640" y="2930652"/>
            <a:ext cx="1325880" cy="1687067"/>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الشمال</a:t>
            </a:r>
          </a:p>
        </p:txBody>
      </p:sp>
      <p:sp>
        <p:nvSpPr>
          <p:cNvPr id="15" name="TextBox 14"/>
          <p:cNvSpPr txBox="1"/>
          <p:nvPr/>
        </p:nvSpPr>
        <p:spPr>
          <a:xfrm>
            <a:off x="5303520" y="2930652"/>
            <a:ext cx="2057400" cy="1687067"/>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80% من الثروة</a:t>
            </a:r>
          </a:p>
        </p:txBody>
      </p:sp>
      <p:sp>
        <p:nvSpPr>
          <p:cNvPr id="16" name="Rounded Rectangle 15"/>
          <p:cNvSpPr/>
          <p:nvPr/>
        </p:nvSpPr>
        <p:spPr>
          <a:xfrm>
            <a:off x="411480" y="2930652"/>
            <a:ext cx="3520440" cy="1687067"/>
          </a:xfrm>
          <a:prstGeom prst="roundRect">
            <a:avLst>
              <a:gd name="adj" fmla="val 15000"/>
            </a:avLst>
          </a:prstGeom>
          <a:solidFill>
            <a:srgbClr val="FFFFFF"/>
          </a:solidFill>
          <a:ln w="15875">
            <a:solidFill>
              <a:srgbClr val="B06A1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2606039" y="2930652"/>
            <a:ext cx="1325880" cy="1687067"/>
          </a:xfrm>
          <a:prstGeom prst="roundRect">
            <a:avLst>
              <a:gd name="adj" fmla="val 1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606039" y="2930652"/>
            <a:ext cx="1325880" cy="1687067"/>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الجنوب</a:t>
            </a:r>
          </a:p>
        </p:txBody>
      </p:sp>
      <p:sp>
        <p:nvSpPr>
          <p:cNvPr id="19" name="TextBox 18"/>
          <p:cNvSpPr txBox="1"/>
          <p:nvPr/>
        </p:nvSpPr>
        <p:spPr>
          <a:xfrm>
            <a:off x="502920" y="2930652"/>
            <a:ext cx="2057400" cy="1687067"/>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20% من الثروة</a:t>
            </a:r>
          </a:p>
        </p:txBody>
      </p:sp>
      <p:sp>
        <p:nvSpPr>
          <p:cNvPr id="20" name="Oval 19"/>
          <p:cNvSpPr/>
          <p:nvPr/>
        </p:nvSpPr>
        <p:spPr>
          <a:xfrm>
            <a:off x="4288536" y="3490721"/>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خريطة الانقسام العظيم</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7.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الجنوب ليس كتلة واحدة</a:t>
            </a:r>
          </a:p>
        </p:txBody>
      </p:sp>
      <p:sp>
        <p:nvSpPr>
          <p:cNvPr id="3" name="Rounded Rectangle 2"/>
          <p:cNvSpPr/>
          <p:nvPr/>
        </p:nvSpPr>
        <p:spPr>
          <a:xfrm>
            <a:off x="4663440" y="1097280"/>
            <a:ext cx="4069080" cy="1668779"/>
          </a:xfrm>
          <a:prstGeom prst="roundRect">
            <a:avLst>
              <a:gd name="adj" fmla="val 12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069580"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1F6F78"/>
                </a:solidFill>
                <a:latin typeface="Cairo"/>
                <a:cs typeface="Cairo"/>
              </a:rPr>
              <a:t>1</a:t>
            </a:r>
          </a:p>
        </p:txBody>
      </p:sp>
      <p:sp>
        <p:nvSpPr>
          <p:cNvPr id="5" name="TextBox 4"/>
          <p:cNvSpPr txBox="1"/>
          <p:nvPr/>
        </p:nvSpPr>
        <p:spPr>
          <a:xfrm>
            <a:off x="4846320" y="123443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اقتصادات صاعدة</a:t>
            </a:r>
          </a:p>
        </p:txBody>
      </p:sp>
      <p:sp>
        <p:nvSpPr>
          <p:cNvPr id="6" name="TextBox 5"/>
          <p:cNvSpPr txBox="1"/>
          <p:nvPr/>
        </p:nvSpPr>
        <p:spPr>
          <a:xfrm>
            <a:off x="4846320"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الصين، الهند، البرازيل</a:t>
            </a:r>
          </a:p>
        </p:txBody>
      </p:sp>
      <p:sp>
        <p:nvSpPr>
          <p:cNvPr id="7" name="Rounded Rectangle 6"/>
          <p:cNvSpPr/>
          <p:nvPr/>
        </p:nvSpPr>
        <p:spPr>
          <a:xfrm>
            <a:off x="411479" y="1097280"/>
            <a:ext cx="4069080" cy="1668779"/>
          </a:xfrm>
          <a:prstGeom prst="roundRect">
            <a:avLst>
              <a:gd name="adj" fmla="val 12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3817619"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8C2F39"/>
                </a:solidFill>
                <a:latin typeface="Cairo"/>
                <a:cs typeface="Cairo"/>
              </a:rPr>
              <a:t>2</a:t>
            </a:r>
          </a:p>
        </p:txBody>
      </p:sp>
      <p:sp>
        <p:nvSpPr>
          <p:cNvPr id="9" name="TextBox 8"/>
          <p:cNvSpPr txBox="1"/>
          <p:nvPr/>
        </p:nvSpPr>
        <p:spPr>
          <a:xfrm>
            <a:off x="594359" y="123443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اقتصادات ريعية</a:t>
            </a:r>
          </a:p>
        </p:txBody>
      </p:sp>
      <p:sp>
        <p:nvSpPr>
          <p:cNvPr id="10" name="TextBox 9"/>
          <p:cNvSpPr txBox="1"/>
          <p:nvPr/>
        </p:nvSpPr>
        <p:spPr>
          <a:xfrm>
            <a:off x="594359"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الخليج، الجزائر، نيجيريا</a:t>
            </a:r>
          </a:p>
        </p:txBody>
      </p:sp>
      <p:sp>
        <p:nvSpPr>
          <p:cNvPr id="11" name="Rounded Rectangle 10"/>
          <p:cNvSpPr/>
          <p:nvPr/>
        </p:nvSpPr>
        <p:spPr>
          <a:xfrm>
            <a:off x="4663440" y="2948939"/>
            <a:ext cx="4069080" cy="1668779"/>
          </a:xfrm>
          <a:prstGeom prst="roundRect">
            <a:avLst>
              <a:gd name="adj" fmla="val 12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069580"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4F7A3A"/>
                </a:solidFill>
                <a:latin typeface="Cairo"/>
                <a:cs typeface="Cairo"/>
              </a:rPr>
              <a:t>3</a:t>
            </a:r>
          </a:p>
        </p:txBody>
      </p:sp>
      <p:sp>
        <p:nvSpPr>
          <p:cNvPr id="13" name="TextBox 12"/>
          <p:cNvSpPr txBox="1"/>
          <p:nvPr/>
        </p:nvSpPr>
        <p:spPr>
          <a:xfrm>
            <a:off x="4846320" y="308609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في طريق النمو</a:t>
            </a:r>
          </a:p>
        </p:txBody>
      </p:sp>
      <p:sp>
        <p:nvSpPr>
          <p:cNvPr id="14" name="TextBox 13"/>
          <p:cNvSpPr txBox="1"/>
          <p:nvPr/>
        </p:nvSpPr>
        <p:spPr>
          <a:xfrm>
            <a:off x="4846320"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المغرب، تونس، مصر</a:t>
            </a:r>
          </a:p>
        </p:txBody>
      </p:sp>
      <p:sp>
        <p:nvSpPr>
          <p:cNvPr id="15" name="Rounded Rectangle 14"/>
          <p:cNvSpPr/>
          <p:nvPr/>
        </p:nvSpPr>
        <p:spPr>
          <a:xfrm>
            <a:off x="411479" y="2948939"/>
            <a:ext cx="4069080" cy="1668779"/>
          </a:xfrm>
          <a:prstGeom prst="roundRect">
            <a:avLst>
              <a:gd name="adj" fmla="val 12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817619"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B06A1E"/>
                </a:solidFill>
                <a:latin typeface="Cairo"/>
                <a:cs typeface="Cairo"/>
              </a:rPr>
              <a:t>4</a:t>
            </a:r>
          </a:p>
        </p:txBody>
      </p:sp>
      <p:sp>
        <p:nvSpPr>
          <p:cNvPr id="17" name="TextBox 16"/>
          <p:cNvSpPr txBox="1"/>
          <p:nvPr/>
        </p:nvSpPr>
        <p:spPr>
          <a:xfrm>
            <a:off x="594359" y="308609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الأقل نموًا</a:t>
            </a:r>
          </a:p>
        </p:txBody>
      </p:sp>
      <p:sp>
        <p:nvSpPr>
          <p:cNvPr id="18" name="TextBox 17"/>
          <p:cNvSpPr txBox="1"/>
          <p:nvPr/>
        </p:nvSpPr>
        <p:spPr>
          <a:xfrm>
            <a:off x="594359"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إفريقيا جنوب الصحراء</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تفكيك خريطة الجنوب</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8.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فجوة الثروة: أطراف النقيض</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9.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2- التقسيمات الكبرى للعالم حسب خريطة التنمية، وعوامل تباين مستويات التنمية</a:t>
            </a:r>
          </a:p>
          <a:p>
            <a:pPr rtl="1" algn="r">
              <a:buNone/>
              <a:spcAft>
                <a:spcPts val="600"/>
              </a:spcAft>
            </a:pPr>
            <a:r>
              <a:rPr sz="2600" b="1" lang="ar-MA">
                <a:solidFill>
                  <a:srgbClr val="0B2242"/>
                </a:solidFill>
                <a:latin typeface="Cairo"/>
                <a:cs typeface="Cairo"/>
              </a:rPr>
              <a:t>1- خريطة التقسيمات الكبرى للعالم</a:t>
            </a:r>
          </a:p>
          <a:p>
            <a:pPr rtl="1" algn="r">
              <a:buNone/>
              <a:spcAft>
                <a:spcPts val="600"/>
              </a:spcAft>
            </a:pPr>
            <a:r>
              <a:rPr sz="2600" b="0" lang="ar-MA">
                <a:latin typeface="Cairo"/>
                <a:cs typeface="Cairo"/>
              </a:rPr>
              <a:t>تنقسم دول العالم حسب مؤشرات التنمية إلى مجموعات وفقًا لمستويات الدخل الفردي ومؤشر التنمية البشرية (IDH).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مؤشر الدخل الفردي يقيس متوسط دخل الفرد عبر الناتج المحلي الإجمالي، ويقسم الدول إلى ثلاث فئات: دول ذات دخل مرتفع مثل الولايات المتحدة وألمانيا، التي تتميز باقتصادات قوية ومستويات معيشة عالية؛</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دول ذات دخل متوسط مثل الصين والهند والمغرب، التي تمر بمرحلة انتقالية؛ ودول ذات دخل منخفض مثل النيجر وأفغانستان، التي تعاني من مستويات فقر مرتفعة.</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أما مؤشر التنمية البشرية (IDH)، فهو مقياس مركب يأخذ بعين الاعتبار الصحة (متوسط العمر المتوقع)، التعليم (سنوات الدراسة)، ومستوى المعيشة (الدخل).</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0" lang="ar-MA">
                <a:latin typeface="Cairo"/>
                <a:cs typeface="Cairo"/>
              </a:rPr>
              <a:t>بناءً عليه، تصنف الدول إلى تنمية بشرية عالية جدًا مثل النرويج وسويسرا، تنمية بشرية عالية مثل الأرجنتين وماليزيا، تنمية بشرية متوسطة مثل مصر والمغرب، وتنمية بشرية منخفضة مثل تشاد والنيجر.</a:t>
            </a:r>
          </a:p>
          <a:p>
            <a:pPr rtl="1" algn="r">
              <a:buNone/>
              <a:spcAft>
                <a:spcPts val="600"/>
              </a:spcAft>
            </a:pPr>
            <a:r>
              <a:rPr sz="2400" b="0" lang="ar-MA">
                <a:latin typeface="Cairo"/>
                <a:cs typeface="Cairo"/>
              </a:rPr>
              <a:t>الفرق بين دول الشمال والجنوب يكمن في مستويات التنمية؛</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حيث تتمتع دول الشمال مثل أوروبا وأمريكا الشمالية باقتصادات متقدمة ومستويات معيشة مرتفعة، بينما تعاني دول الجنوب مثل إفريقيا وأمريكا اللاتينية من تحديات اقتصادية واجتماعية، مما ينعكس على انخفاض مؤشرات التنمية والدخل.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هذه الفوارق توضح التباين العالمي في التنمية والرفاهية بين الدول (انظر الخريطة).</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5</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الخامس: تفسيرات التباين</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لماذا تتفاوت مستويات التنمية؟</a:t>
            </a:r>
          </a:p>
        </p:txBody>
      </p:sp>
      <p:sp>
        <p:nvSpPr>
          <p:cNvPr id="3" name="Rounded Rectangle 2"/>
          <p:cNvSpPr/>
          <p:nvPr/>
        </p:nvSpPr>
        <p:spPr>
          <a:xfrm>
            <a:off x="4663440" y="1097280"/>
            <a:ext cx="4069080" cy="1668779"/>
          </a:xfrm>
          <a:prstGeom prst="roundRect">
            <a:avLst>
              <a:gd name="adj" fmla="val 12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069580"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1F6F78"/>
                </a:solidFill>
                <a:latin typeface="Cairo"/>
                <a:cs typeface="Cairo"/>
              </a:rPr>
              <a:t>1</a:t>
            </a:r>
          </a:p>
        </p:txBody>
      </p:sp>
      <p:sp>
        <p:nvSpPr>
          <p:cNvPr id="5" name="TextBox 4"/>
          <p:cNvSpPr txBox="1"/>
          <p:nvPr/>
        </p:nvSpPr>
        <p:spPr>
          <a:xfrm>
            <a:off x="4846320" y="123443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تفسير طبيعي</a:t>
            </a:r>
          </a:p>
        </p:txBody>
      </p:sp>
      <p:sp>
        <p:nvSpPr>
          <p:cNvPr id="6" name="TextBox 5"/>
          <p:cNvSpPr txBox="1"/>
          <p:nvPr/>
        </p:nvSpPr>
        <p:spPr>
          <a:xfrm>
            <a:off x="4846320"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الموقع والمناخ: جنوب حار وشمال معتدل</a:t>
            </a:r>
          </a:p>
        </p:txBody>
      </p:sp>
      <p:sp>
        <p:nvSpPr>
          <p:cNvPr id="7" name="Rounded Rectangle 6"/>
          <p:cNvSpPr/>
          <p:nvPr/>
        </p:nvSpPr>
        <p:spPr>
          <a:xfrm>
            <a:off x="411479" y="1097280"/>
            <a:ext cx="4069080" cy="1668779"/>
          </a:xfrm>
          <a:prstGeom prst="roundRect">
            <a:avLst>
              <a:gd name="adj" fmla="val 12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3817619"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8C2F39"/>
                </a:solidFill>
                <a:latin typeface="Cairo"/>
                <a:cs typeface="Cairo"/>
              </a:rPr>
              <a:t>2</a:t>
            </a:r>
          </a:p>
        </p:txBody>
      </p:sp>
      <p:sp>
        <p:nvSpPr>
          <p:cNvPr id="9" name="TextBox 8"/>
          <p:cNvSpPr txBox="1"/>
          <p:nvPr/>
        </p:nvSpPr>
        <p:spPr>
          <a:xfrm>
            <a:off x="594359" y="123443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تفسير ليبرالي</a:t>
            </a:r>
          </a:p>
        </p:txBody>
      </p:sp>
      <p:sp>
        <p:nvSpPr>
          <p:cNvPr id="10" name="TextBox 9"/>
          <p:cNvSpPr txBox="1"/>
          <p:nvPr/>
        </p:nvSpPr>
        <p:spPr>
          <a:xfrm>
            <a:off x="594359"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أسباب داخلية: ضعف الادخار والاستثمار</a:t>
            </a:r>
          </a:p>
        </p:txBody>
      </p:sp>
      <p:sp>
        <p:nvSpPr>
          <p:cNvPr id="11" name="Rounded Rectangle 10"/>
          <p:cNvSpPr/>
          <p:nvPr/>
        </p:nvSpPr>
        <p:spPr>
          <a:xfrm>
            <a:off x="4663440" y="2948939"/>
            <a:ext cx="4069080" cy="1668779"/>
          </a:xfrm>
          <a:prstGeom prst="roundRect">
            <a:avLst>
              <a:gd name="adj" fmla="val 12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069580"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4F7A3A"/>
                </a:solidFill>
                <a:latin typeface="Cairo"/>
                <a:cs typeface="Cairo"/>
              </a:rPr>
              <a:t>3</a:t>
            </a:r>
          </a:p>
        </p:txBody>
      </p:sp>
      <p:sp>
        <p:nvSpPr>
          <p:cNvPr id="13" name="TextBox 12"/>
          <p:cNvSpPr txBox="1"/>
          <p:nvPr/>
        </p:nvSpPr>
        <p:spPr>
          <a:xfrm>
            <a:off x="4846320" y="308609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تفسير ماركسي</a:t>
            </a:r>
          </a:p>
        </p:txBody>
      </p:sp>
      <p:sp>
        <p:nvSpPr>
          <p:cNvPr id="14" name="TextBox 13"/>
          <p:cNvSpPr txBox="1"/>
          <p:nvPr/>
        </p:nvSpPr>
        <p:spPr>
          <a:xfrm>
            <a:off x="4846320"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أسباب خارجية: الاستعمار والتبعية</a:t>
            </a:r>
          </a:p>
        </p:txBody>
      </p:sp>
      <p:sp>
        <p:nvSpPr>
          <p:cNvPr id="15" name="Rounded Rectangle 14"/>
          <p:cNvSpPr/>
          <p:nvPr/>
        </p:nvSpPr>
        <p:spPr>
          <a:xfrm>
            <a:off x="411479" y="2948939"/>
            <a:ext cx="4069080" cy="1668779"/>
          </a:xfrm>
          <a:prstGeom prst="roundRect">
            <a:avLst>
              <a:gd name="adj" fmla="val 12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817619"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B06A1E"/>
                </a:solidFill>
                <a:latin typeface="Cairo"/>
                <a:cs typeface="Cairo"/>
              </a:rPr>
              <a:t>4</a:t>
            </a:r>
          </a:p>
        </p:txBody>
      </p:sp>
      <p:sp>
        <p:nvSpPr>
          <p:cNvPr id="17" name="TextBox 16"/>
          <p:cNvSpPr txBox="1"/>
          <p:nvPr/>
        </p:nvSpPr>
        <p:spPr>
          <a:xfrm>
            <a:off x="594359" y="308609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تفسير جغرافي</a:t>
            </a:r>
          </a:p>
        </p:txBody>
      </p:sp>
      <p:sp>
        <p:nvSpPr>
          <p:cNvPr id="18" name="TextBox 17"/>
          <p:cNvSpPr txBox="1"/>
          <p:nvPr/>
        </p:nvSpPr>
        <p:spPr>
          <a:xfrm>
            <a:off x="594359"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تضافر كل العوامل: ظاهرة مركّبة</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عوائق إضافية في دول الجنوب</a:t>
            </a:r>
          </a:p>
        </p:txBody>
      </p:sp>
      <p:sp>
        <p:nvSpPr>
          <p:cNvPr id="3" name="Rounded Rectangle 2"/>
          <p:cNvSpPr/>
          <p:nvPr/>
        </p:nvSpPr>
        <p:spPr>
          <a:xfrm>
            <a:off x="4823460" y="1325880"/>
            <a:ext cx="2148840" cy="960120"/>
          </a:xfrm>
          <a:prstGeom prst="roundRect">
            <a:avLst>
              <a:gd name="adj" fmla="val 12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878324" y="132588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نمو ديمغرافي مرتفع</a:t>
            </a:r>
          </a:p>
        </p:txBody>
      </p:sp>
      <p:sp>
        <p:nvSpPr>
          <p:cNvPr id="5" name="Left Arrow 4"/>
          <p:cNvSpPr/>
          <p:nvPr/>
        </p:nvSpPr>
        <p:spPr>
          <a:xfrm>
            <a:off x="4366260" y="1623060"/>
            <a:ext cx="411480" cy="365760"/>
          </a:xfrm>
          <a:prstGeom prst="left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2171700" y="1325880"/>
            <a:ext cx="2148840" cy="960120"/>
          </a:xfrm>
          <a:prstGeom prst="roundRect">
            <a:avLst>
              <a:gd name="adj" fmla="val 12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2226564" y="132588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بنية سكانية فتية</a:t>
            </a:r>
          </a:p>
        </p:txBody>
      </p:sp>
      <p:sp>
        <p:nvSpPr>
          <p:cNvPr id="8" name="Down Arrow 7"/>
          <p:cNvSpPr/>
          <p:nvPr/>
        </p:nvSpPr>
        <p:spPr>
          <a:xfrm>
            <a:off x="3063239" y="2377440"/>
            <a:ext cx="365760" cy="502920"/>
          </a:xfrm>
          <a:prstGeom prst="down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2171700" y="2971800"/>
            <a:ext cx="2148840" cy="960120"/>
          </a:xfrm>
          <a:prstGeom prst="roundRect">
            <a:avLst>
              <a:gd name="adj" fmla="val 12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226564" y="297180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ضغط على سوق الشغل</a:t>
            </a:r>
          </a:p>
        </p:txBody>
      </p:sp>
      <p:sp>
        <p:nvSpPr>
          <p:cNvPr id="11" name="Rounded Rectangle 10"/>
          <p:cNvSpPr/>
          <p:nvPr/>
        </p:nvSpPr>
        <p:spPr>
          <a:xfrm>
            <a:off x="411480" y="4050791"/>
            <a:ext cx="8321040" cy="566928"/>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94360" y="4050791"/>
            <a:ext cx="7955280" cy="566928"/>
          </a:xfrm>
          <a:prstGeom prst="rect">
            <a:avLst/>
          </a:prstGeom>
          <a:noFill/>
        </p:spPr>
        <p:txBody>
          <a:bodyPr wrap="square" lIns="45720" rIns="45720" tIns="18288" bIns="18288" anchor="ctr">
            <a:spAutoFit/>
          </a:bodyPr>
          <a:lstStyle/>
          <a:p>
            <a:pPr rtl="1" algn="ctr">
              <a:lnSpc>
                <a:spcPct val="100000"/>
              </a:lnSpc>
            </a:pPr>
            <a:r>
              <a:rPr sz="1800" b="1" lang="ar-MA">
                <a:solidFill>
                  <a:srgbClr val="0B2242"/>
                </a:solidFill>
                <a:latin typeface="Cairo"/>
                <a:cs typeface="Cairo"/>
              </a:rPr>
              <a:t>ومعها: فلاحة رهينة تقلبات المناخ، وضعف مؤشرات الحكم الصالح</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مسار المغرب: الإنجازات والتحديات</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12.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الحالة المغربية: الأرقام والواقع</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11.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2- تفسيرات التباين في مستويات التنمية</a:t>
            </a:r>
          </a:p>
          <a:p>
            <a:pPr rtl="1" algn="r">
              <a:buNone/>
              <a:spcAft>
                <a:spcPts val="600"/>
              </a:spcAft>
            </a:pPr>
            <a:r>
              <a:rPr sz="2600" b="0" lang="ar-MA">
                <a:latin typeface="Cairo"/>
                <a:cs typeface="Cairo"/>
              </a:rPr>
              <a:t>تختلف النظريات المفسرة لتفاوت مستويات التنمية بين بلدان العالم فهناك:</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تفسير على أساس طبيعي: يعتمد موقع ومناخ كل مجموعة ويرى بأن الدول الفقيرة تقع في الجزء الجنوبي الحار من الكوكب، عكس دول الشمال المعتدلة.</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0" lang="ar-MA">
                <a:latin typeface="Cairo"/>
                <a:cs typeface="Cairo"/>
              </a:rPr>
              <a:t>• تفسير اقتصادي وإيديولوجي، وينقسم هذا التفسير إلى وجهتي نظر: وجهة نظر ليبرالية: وترجع التخلف لأسباب داخلية كضعف الادخار والاستثمار. ووجهة نظر ماركسية: وترى بأن تخلف الجنوب يرجع لأسباب خارجية مرتبطة بالاستعمار والتبعية الاقتصادية.</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تفسير جغرافي: وهو تفسير أكثر شمولية يرى بأن التنمية ظاهرة معقدة وبالتالي يجب تضافر كل التفسيرات السابقة للوقوف على أسباب التخلف.</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تطبيق منهجي</a:t>
            </a:r>
          </a:p>
        </p:txBody>
      </p:sp>
      <p:sp>
        <p:nvSpPr>
          <p:cNvPr id="3" name="Rounded Rectangle 2"/>
          <p:cNvSpPr/>
          <p:nvPr/>
        </p:nvSpPr>
        <p:spPr>
          <a:xfrm>
            <a:off x="411480" y="1097280"/>
            <a:ext cx="8321040" cy="3520439"/>
          </a:xfrm>
          <a:prstGeom prst="roundRect">
            <a:avLst>
              <a:gd name="adj" fmla="val 5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720840" y="1097280"/>
            <a:ext cx="2011680" cy="502920"/>
          </a:xfrm>
          <a:prstGeom prst="roundRect">
            <a:avLst>
              <a:gd name="adj" fmla="val 30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720840" y="1097280"/>
            <a:ext cx="2011680" cy="502920"/>
          </a:xfrm>
          <a:prstGeom prst="rect">
            <a:avLst/>
          </a:prstGeom>
          <a:noFill/>
        </p:spPr>
        <p:txBody>
          <a:bodyPr wrap="square" lIns="45720" rIns="45720" tIns="18288" bIns="18288" anchor="ctr">
            <a:spAutoFit/>
          </a:bodyPr>
          <a:lstStyle/>
          <a:p>
            <a:pPr rtl="1" algn="ctr">
              <a:lnSpc>
                <a:spcPct val="100000"/>
              </a:lnSpc>
            </a:pPr>
            <a:r>
              <a:rPr sz="2000" b="1" lang="ar-MA">
                <a:solidFill>
                  <a:srgbClr val="0B2242"/>
                </a:solidFill>
                <a:latin typeface="Cairo"/>
                <a:cs typeface="Cairo"/>
              </a:rPr>
              <a:t>تدرّب</a:t>
            </a:r>
          </a:p>
        </p:txBody>
      </p:sp>
      <p:sp>
        <p:nvSpPr>
          <p:cNvPr id="6" name="Oval 5"/>
          <p:cNvSpPr/>
          <p:nvPr/>
        </p:nvSpPr>
        <p:spPr>
          <a:xfrm>
            <a:off x="8069580" y="1996439"/>
            <a:ext cx="411480" cy="4114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FFFFFF"/>
                </a:solidFill>
                <a:latin typeface="Cairo"/>
                <a:cs typeface="Cairo"/>
              </a:rPr>
              <a:t>1</a:t>
            </a:r>
          </a:p>
        </p:txBody>
      </p:sp>
      <p:sp>
        <p:nvSpPr>
          <p:cNvPr id="7" name="TextBox 6"/>
          <p:cNvSpPr txBox="1"/>
          <p:nvPr/>
        </p:nvSpPr>
        <p:spPr>
          <a:xfrm>
            <a:off x="685800" y="1737360"/>
            <a:ext cx="7223760" cy="929640"/>
          </a:xfrm>
          <a:prstGeom prst="rect">
            <a:avLst/>
          </a:prstGeom>
          <a:noFill/>
        </p:spPr>
        <p:txBody>
          <a:bodyPr wrap="square" lIns="45720" rIns="45720" tIns="18288" bIns="18288" anchor="ctr">
            <a:spAutoFit/>
          </a:bodyPr>
          <a:lstStyle/>
          <a:p>
            <a:pPr rtl="1" algn="r">
              <a:lnSpc>
                <a:spcPct val="100000"/>
              </a:lnSpc>
            </a:pPr>
            <a:r>
              <a:rPr sz="2400" b="0" lang="ar-MA">
                <a:solidFill>
                  <a:srgbClr val="26303D"/>
                </a:solidFill>
                <a:latin typeface="Cairo"/>
                <a:cs typeface="Cairo"/>
              </a:rPr>
              <a:t>ميّز بين النمو والتنمية بمثالين</a:t>
            </a:r>
          </a:p>
        </p:txBody>
      </p:sp>
      <p:sp>
        <p:nvSpPr>
          <p:cNvPr id="8" name="Oval 7"/>
          <p:cNvSpPr/>
          <p:nvPr/>
        </p:nvSpPr>
        <p:spPr>
          <a:xfrm>
            <a:off x="8069580" y="2926079"/>
            <a:ext cx="411480" cy="4114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FFFFFF"/>
                </a:solidFill>
                <a:latin typeface="Cairo"/>
                <a:cs typeface="Cairo"/>
              </a:rPr>
              <a:t>2</a:t>
            </a:r>
          </a:p>
        </p:txBody>
      </p:sp>
      <p:sp>
        <p:nvSpPr>
          <p:cNvPr id="9" name="TextBox 8"/>
          <p:cNvSpPr txBox="1"/>
          <p:nvPr/>
        </p:nvSpPr>
        <p:spPr>
          <a:xfrm>
            <a:off x="685800" y="2667000"/>
            <a:ext cx="7223760" cy="929640"/>
          </a:xfrm>
          <a:prstGeom prst="rect">
            <a:avLst/>
          </a:prstGeom>
          <a:noFill/>
        </p:spPr>
        <p:txBody>
          <a:bodyPr wrap="square" lIns="45720" rIns="45720" tIns="18288" bIns="18288" anchor="ctr">
            <a:spAutoFit/>
          </a:bodyPr>
          <a:lstStyle/>
          <a:p>
            <a:pPr rtl="1" algn="r">
              <a:lnSpc>
                <a:spcPct val="100000"/>
              </a:lnSpc>
            </a:pPr>
            <a:r>
              <a:rPr sz="2400" b="0" lang="ar-MA">
                <a:solidFill>
                  <a:srgbClr val="26303D"/>
                </a:solidFill>
                <a:latin typeface="Cairo"/>
                <a:cs typeface="Cairo"/>
              </a:rPr>
              <a:t>صنّف المغرب حسب الدخل وحسب IDH وحسب شمال/جنوب</a:t>
            </a:r>
          </a:p>
        </p:txBody>
      </p:sp>
      <p:sp>
        <p:nvSpPr>
          <p:cNvPr id="10" name="Oval 9"/>
          <p:cNvSpPr/>
          <p:nvPr/>
        </p:nvSpPr>
        <p:spPr>
          <a:xfrm>
            <a:off x="8069580" y="3855720"/>
            <a:ext cx="411480" cy="4114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FFFFFF"/>
                </a:solidFill>
                <a:latin typeface="Cairo"/>
                <a:cs typeface="Cairo"/>
              </a:rPr>
              <a:t>3</a:t>
            </a:r>
          </a:p>
        </p:txBody>
      </p:sp>
      <p:sp>
        <p:nvSpPr>
          <p:cNvPr id="11" name="TextBox 10"/>
          <p:cNvSpPr txBox="1"/>
          <p:nvPr/>
        </p:nvSpPr>
        <p:spPr>
          <a:xfrm>
            <a:off x="685800" y="3596640"/>
            <a:ext cx="7223760" cy="929640"/>
          </a:xfrm>
          <a:prstGeom prst="rect">
            <a:avLst/>
          </a:prstGeom>
          <a:noFill/>
        </p:spPr>
        <p:txBody>
          <a:bodyPr wrap="square" lIns="45720" rIns="45720" tIns="18288" bIns="18288" anchor="ctr">
            <a:spAutoFit/>
          </a:bodyPr>
          <a:lstStyle/>
          <a:p>
            <a:pPr rtl="1" algn="r">
              <a:lnSpc>
                <a:spcPct val="100000"/>
              </a:lnSpc>
            </a:pPr>
            <a:r>
              <a:rPr sz="2400" b="0" lang="ar-MA">
                <a:solidFill>
                  <a:srgbClr val="26303D"/>
                </a:solidFill>
                <a:latin typeface="Cairo"/>
                <a:cs typeface="Cairo"/>
              </a:rPr>
              <a:t>اكتب فقرة تبيّن فيها لماذا يبقى التفسير الجغرافي أشمل</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اختبر فهمك</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أربعة أسئلة سريعة</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اختر الجواب الصحيح قبل أن يظهر</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1</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أي مؤشر يجعل الإنسان غاية التنمية؟</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الناتج الداخلي الخام</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مؤشر التنمية البشرية</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الدخل الفردي</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1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أي مؤشر يجعل الإنسان غاية التنمية؟</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الناتج الداخلي الخام</a:t>
            </a:r>
          </a:p>
        </p:txBody>
      </p:sp>
      <p:sp>
        <p:nvSpPr>
          <p:cNvPr id="8" name="Rounded Rectangle 7"/>
          <p:cNvSpPr/>
          <p:nvPr/>
        </p:nvSpPr>
        <p:spPr>
          <a:xfrm>
            <a:off x="3246120"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مؤشر التنمية البشرية</a:t>
            </a:r>
          </a:p>
        </p:txBody>
      </p:sp>
      <p:sp>
        <p:nvSpPr>
          <p:cNvPr id="11" name="TextBox 10"/>
          <p:cNvSpPr txBox="1"/>
          <p:nvPr/>
        </p:nvSpPr>
        <p:spPr>
          <a:xfrm>
            <a:off x="3337560"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2" name="Rounded Rectangle 11"/>
          <p:cNvSpPr/>
          <p:nvPr/>
        </p:nvSpPr>
        <p:spPr>
          <a:xfrm>
            <a:off x="411479"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4" name="TextBox 13"/>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الدخل الفردي</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IDH: الدخل + الصحة + التعليم</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2</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الانفتاح على السوق العالمية والصناعات الاستهلاكية:</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الاستراتيجية الاشتراكية</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الاستراتيجية الرأسمالية</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المقاربة البيئية</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2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الانفتاح على السوق العالمية والصناعات الاستهلاكية:</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الاستراتيجية الاشتراكية</a:t>
            </a:r>
          </a:p>
        </p:txBody>
      </p:sp>
      <p:sp>
        <p:nvSpPr>
          <p:cNvPr id="8" name="Rounded Rectangle 7"/>
          <p:cNvSpPr/>
          <p:nvPr/>
        </p:nvSpPr>
        <p:spPr>
          <a:xfrm>
            <a:off x="3246120"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الاستراتيجية الرأسمالية</a:t>
            </a:r>
          </a:p>
        </p:txBody>
      </p:sp>
      <p:sp>
        <p:nvSpPr>
          <p:cNvPr id="11" name="TextBox 10"/>
          <p:cNvSpPr txBox="1"/>
          <p:nvPr/>
        </p:nvSpPr>
        <p:spPr>
          <a:xfrm>
            <a:off x="3337560"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2" name="Rounded Rectangle 11"/>
          <p:cNvSpPr/>
          <p:nvPr/>
        </p:nvSpPr>
        <p:spPr>
          <a:xfrm>
            <a:off x="411479"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4" name="TextBox 13"/>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المقاربة البيئية</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نموذج التنينات الآسيوية</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3</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متى كرّست قمة الأرض مفهوم التنمية المستدامة؟</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1990</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1992</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2010</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3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متى كرّست قمة الأرض مفهوم التنمية المستدامة؟</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1990</a:t>
            </a:r>
          </a:p>
        </p:txBody>
      </p:sp>
      <p:sp>
        <p:nvSpPr>
          <p:cNvPr id="8" name="Rounded Rectangle 7"/>
          <p:cNvSpPr/>
          <p:nvPr/>
        </p:nvSpPr>
        <p:spPr>
          <a:xfrm>
            <a:off x="3246120"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1992</a:t>
            </a:r>
          </a:p>
        </p:txBody>
      </p:sp>
      <p:sp>
        <p:nvSpPr>
          <p:cNvPr id="11" name="TextBox 10"/>
          <p:cNvSpPr txBox="1"/>
          <p:nvPr/>
        </p:nvSpPr>
        <p:spPr>
          <a:xfrm>
            <a:off x="3337560"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2" name="Rounded Rectangle 11"/>
          <p:cNvSpPr/>
          <p:nvPr/>
        </p:nvSpPr>
        <p:spPr>
          <a:xfrm>
            <a:off x="411479"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4" name="TextBox 13"/>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2010</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قمة ريو دي جانيرو 1992: إدخال البعد البيئي</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4</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تخلف الجنوب نتيجة الاستعمار والتبعية: أي تفسير؟</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الطبيعي</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الليبرالي</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الماركسي</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4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تخلف الجنوب نتيجة الاستعمار والتبعية: أي تفسير؟</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الطبيعي</a:t>
            </a:r>
          </a:p>
        </p:txBody>
      </p:sp>
      <p:sp>
        <p:nvSpPr>
          <p:cNvPr id="8" name="Rounded Rectangle 7"/>
          <p:cNvSpPr/>
          <p:nvPr/>
        </p:nvSpPr>
        <p:spPr>
          <a:xfrm>
            <a:off x="324612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الليبرالي</a:t>
            </a:r>
          </a:p>
        </p:txBody>
      </p:sp>
      <p:sp>
        <p:nvSpPr>
          <p:cNvPr id="11" name="Rounded Rectangle 10"/>
          <p:cNvSpPr/>
          <p:nvPr/>
        </p:nvSpPr>
        <p:spPr>
          <a:xfrm>
            <a:off x="411479"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الماركسي</a:t>
            </a:r>
          </a:p>
        </p:txBody>
      </p:sp>
      <p:sp>
        <p:nvSpPr>
          <p:cNvPr id="14" name="TextBox 13"/>
          <p:cNvSpPr txBox="1"/>
          <p:nvPr/>
        </p:nvSpPr>
        <p:spPr>
          <a:xfrm>
            <a:off x="502919"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التفسير الماركسي يركّز على الأسباب الخارجية</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خريطة ذهنية للدرس</a:t>
            </a:r>
          </a:p>
        </p:txBody>
      </p:sp>
      <p:cxnSp>
        <p:nvCxnSpPr>
          <p:cNvPr id="3" name="Connector 2"/>
          <p:cNvCxnSpPr/>
          <p:nvPr/>
        </p:nvCxnSpPr>
        <p:spPr>
          <a:xfrm flipV="1">
            <a:off x="5394960" y="1638299"/>
            <a:ext cx="594360" cy="1219201"/>
          </a:xfrm>
          <a:prstGeom prst="line">
            <a:avLst/>
          </a:prstGeom>
          <a:ln w="31750">
            <a:solidFill>
              <a:srgbClr val="1F6F78"/>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989320" y="1097280"/>
            <a:ext cx="2743200" cy="1082040"/>
          </a:xfrm>
          <a:prstGeom prst="roundRect">
            <a:avLst>
              <a:gd name="adj" fmla="val 12000"/>
            </a:avLst>
          </a:prstGeom>
          <a:solidFill>
            <a:srgbClr val="FFFFFF"/>
          </a:solidFill>
          <a:ln w="15875">
            <a:solidFill>
              <a:srgbClr val="1F6F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5989320" y="1097280"/>
            <a:ext cx="2743200" cy="411480"/>
          </a:xfrm>
          <a:prstGeom prst="roundRect">
            <a:avLst>
              <a:gd name="adj" fmla="val 2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35040" y="10972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المفهوم</a:t>
            </a:r>
          </a:p>
        </p:txBody>
      </p:sp>
      <p:sp>
        <p:nvSpPr>
          <p:cNvPr id="7" name="TextBox 6"/>
          <p:cNvSpPr txBox="1"/>
          <p:nvPr/>
        </p:nvSpPr>
        <p:spPr>
          <a:xfrm>
            <a:off x="6080760" y="1527048"/>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نمو ≠ تنمية، تنمية بشرية، تنمية مستدامة</a:t>
            </a:r>
          </a:p>
        </p:txBody>
      </p:sp>
      <p:cxnSp>
        <p:nvCxnSpPr>
          <p:cNvPr id="8" name="Connector 7"/>
          <p:cNvCxnSpPr/>
          <p:nvPr/>
        </p:nvCxnSpPr>
        <p:spPr>
          <a:xfrm>
            <a:off x="5394960" y="2857500"/>
            <a:ext cx="594360" cy="0"/>
          </a:xfrm>
          <a:prstGeom prst="line">
            <a:avLst/>
          </a:prstGeom>
          <a:ln w="31750">
            <a:solidFill>
              <a:srgbClr val="8C2F3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989320" y="2316480"/>
            <a:ext cx="2743200" cy="1082040"/>
          </a:xfrm>
          <a:prstGeom prst="roundRect">
            <a:avLst>
              <a:gd name="adj" fmla="val 12000"/>
            </a:avLst>
          </a:prstGeom>
          <a:solidFill>
            <a:srgbClr val="FFFFFF"/>
          </a:solidFill>
          <a:ln w="15875">
            <a:solidFill>
              <a:srgbClr val="8C2F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989320" y="2316480"/>
            <a:ext cx="2743200" cy="411480"/>
          </a:xfrm>
          <a:prstGeom prst="roundRect">
            <a:avLst>
              <a:gd name="adj" fmla="val 2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35040" y="23164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المؤشر IDH</a:t>
            </a:r>
          </a:p>
        </p:txBody>
      </p:sp>
      <p:sp>
        <p:nvSpPr>
          <p:cNvPr id="12" name="TextBox 11"/>
          <p:cNvSpPr txBox="1"/>
          <p:nvPr/>
        </p:nvSpPr>
        <p:spPr>
          <a:xfrm>
            <a:off x="6080760" y="27462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اقتصادي، صحي، تعليمي</a:t>
            </a:r>
          </a:p>
        </p:txBody>
      </p:sp>
      <p:cxnSp>
        <p:nvCxnSpPr>
          <p:cNvPr id="13" name="Connector 12"/>
          <p:cNvCxnSpPr/>
          <p:nvPr/>
        </p:nvCxnSpPr>
        <p:spPr>
          <a:xfrm>
            <a:off x="5394960" y="2857500"/>
            <a:ext cx="594360" cy="1219199"/>
          </a:xfrm>
          <a:prstGeom prst="line">
            <a:avLst/>
          </a:prstGeom>
          <a:ln w="31750">
            <a:solidFill>
              <a:srgbClr val="4F7A3A"/>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989320" y="3535679"/>
            <a:ext cx="2743200" cy="1082040"/>
          </a:xfrm>
          <a:prstGeom prst="roundRect">
            <a:avLst>
              <a:gd name="adj" fmla="val 12000"/>
            </a:avLst>
          </a:prstGeom>
          <a:solidFill>
            <a:srgbClr val="FFFFFF"/>
          </a:solidFill>
          <a:ln w="15875">
            <a:solidFill>
              <a:srgbClr val="4F7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989320" y="3535679"/>
            <a:ext cx="2743200" cy="411480"/>
          </a:xfrm>
          <a:prstGeom prst="roundRect">
            <a:avLst>
              <a:gd name="adj" fmla="val 2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35040" y="3535679"/>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الاستراتيجيات</a:t>
            </a:r>
          </a:p>
        </p:txBody>
      </p:sp>
      <p:sp>
        <p:nvSpPr>
          <p:cNvPr id="17" name="TextBox 16"/>
          <p:cNvSpPr txBox="1"/>
          <p:nvPr/>
        </p:nvSpPr>
        <p:spPr>
          <a:xfrm>
            <a:off x="6080760" y="39654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اشتراكية، رأسمالية</a:t>
            </a:r>
          </a:p>
        </p:txBody>
      </p:sp>
      <p:cxnSp>
        <p:nvCxnSpPr>
          <p:cNvPr id="18" name="Connector 17"/>
          <p:cNvCxnSpPr/>
          <p:nvPr/>
        </p:nvCxnSpPr>
        <p:spPr>
          <a:xfrm flipH="1" flipV="1">
            <a:off x="3154680" y="1638299"/>
            <a:ext cx="594359" cy="1219201"/>
          </a:xfrm>
          <a:prstGeom prst="line">
            <a:avLst/>
          </a:prstGeom>
          <a:ln w="31750">
            <a:solidFill>
              <a:srgbClr val="B06A1E"/>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11480" y="1097280"/>
            <a:ext cx="2743200" cy="1082040"/>
          </a:xfrm>
          <a:prstGeom prst="roundRect">
            <a:avLst>
              <a:gd name="adj" fmla="val 12000"/>
            </a:avLst>
          </a:prstGeom>
          <a:solidFill>
            <a:srgbClr val="FFFFFF"/>
          </a:solidFill>
          <a:ln w="15875">
            <a:solidFill>
              <a:srgbClr val="B06A1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411480" y="1097280"/>
            <a:ext cx="2743200" cy="411480"/>
          </a:xfrm>
          <a:prstGeom prst="roundRect">
            <a:avLst>
              <a:gd name="adj" fmla="val 2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200" y="10972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المقاربات</a:t>
            </a:r>
          </a:p>
        </p:txBody>
      </p:sp>
      <p:sp>
        <p:nvSpPr>
          <p:cNvPr id="22" name="TextBox 21"/>
          <p:cNvSpPr txBox="1"/>
          <p:nvPr/>
        </p:nvSpPr>
        <p:spPr>
          <a:xfrm>
            <a:off x="502920" y="1527048"/>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اقتصادية، اجتماعية، سياسية، بيئية…</a:t>
            </a:r>
          </a:p>
        </p:txBody>
      </p:sp>
      <p:cxnSp>
        <p:nvCxnSpPr>
          <p:cNvPr id="23" name="Connector 22"/>
          <p:cNvCxnSpPr/>
          <p:nvPr/>
        </p:nvCxnSpPr>
        <p:spPr>
          <a:xfrm flipH="1">
            <a:off x="3154680" y="2857500"/>
            <a:ext cx="594359" cy="0"/>
          </a:xfrm>
          <a:prstGeom prst="line">
            <a:avLst/>
          </a:prstGeom>
          <a:ln w="31750">
            <a:solidFill>
              <a:srgbClr val="4A4F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11480" y="2316480"/>
            <a:ext cx="2743200" cy="1082040"/>
          </a:xfrm>
          <a:prstGeom prst="roundRect">
            <a:avLst>
              <a:gd name="adj" fmla="val 12000"/>
            </a:avLst>
          </a:prstGeom>
          <a:solidFill>
            <a:srgbClr val="FFFFFF"/>
          </a:solidFill>
          <a:ln w="15875">
            <a:solidFill>
              <a:srgbClr val="4A4F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411480" y="2316480"/>
            <a:ext cx="2743200" cy="411480"/>
          </a:xfrm>
          <a:prstGeom prst="roundRect">
            <a:avLst>
              <a:gd name="adj" fmla="val 25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57200" y="23164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التقسيمات</a:t>
            </a:r>
          </a:p>
        </p:txBody>
      </p:sp>
      <p:sp>
        <p:nvSpPr>
          <p:cNvPr id="27" name="TextBox 26"/>
          <p:cNvSpPr txBox="1"/>
          <p:nvPr/>
        </p:nvSpPr>
        <p:spPr>
          <a:xfrm>
            <a:off x="502920" y="27462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الدخل، IDH، شمال/جنوب</a:t>
            </a:r>
          </a:p>
        </p:txBody>
      </p:sp>
      <p:cxnSp>
        <p:nvCxnSpPr>
          <p:cNvPr id="28" name="Connector 27"/>
          <p:cNvCxnSpPr/>
          <p:nvPr/>
        </p:nvCxnSpPr>
        <p:spPr>
          <a:xfrm flipH="1">
            <a:off x="3154680" y="2857500"/>
            <a:ext cx="594359" cy="1219199"/>
          </a:xfrm>
          <a:prstGeom prst="line">
            <a:avLst/>
          </a:prstGeom>
          <a:ln w="31750">
            <a:solidFill>
              <a:srgbClr val="0B2242"/>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11480" y="3535679"/>
            <a:ext cx="2743200" cy="1082040"/>
          </a:xfrm>
          <a:prstGeom prst="roundRect">
            <a:avLst>
              <a:gd name="adj" fmla="val 12000"/>
            </a:avLst>
          </a:prstGeom>
          <a:solidFill>
            <a:srgbClr val="FFFFFF"/>
          </a:solidFill>
          <a:ln w="15875">
            <a:solidFill>
              <a:srgbClr val="0B22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411480" y="3535679"/>
            <a:ext cx="2743200" cy="411480"/>
          </a:xfrm>
          <a:prstGeom prst="roundRect">
            <a:avLst>
              <a:gd name="adj" fmla="val 25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200" y="3535679"/>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التفسيرات</a:t>
            </a:r>
          </a:p>
        </p:txBody>
      </p:sp>
      <p:sp>
        <p:nvSpPr>
          <p:cNvPr id="32" name="TextBox 31"/>
          <p:cNvSpPr txBox="1"/>
          <p:nvPr/>
        </p:nvSpPr>
        <p:spPr>
          <a:xfrm>
            <a:off x="502920" y="39654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طبيعي، ليبرالي، ماركسي، جغرافي</a:t>
            </a:r>
          </a:p>
        </p:txBody>
      </p:sp>
      <p:sp>
        <p:nvSpPr>
          <p:cNvPr id="33" name="Oval 32"/>
          <p:cNvSpPr/>
          <p:nvPr/>
        </p:nvSpPr>
        <p:spPr>
          <a:xfrm>
            <a:off x="3749039" y="2034540"/>
            <a:ext cx="1645920" cy="164592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794760" y="2263140"/>
            <a:ext cx="1554480" cy="1188720"/>
          </a:xfrm>
          <a:prstGeom prst="rect">
            <a:avLst/>
          </a:prstGeom>
          <a:noFill/>
        </p:spPr>
        <p:txBody>
          <a:bodyPr wrap="square" lIns="45720" rIns="45720" tIns="18288" bIns="18288" anchor="ctr">
            <a:spAutoFit/>
          </a:bodyPr>
          <a:lstStyle/>
          <a:p>
            <a:pPr rtl="1" algn="ctr">
              <a:lnSpc>
                <a:spcPct val="95000"/>
              </a:lnSpc>
            </a:pPr>
            <a:r>
              <a:rPr sz="1800" b="1" lang="ar-MA">
                <a:solidFill>
                  <a:srgbClr val="FFFFFF"/>
                </a:solidFill>
                <a:latin typeface="Cairo"/>
                <a:cs typeface="Cairo"/>
              </a:rPr>
              <a:t>مفهوم التنمية وخريطتها</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خاتمة</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التنمية ليست مجرد أرقام… بل حريات وخيارات</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تفاوت حاد بين الشمال والجنوب لا يُردّ إلى عامل واحد</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خلاصة: التنمية حريات وخيارات</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13.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خاتمة</a:t>
            </a:r>
          </a:p>
          <a:p>
            <a:pPr rtl="1" algn="r">
              <a:buNone/>
              <a:spcAft>
                <a:spcPts val="600"/>
              </a:spcAft>
            </a:pPr>
            <a:r>
              <a:rPr sz="2600" b="0" lang="ar-MA">
                <a:latin typeface="Cairo"/>
                <a:cs typeface="Cairo"/>
              </a:rPr>
              <a:t>يتفاوت مستوى التنمية البشرية بين دول الشمال ودول الجنوب، التي عليها بذل المزيد من الجهود من أجل تحقيق رفاهية شعوبها.</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wrap="square"/>
          <a:lstStyle/>
          <a:p>
            <a:pPr rtl="1" algn="r">
              <a:buNone/>
              <a:spcAft>
                <a:spcPts val="600"/>
              </a:spcAft>
            </a:pPr>
            <a:r>
              <a:rPr sz="4000" b="0" lang="ar-MA">
                <a:latin typeface="Cairo"/>
                <a:cs typeface="Cairo"/>
              </a:rPr>
              <a:t>شكراً لانتباهكم</a:t>
            </a:r>
          </a:p>
        </p:txBody>
      </p:sp>
    </p:spTree>
  </p:cSld>
  <p:clrMapOvr>
    <a:masterClrMapping/>
  </p:clrMapOvr>
</p:sld>
</file>

<file path=ppt/theme/theme1.xml><?xml version="1.0" encoding="utf-8"?>
<a:theme xmlns:a="http://schemas.openxmlformats.org/drawingml/2006/main" name="Bouamoud Navy Gold">
  <a:themeElements>
    <a:clrScheme name="Bouamoud Navy Gold">
      <a:dk1>
        <a:srgbClr val="1B1B1B"/>
      </a:dk1>
      <a:lt1>
        <a:srgbClr val="FFFFFF"/>
      </a:lt1>
      <a:dk2>
        <a:srgbClr val="0B2242"/>
      </a:dk2>
      <a:lt2>
        <a:srgbClr val="F7F3EA"/>
      </a:lt2>
      <a:accent1>
        <a:srgbClr val="C9A24A"/>
      </a:accent1>
      <a:accent2>
        <a:srgbClr val="0B2242"/>
      </a:accent2>
      <a:accent3>
        <a:srgbClr val="1A6FA8"/>
      </a:accent3>
      <a:accent4>
        <a:srgbClr val="E8720C"/>
      </a:accent4>
      <a:accent5>
        <a:srgbClr val="8A6D2B"/>
      </a:accent5>
      <a:accent6>
        <a:srgbClr val="5B6B82"/>
      </a:accent6>
      <a:hlink>
        <a:srgbClr val="1A6FA8"/>
      </a:hlink>
      <a:folHlink>
        <a:srgbClr val="8A6D2B"/>
      </a:folHlink>
    </a:clrScheme>
    <a:fontScheme name="Bouamoud Navy Gold">
      <a:majorFont>
        <a:latin typeface="Cai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ir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قالب دروس الاجتماعيات</dc:title>
  <dc:subject>PptxGenJS Presentation</dc:subject>
  <dc:creator>أحمد بوعمود</dc:creator>
  <cp:lastModifiedBy>أحمد بوعمود</cp:lastModifiedBy>
  <cp:revision>1</cp:revision>
  <dcterms:created xsi:type="dcterms:W3CDTF">2026-10-16T14:35:24Z</dcterms:created>
  <dcterms:modified xsi:type="dcterms:W3CDTF">2026-10-16T14:35:24Z</dcterms:modified>
</cp:coreProperties>
</file>